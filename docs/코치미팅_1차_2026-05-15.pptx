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8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9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533</c:v>
                </c:pt>
                <c:pt idx="1">
                  <c:v>737</c:v>
                </c:pt>
                <c:pt idx="2">
                  <c:v>1352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546</c:v>
                </c:pt>
                <c:pt idx="1">
                  <c:v>740</c:v>
                </c:pt>
                <c:pt idx="2">
                  <c:v>1527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560</c:v>
                </c:pt>
                <c:pt idx="1">
                  <c:v>743</c:v>
                </c:pt>
                <c:pt idx="2">
                  <c:v>1302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494</c:v>
                </c:pt>
                <c:pt idx="1">
                  <c:v>746</c:v>
                </c:pt>
                <c:pt idx="2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507</c:v>
                </c:pt>
                <c:pt idx="1">
                  <c:v>749</c:v>
                </c:pt>
                <c:pt idx="2">
                  <c:v>1251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521</c:v>
                </c:pt>
                <c:pt idx="1">
                  <c:v>752</c:v>
                </c:pt>
                <c:pt idx="2">
                  <c:v>1426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534</c:v>
                </c:pt>
                <c:pt idx="1">
                  <c:v>756</c:v>
                </c:pt>
                <c:pt idx="2">
                  <c:v>1201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548</c:v>
                </c:pt>
                <c:pt idx="1">
                  <c:v>759</c:v>
                </c:pt>
                <c:pt idx="2">
                  <c:v>1376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선수09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482</c:v>
                </c:pt>
                <c:pt idx="1">
                  <c:v>762</c:v>
                </c:pt>
                <c:pt idx="2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495</c:v>
                </c:pt>
                <c:pt idx="1">
                  <c:v>765</c:v>
                </c:pt>
                <c:pt idx="2">
                  <c:v>1326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선수11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509</c:v>
                </c:pt>
                <c:pt idx="1">
                  <c:v>624</c:v>
                </c:pt>
                <c:pt idx="2">
                  <c:v>1500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선수12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523</c:v>
                </c:pt>
                <c:pt idx="1">
                  <c:v>628</c:v>
                </c:pt>
                <c:pt idx="2">
                  <c:v>1775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선수13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536</c:v>
                </c:pt>
                <c:pt idx="1">
                  <c:v>631</c:v>
                </c:pt>
                <c:pt idx="2">
                  <c:v>1950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선수14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550</c:v>
                </c:pt>
                <c:pt idx="1">
                  <c:v>634</c:v>
                </c:pt>
                <c:pt idx="2">
                  <c:v>1725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선수15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637</c:v>
                </c:pt>
                <c:pt idx="2">
                  <c:v>1900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선수16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497</c:v>
                </c:pt>
                <c:pt idx="1">
                  <c:v>640</c:v>
                </c:pt>
                <c:pt idx="2">
                  <c:v>1674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선수17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511</c:v>
                </c:pt>
                <c:pt idx="1">
                  <c:v>644</c:v>
                </c:pt>
                <c:pt idx="2">
                  <c:v>1849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선수18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525</c:v>
                </c:pt>
                <c:pt idx="1">
                  <c:v>647</c:v>
                </c:pt>
                <c:pt idx="2">
                  <c:v>1624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선수19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538</c:v>
                </c:pt>
                <c:pt idx="1">
                  <c:v>650</c:v>
                </c:pt>
                <c:pt idx="2">
                  <c:v>1799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선수20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65A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D9D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골반</c:v>
                  </c:pt>
                  <c:pt idx="1">
                    <c:v>몸통</c:v>
                  </c:pt>
                  <c:pt idx="2">
                    <c:v>팔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552</c:v>
                </c:pt>
                <c:pt idx="1">
                  <c:v>653</c:v>
                </c:pt>
                <c:pt idx="2">
                  <c:v>1574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AEE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56D7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80160"/>
            <a:ext cx="73152" cy="15544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188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투수 측정 리포트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측정 — 코치 미팅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6060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2026-05-15  ·  Theia+GRF  ·  20명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863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국민대학교 스포츠과학과 BBL · analytics v2.1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종합 — KPI 및 우수/주의 선수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측정 (2026-05-15) · N=20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구속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129.0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01168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179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139.4 km/h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0604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0604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277063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종합점수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7063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6052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7063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20명 평균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491947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ELI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1947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0936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1947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에너지 누수 관리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03720" y="1097280"/>
            <a:ext cx="2011680" cy="1188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03720" y="109728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4" name="Text 22"/>
          <p:cNvSpPr/>
          <p:nvPr/>
        </p:nvSpPr>
        <p:spPr>
          <a:xfrm>
            <a:off x="7068312" y="1170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완료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68312" y="1371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8458200" y="1627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68312" y="1947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1차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3명 (구속)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선수03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139.4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P12 선수12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138.6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65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P07 선수07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137.9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64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475488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3명 (구속)</a:t>
            </a:r>
            <a:endParaRPr lang="en-US" sz="12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788920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554480"/>
                <a:gridCol w="1280160"/>
                <a:gridCol w="9144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P17 선수17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117.3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72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P08 선수08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118.1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71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P04 선수04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119.5 km/h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78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 28"/>
          <p:cNvSpPr/>
          <p:nvPr/>
        </p:nvSpPr>
        <p:spPr>
          <a:xfrm>
            <a:off x="457200" y="40233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시사점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평균 구속 129.0 km/h — 동급 고교 평균(약 130 km/h) 대비 비교 필요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 60 미만 6명 — 누수 zone 분석 우선 필요 (개별 슬라이드 참조)</a:t>
            </a:r>
            <a:endParaRPr lang="en-US" sz="1000" dirty="0"/>
          </a:p>
          <a:p>
            <a:pPr marL="342900" indent="-342900"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 위험도 high 4명 — 자세한 X-factor / lead knee 분석 필요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36" name="Text 32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178cm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127.1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128.0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+0.9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182cm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63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135.8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좌투 · 176cm · 72kg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139.4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180cm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+4.4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-0.5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174cm · 70kg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85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125.7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127.2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착지 시 몸통 자세 불량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좌투 · 185cm · 82kg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57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131.8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착지 시 몸통 자세 불량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179cm · 76kg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64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137.9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138.5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+0.6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177cm · 73kg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118.1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선수09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181cm · 79kg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127.6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+3.3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좌투 · 175cm · 71kg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130.4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132.9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183cm · 81kg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132.5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136.2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+3.8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-0.9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178cm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138.6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140.3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-0.6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-0.2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172cm · 68kg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122.8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125.1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 시 트렁크 기울기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착지 시 몸통 자세 불량  ·  손실 -0.1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Trunk control — anti-rotation core (palloff press)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180cm · 77kg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124.9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125.5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+0.6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Shoulder ER 부적절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어깨 ER 부족 / 과도  ·  손실 -0.3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Shoulder ER ROM — sleeper stretch + cuff 강화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좌투 · 184cm · 83kg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131.0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133.1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-1.9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-1.3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176cm · 72kg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65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137.2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140.9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+3.8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71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-0.4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179cm · 75kg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117.3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119.6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F87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-1.6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-0.7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-0.8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181cm · 78kg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79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126.0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+2.6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골반-상체 분리 미달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X-factor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X-factor 증대 — hip-shoulder 분리 stretch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P19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선수19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우투 · 177cm · 74kg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86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129.6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-1.7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-1.4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P20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6459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선수20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좌투 · 182cm · 80kg · 1차 (2026-05-15)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858000" y="182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58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0" y="502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구속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135.7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69748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137.1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74904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km/h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97480" y="16276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 +1.4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5488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94360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/100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49440" y="960120"/>
            <a:ext cx="20574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086600" y="1005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부상위험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086600" y="1207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7F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낮음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138160" y="14173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관절 분절 시퀀스 (피크 회전속도)</a:t>
            </a:r>
            <a:endParaRPr lang="en-US" sz="1100" dirty="0"/>
          </a:p>
        </p:txBody>
      </p:sp>
      <p:graphicFrame>
        <p:nvGraphicFramePr>
          <p:cNvPr id="26" name="Chart 0" descr=""/>
          <p:cNvGraphicFramePr/>
          <p:nvPr/>
        </p:nvGraphicFramePr>
        <p:xfrm>
          <a:off x="365760" y="2240280"/>
          <a:ext cx="42062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7" name="Text 24"/>
          <p:cNvSpPr/>
          <p:nvPr/>
        </p:nvSpPr>
        <p:spPr>
          <a:xfrm>
            <a:off x="4754880" y="1965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손실 원인 (Top 3) — analytics v2.1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754880" y="2240280"/>
            <a:ext cx="365760" cy="685800"/>
          </a:xfrm>
          <a:prstGeom prst="rect">
            <a:avLst/>
          </a:prstGeom>
          <a:solidFill>
            <a:srgbClr val="CF222E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120640" y="224028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12080" y="22860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knee collapse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앞발 받쳐주기 약함  ·  손실 -1.8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Lead leg 강화 — 단일하지 박스점프, 제자리 깊은 스쿼트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754880" y="3017520"/>
            <a:ext cx="365760" cy="685800"/>
          </a:xfrm>
          <a:prstGeom prst="rect">
            <a:avLst/>
          </a:prstGeom>
          <a:solidFill>
            <a:srgbClr val="BF8700"/>
          </a:solidFill>
          <a:ln/>
        </p:spPr>
      </p:sp>
      <p:sp>
        <p:nvSpPr>
          <p:cNvPr id="33" name="Text 30"/>
          <p:cNvSpPr/>
          <p:nvPr/>
        </p:nvSpPr>
        <p:spPr>
          <a:xfrm>
            <a:off x="47548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120640" y="301752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212080" y="306324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분절 가속 순서 결함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골반→몸통→팔 시퀀스 어긋남  ·  손실 -1.2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분절 가속 타이밍 훈련 (medicine ball 회전)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754880" y="3794760"/>
            <a:ext cx="365760" cy="6858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7" name="Text 34"/>
          <p:cNvSpPr/>
          <p:nvPr/>
        </p:nvSpPr>
        <p:spPr>
          <a:xfrm>
            <a:off x="475488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>
            <a:off x="5120640" y="3794760"/>
            <a:ext cx="365760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7DE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12080" y="38404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Pelvis braking 부족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골반 감속 부족  ·  손실 -1.1 km/h</a:t>
            </a:r>
            <a:endParaRPr lang="en-US" sz="1100" dirty="0"/>
          </a:p>
          <a:p>
            <a:pPr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Pelvis brake — 단일하지 RFE 스플릿 스쿼트, 디셀러레이션 드릴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방법론 (analytics v2.1)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잠재 구속 회귀 — 7개 변수 가법 모델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2120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22960"/>
                <a:gridCol w="1280160"/>
                <a:gridCol w="128016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최대 기여 (km/h)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trunk_peak_dps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Stodden 2001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pelvis_peak_dps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Stodden 2001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cmj_pp_bm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Lehman 2013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imtp_pf_bm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Lehman 2013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front_grf_bm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MacWilliams 1998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shoulder_er_deg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Werner 2008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stride_pct_height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Stodden 2001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914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ELI 6 Zones</a:t>
            </a:r>
            <a:endParaRPr lang="en-US" sz="13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234440"/>
          <a:ext cx="2926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Zone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Sequential timing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X-factor 분리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Lead leg block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Trunk at FC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Shoulder ER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Pelvis braking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22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주의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계수는 문헌 기반 합의 추정값 — 우리 코호트(N=20)에 fit 된 값 아님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causal chain의 km/h 손실은 추정 — 단일 변수 한계 효과 해석</a:t>
            </a:r>
            <a:endParaRPr lang="en-US" sz="10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3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Uplift 회차는 GRF 없음 — Z3, Z4, Z6 제한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65760" y="4823460"/>
            <a:ext cx="8412480" cy="0"/>
          </a:xfrm>
          <a:prstGeom prst="line">
            <a:avLst/>
          </a:prstGeom>
          <a:noFill/>
          <a:ln w="6350">
            <a:solidFill>
              <a:srgbClr val="D0D7D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상동고 투구 리포트 · 1차 측정 (2026-05-15)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365760" y="48691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56D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국민대 BBL · analytics v2.1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국민대학교 BBL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상동고 투수 1차 측정 코치 미팅</dc:title>
  <dc:subject>PptxGenJS Presentation</dc:subject>
  <dc:creator>국민대 BBL · 스포츠과학과</dc:creator>
  <cp:lastModifiedBy>국민대 BBL · 스포츠과학과</cp:lastModifiedBy>
  <cp:revision>1</cp:revision>
  <dcterms:created xsi:type="dcterms:W3CDTF">2026-05-09T08:38:14Z</dcterms:created>
  <dcterms:modified xsi:type="dcterms:W3CDTF">2026-05-09T08:38:14Z</dcterms:modified>
</cp:coreProperties>
</file>