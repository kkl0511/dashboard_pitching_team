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0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8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9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0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선수01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533</c:v>
                </c:pt>
                <c:pt idx="1">
                  <c:v>737</c:v>
                </c:pt>
                <c:pt idx="2">
                  <c:v>1352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선수02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546</c:v>
                </c:pt>
                <c:pt idx="1">
                  <c:v>740</c:v>
                </c:pt>
                <c:pt idx="2">
                  <c:v>1527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선수03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560</c:v>
                </c:pt>
                <c:pt idx="1">
                  <c:v>743</c:v>
                </c:pt>
                <c:pt idx="2">
                  <c:v>1302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선수04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494</c:v>
                </c:pt>
                <c:pt idx="1">
                  <c:v>746</c:v>
                </c:pt>
                <c:pt idx="2">
                  <c:v>1477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선수05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507</c:v>
                </c:pt>
                <c:pt idx="1">
                  <c:v>749</c:v>
                </c:pt>
                <c:pt idx="2">
                  <c:v>1251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선수06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521</c:v>
                </c:pt>
                <c:pt idx="1">
                  <c:v>752</c:v>
                </c:pt>
                <c:pt idx="2">
                  <c:v>1426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선수07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534</c:v>
                </c:pt>
                <c:pt idx="1">
                  <c:v>756</c:v>
                </c:pt>
                <c:pt idx="2">
                  <c:v>1201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선수08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548</c:v>
                </c:pt>
                <c:pt idx="1">
                  <c:v>759</c:v>
                </c:pt>
                <c:pt idx="2">
                  <c:v>1376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선수09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482</c:v>
                </c:pt>
                <c:pt idx="1">
                  <c:v>762</c:v>
                </c:pt>
                <c:pt idx="2">
                  <c:v>1551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선수10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495</c:v>
                </c:pt>
                <c:pt idx="1">
                  <c:v>765</c:v>
                </c:pt>
                <c:pt idx="2">
                  <c:v>1326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선수11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509</c:v>
                </c:pt>
                <c:pt idx="1">
                  <c:v>624</c:v>
                </c:pt>
                <c:pt idx="2">
                  <c:v>1500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선수12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523</c:v>
                </c:pt>
                <c:pt idx="1">
                  <c:v>628</c:v>
                </c:pt>
                <c:pt idx="2">
                  <c:v>1775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선수13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536</c:v>
                </c:pt>
                <c:pt idx="1">
                  <c:v>631</c:v>
                </c:pt>
                <c:pt idx="2">
                  <c:v>1950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선수14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550</c:v>
                </c:pt>
                <c:pt idx="1">
                  <c:v>634</c:v>
                </c:pt>
                <c:pt idx="2">
                  <c:v>1725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선수15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484</c:v>
                </c:pt>
                <c:pt idx="1">
                  <c:v>637</c:v>
                </c:pt>
                <c:pt idx="2">
                  <c:v>1900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선수16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497</c:v>
                </c:pt>
                <c:pt idx="1">
                  <c:v>640</c:v>
                </c:pt>
                <c:pt idx="2">
                  <c:v>1674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선수17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511</c:v>
                </c:pt>
                <c:pt idx="1">
                  <c:v>644</c:v>
                </c:pt>
                <c:pt idx="2">
                  <c:v>1849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선수18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525</c:v>
                </c:pt>
                <c:pt idx="1">
                  <c:v>647</c:v>
                </c:pt>
                <c:pt idx="2">
                  <c:v>1624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선수19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538</c:v>
                </c:pt>
                <c:pt idx="1">
                  <c:v>650</c:v>
                </c:pt>
                <c:pt idx="2">
                  <c:v>1799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선수20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552</c:v>
                </c:pt>
                <c:pt idx="1">
                  <c:v>653</c:v>
                </c:pt>
                <c:pt idx="2">
                  <c:v>1574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280160"/>
            <a:ext cx="73152" cy="1554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188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투수 측정 리포트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1차 측정 — 코치 미팅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26060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2026-05-15  ·  Theia+GRF  ·  20명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6863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국민대학교 스포츠과학과 BBL · analytics v2.1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 종합 — KPI 및 우수/주의 선수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1차 측정 (2026-05-15) · N=20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0116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11887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170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평균 구속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21792" y="13716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129.0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011680" y="1627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1792" y="1947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최고 139.4 km/h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06040" y="1097280"/>
            <a:ext cx="20116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06040" y="1097280"/>
            <a:ext cx="54864" cy="11887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2770632" y="1170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평균 종합점수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70632" y="13716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68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160520" y="1627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70632" y="1947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20명 평균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1097280"/>
            <a:ext cx="20116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1097280"/>
            <a:ext cx="54864" cy="11887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4919472" y="1170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평균 ELI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19472" y="13716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309360" y="1627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19472" y="1947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에너지 누수 관리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903720" y="1097280"/>
            <a:ext cx="20116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03720" y="1097280"/>
            <a:ext cx="54864" cy="11887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4" name="Text 22"/>
          <p:cNvSpPr/>
          <p:nvPr/>
        </p:nvSpPr>
        <p:spPr>
          <a:xfrm>
            <a:off x="7068312" y="1170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완료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068312" y="13716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8458200" y="1627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68312" y="1947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세션 1차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2468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상위 3명 (구속)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88920"/>
          <a:ext cx="41148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554480"/>
                <a:gridCol w="128016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P03 선수03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139.4 km/h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종합 71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P12 선수12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138.6 km/h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종합 65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P07 선수07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137.9 km/h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종합 64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/>
          <p:nvPr/>
        </p:nvSpPr>
        <p:spPr>
          <a:xfrm>
            <a:off x="4754880" y="2468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주의 3명 (구속)</a:t>
            </a:r>
            <a:endParaRPr lang="en-US" sz="12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788920"/>
          <a:ext cx="41148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554480"/>
                <a:gridCol w="128016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P17 선수17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117.3 km/h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종합 72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P08 선수08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118.1 km/h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종합 71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P04 선수04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119.5 km/h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종합 78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 28"/>
          <p:cNvSpPr/>
          <p:nvPr/>
        </p:nvSpPr>
        <p:spPr>
          <a:xfrm>
            <a:off x="457200" y="40233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시사점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457200" y="4297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 평균 구속 129.0 km/h — 동급 고교 평균(약 130 km/h) 대비 비교 필요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 60 미만 6명 — 누수 zone 분석 우선 필요 (개별 슬라이드 참조)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172cm · 68kg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56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127.1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미달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136.3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49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52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61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(-9.2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23360"/>
            <a:ext cx="4206240" cy="10058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261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" y="46268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9.2 km/h 만큼 메카닉 교정 잠재력. ELI 인과 chain Top 3 즉시 적용.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2423160" y="4114800"/>
            <a:ext cx="0" cy="868680"/>
          </a:xfrm>
          <a:prstGeom prst="line">
            <a:avLst/>
          </a:prstGeom>
          <a:noFill/>
          <a:ln w="6350">
            <a:solidFill>
              <a:srgbClr val="D0D7DE"/>
            </a:solidFill>
            <a:prstDash val="dash"/>
          </a:ln>
        </p:spPr>
      </p:sp>
      <p:sp>
        <p:nvSpPr>
          <p:cNvPr id="47" name="Text 44"/>
          <p:cNvSpPr/>
          <p:nvPr/>
        </p:nvSpPr>
        <p:spPr>
          <a:xfrm>
            <a:off x="2514600" y="4069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💪 HP Assessment 5축 (본인 ▼ vs Velo Group)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2514600" y="4242816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JH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3108960" y="4283964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3383280" y="4283964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3657600" y="4283964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3931920" y="4283964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3762024" y="4265676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251960" y="424281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40.4 cm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2514600" y="4389120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PP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3108960" y="4430268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3383280" y="4430268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3657600" y="4430268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3931920" y="4430268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4183380" y="4411980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25196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39.3 W/kg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2514600" y="4535424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IMTP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3108960" y="4576572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3383280" y="4576572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576572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3931920" y="4576572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3654104" y="4558284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251960" y="453542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26.8 N/kg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2514600" y="4681728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Hop RSI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3108960" y="4722876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3383280" y="4722876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3657600" y="4722876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3931920" y="4722876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3364078" y="4704588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251960" y="468172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1.9</a:t>
            </a:r>
            <a:endParaRPr lang="en-US" sz="750" dirty="0"/>
          </a:p>
        </p:txBody>
      </p:sp>
      <p:sp>
        <p:nvSpPr>
          <p:cNvPr id="76" name="Text 73"/>
          <p:cNvSpPr/>
          <p:nvPr/>
        </p:nvSpPr>
        <p:spPr>
          <a:xfrm>
            <a:off x="2514600" y="4828032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Plyo PP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3108960" y="4869180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3383280" y="4869180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9" name="Shape 76"/>
          <p:cNvSpPr/>
          <p:nvPr/>
        </p:nvSpPr>
        <p:spPr>
          <a:xfrm>
            <a:off x="3657600" y="4869180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80" name="Shape 77"/>
          <p:cNvSpPr/>
          <p:nvPr/>
        </p:nvSpPr>
        <p:spPr>
          <a:xfrm>
            <a:off x="3931920" y="4869180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81" name="Shape 78"/>
          <p:cNvSpPr/>
          <p:nvPr/>
        </p:nvSpPr>
        <p:spPr>
          <a:xfrm>
            <a:off x="3728793" y="4850892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251960" y="48280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10.1 N/kg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85" name="Text 82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86" name="Shape 83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89" name="Text 86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90" name="Shape 87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3" name="Text 90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94" name="Shape 91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-0.5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175cm · 71kg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63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133.2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우수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140.7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39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(-7.5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23360"/>
            <a:ext cx="4206240" cy="10058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261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" y="46268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7.5 km/h 만큼 메카닉 교정 잠재력. ELI 인과 chain Top 3 즉시 적용.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2423160" y="4114800"/>
            <a:ext cx="0" cy="868680"/>
          </a:xfrm>
          <a:prstGeom prst="line">
            <a:avLst/>
          </a:prstGeom>
          <a:noFill/>
          <a:ln w="6350">
            <a:solidFill>
              <a:srgbClr val="D0D7DE"/>
            </a:solidFill>
            <a:prstDash val="dash"/>
          </a:ln>
        </p:spPr>
      </p:sp>
      <p:sp>
        <p:nvSpPr>
          <p:cNvPr id="47" name="Text 44"/>
          <p:cNvSpPr/>
          <p:nvPr/>
        </p:nvSpPr>
        <p:spPr>
          <a:xfrm>
            <a:off x="2514600" y="4069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💪 HP Assessment 5축 (본인 ▼ vs Velo Group)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2514600" y="4242816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JH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3108960" y="4283964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3383280" y="4283964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3657600" y="4283964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3931920" y="4283964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3959535" y="4265676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251960" y="424281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44.9 cm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2514600" y="4389120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PP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3108960" y="4430268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3383280" y="4430268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3657600" y="4430268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3931920" y="4430268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4183380" y="4411980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25196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43.4 W/kg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2514600" y="4535424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IMTP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3108960" y="4576572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3383280" y="4576572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576572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3931920" y="4576572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3809014" y="4558284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251960" y="453542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29.2 N/kg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2514600" y="4681728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Hop RSI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3108960" y="4722876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3383280" y="4722876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3657600" y="4722876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3931920" y="4722876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3539642" y="4704588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251960" y="468172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2.1</a:t>
            </a:r>
            <a:endParaRPr lang="en-US" sz="750" dirty="0"/>
          </a:p>
        </p:txBody>
      </p:sp>
      <p:sp>
        <p:nvSpPr>
          <p:cNvPr id="76" name="Text 73"/>
          <p:cNvSpPr/>
          <p:nvPr/>
        </p:nvSpPr>
        <p:spPr>
          <a:xfrm>
            <a:off x="2514600" y="4828032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Plyo PP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3108960" y="4869180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3383280" y="4869180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9" name="Shape 76"/>
          <p:cNvSpPr/>
          <p:nvPr/>
        </p:nvSpPr>
        <p:spPr>
          <a:xfrm>
            <a:off x="3657600" y="4869180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80" name="Shape 77"/>
          <p:cNvSpPr/>
          <p:nvPr/>
        </p:nvSpPr>
        <p:spPr>
          <a:xfrm>
            <a:off x="3931920" y="4869180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81" name="Shape 78"/>
          <p:cNvSpPr/>
          <p:nvPr/>
        </p:nvSpPr>
        <p:spPr>
          <a:xfrm>
            <a:off x="3901222" y="4850892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251960" y="48280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11.2 N/kg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85" name="Text 82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86" name="Shape 83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89" name="Text 86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90" name="Shape 87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3" name="Text 90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94" name="Shape 91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선수03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좌투 · 170cm · 65kg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139.4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Elite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134.8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53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 메카닉 우수  (+4.6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23360"/>
            <a:ext cx="4206240" cy="1005840"/>
          </a:xfrm>
          <a:prstGeom prst="rect">
            <a:avLst/>
          </a:prstGeom>
          <a:solidFill>
            <a:srgbClr val="FAFBFC"/>
          </a:solidFill>
          <a:ln w="19050">
            <a:solidFill>
              <a:srgbClr val="1A7F3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261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우수 — 다음 ceiling 은 체력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" y="46268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체력 발달 (CMJ·IMTP·Hop) 시 추가 구속 발현 가능.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2423160" y="4114800"/>
            <a:ext cx="0" cy="868680"/>
          </a:xfrm>
          <a:prstGeom prst="line">
            <a:avLst/>
          </a:prstGeom>
          <a:noFill/>
          <a:ln w="6350">
            <a:solidFill>
              <a:srgbClr val="D0D7DE"/>
            </a:solidFill>
            <a:prstDash val="dash"/>
          </a:ln>
        </p:spPr>
      </p:sp>
      <p:sp>
        <p:nvSpPr>
          <p:cNvPr id="47" name="Text 44"/>
          <p:cNvSpPr/>
          <p:nvPr/>
        </p:nvSpPr>
        <p:spPr>
          <a:xfrm>
            <a:off x="2514600" y="4069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💪 HP Assessment 5축 (본인 ▼ vs Velo Group)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2514600" y="4242816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JH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3108960" y="4283964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3383280" y="4283964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3657600" y="4283964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3931920" y="4283964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3678631" y="4265676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251960" y="424281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38.5 cm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2514600" y="4389120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PP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3108960" y="4430268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3383280" y="4430268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3657600" y="4430268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3931920" y="4430268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4183380" y="4411980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25196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37.5 W/kg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2514600" y="4535424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IMTP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3108960" y="4576572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3383280" y="4576572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576572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3931920" y="4576572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3583103" y="4558284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251960" y="453542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25.7 N/kg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2514600" y="4681728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Hop RSI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3108960" y="4722876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3383280" y="4722876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3657600" y="4722876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3931920" y="4722876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3283610" y="4704588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251960" y="468172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1.8</a:t>
            </a:r>
            <a:endParaRPr lang="en-US" sz="750" dirty="0"/>
          </a:p>
        </p:txBody>
      </p:sp>
      <p:sp>
        <p:nvSpPr>
          <p:cNvPr id="76" name="Text 73"/>
          <p:cNvSpPr/>
          <p:nvPr/>
        </p:nvSpPr>
        <p:spPr>
          <a:xfrm>
            <a:off x="2514600" y="4828032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Plyo PP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3108960" y="4869180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3383280" y="4869180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9" name="Shape 76"/>
          <p:cNvSpPr/>
          <p:nvPr/>
        </p:nvSpPr>
        <p:spPr>
          <a:xfrm>
            <a:off x="3657600" y="4869180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80" name="Shape 77"/>
          <p:cNvSpPr/>
          <p:nvPr/>
        </p:nvSpPr>
        <p:spPr>
          <a:xfrm>
            <a:off x="3931920" y="4869180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81" name="Shape 78"/>
          <p:cNvSpPr/>
          <p:nvPr/>
        </p:nvSpPr>
        <p:spPr>
          <a:xfrm>
            <a:off x="3650415" y="4850892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251960" y="48280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9.6 N/kg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85" name="Text 82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86" name="Shape 83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89" name="Text 86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90" name="Shape 87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3" name="Text 90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94" name="Shape 91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선수04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174cm · 69kg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119.5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미달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136.4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66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69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71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(-16.9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23360"/>
            <a:ext cx="4206240" cy="10058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261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" y="46268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16.9 km/h 만큼 메카닉 교정 잠재력. ELI 인과 chain Top 3 즉시 적용.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2423160" y="4114800"/>
            <a:ext cx="0" cy="868680"/>
          </a:xfrm>
          <a:prstGeom prst="line">
            <a:avLst/>
          </a:prstGeom>
          <a:noFill/>
          <a:ln w="6350">
            <a:solidFill>
              <a:srgbClr val="D0D7DE"/>
            </a:solidFill>
            <a:prstDash val="dash"/>
          </a:ln>
        </p:spPr>
      </p:sp>
      <p:sp>
        <p:nvSpPr>
          <p:cNvPr id="47" name="Text 44"/>
          <p:cNvSpPr/>
          <p:nvPr/>
        </p:nvSpPr>
        <p:spPr>
          <a:xfrm>
            <a:off x="2514600" y="4069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💪 HP Assessment 5축 (본인 ▼ vs Velo Group)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2514600" y="4242816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JH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3108960" y="4283964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3383280" y="4283964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3657600" y="4283964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3931920" y="4283964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3876142" y="4265676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251960" y="424281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43.0 cm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2514600" y="4389120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PP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3108960" y="4430268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3383280" y="4430268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3657600" y="4430268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3931920" y="4430268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4183380" y="4411980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25196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41.7 W/kg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2514600" y="4535424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IMTP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3108960" y="4576572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3383280" y="4576572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576572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3931920" y="4576572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3744468" y="4558284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251960" y="453542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28.2 N/kg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2514600" y="4681728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Hop RSI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3108960" y="4722876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3383280" y="4722876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3657600" y="4722876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3931920" y="4722876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3466490" y="4704588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251960" y="468172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2.0</a:t>
            </a:r>
            <a:endParaRPr lang="en-US" sz="750" dirty="0"/>
          </a:p>
        </p:txBody>
      </p:sp>
      <p:sp>
        <p:nvSpPr>
          <p:cNvPr id="76" name="Text 73"/>
          <p:cNvSpPr/>
          <p:nvPr/>
        </p:nvSpPr>
        <p:spPr>
          <a:xfrm>
            <a:off x="2514600" y="4828032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Plyo PP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3108960" y="4869180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3383280" y="4869180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9" name="Shape 76"/>
          <p:cNvSpPr/>
          <p:nvPr/>
        </p:nvSpPr>
        <p:spPr>
          <a:xfrm>
            <a:off x="3657600" y="4869180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80" name="Shape 77"/>
          <p:cNvSpPr/>
          <p:nvPr/>
        </p:nvSpPr>
        <p:spPr>
          <a:xfrm>
            <a:off x="3931920" y="4869180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81" name="Shape 78"/>
          <p:cNvSpPr/>
          <p:nvPr/>
        </p:nvSpPr>
        <p:spPr>
          <a:xfrm>
            <a:off x="3838521" y="4850892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251960" y="48280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10.8 N/kg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85" name="Text 82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86" name="Shape 83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89" name="Text 86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90" name="Shape 87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-0.7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3" name="Text 90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94" name="Shape 91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-0.5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168cm · 62kg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85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125.7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미달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134.5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80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77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72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(-8.8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23360"/>
            <a:ext cx="4206240" cy="10058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261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" y="46268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8.8 km/h 만큼 메카닉 교정 잠재력. ELI 인과 chain Top 3 즉시 적용.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2423160" y="4114800"/>
            <a:ext cx="0" cy="868680"/>
          </a:xfrm>
          <a:prstGeom prst="line">
            <a:avLst/>
          </a:prstGeom>
          <a:noFill/>
          <a:ln w="6350">
            <a:solidFill>
              <a:srgbClr val="D0D7DE"/>
            </a:solidFill>
            <a:prstDash val="dash"/>
          </a:ln>
        </p:spPr>
      </p:sp>
      <p:sp>
        <p:nvSpPr>
          <p:cNvPr id="47" name="Text 44"/>
          <p:cNvSpPr/>
          <p:nvPr/>
        </p:nvSpPr>
        <p:spPr>
          <a:xfrm>
            <a:off x="2514600" y="4069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💪 HP Assessment 5축 (본인 ▼ vs Velo Group)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2514600" y="4242816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JH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3108960" y="4283964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3383280" y="4283964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3657600" y="4283964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3931920" y="4283964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3884920" y="4265676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251960" y="424281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43.2 cm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2514600" y="4389120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PP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3108960" y="4430268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3383280" y="4430268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3657600" y="4430268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3931920" y="4430268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4183380" y="4411980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25196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41.8 W/kg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2514600" y="4535424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IMTP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3108960" y="4576572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3383280" y="4576572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576572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3931920" y="4576572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3750923" y="4558284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251960" y="453542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28.3 N/kg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2514600" y="4681728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Hop RSI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3108960" y="4722876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3383280" y="4722876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3657600" y="4722876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3931920" y="4722876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3473806" y="4704588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251960" y="468172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2.0</a:t>
            </a:r>
            <a:endParaRPr lang="en-US" sz="750" dirty="0"/>
          </a:p>
        </p:txBody>
      </p:sp>
      <p:sp>
        <p:nvSpPr>
          <p:cNvPr id="76" name="Text 73"/>
          <p:cNvSpPr/>
          <p:nvPr/>
        </p:nvSpPr>
        <p:spPr>
          <a:xfrm>
            <a:off x="2514600" y="4828032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Plyo PP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3108960" y="4869180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3383280" y="4869180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9" name="Shape 76"/>
          <p:cNvSpPr/>
          <p:nvPr/>
        </p:nvSpPr>
        <p:spPr>
          <a:xfrm>
            <a:off x="3657600" y="4869180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80" name="Shape 77"/>
          <p:cNvSpPr/>
          <p:nvPr/>
        </p:nvSpPr>
        <p:spPr>
          <a:xfrm>
            <a:off x="3931920" y="4869180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81" name="Shape 78"/>
          <p:cNvSpPr/>
          <p:nvPr/>
        </p:nvSpPr>
        <p:spPr>
          <a:xfrm>
            <a:off x="3838521" y="4850892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251960" y="48280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10.8 N/kg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85" name="Text 82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86" name="Shape 83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-1.4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89" name="Text 86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90" name="Shape 87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-0.9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3" name="Text 90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94" name="Shape 91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FC 시 트렁크 기울기 부적절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착지 시 몸통 자세 불량  ·  손실 -0.3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Trunk control — anti-rotation core (palloff press)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선수06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좌투 · 178cm · 73kg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57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131.8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평균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140.2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51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56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(-8.4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23360"/>
            <a:ext cx="4206240" cy="10058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261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" y="46268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8.4 km/h 만큼 메카닉 교정 잠재력. ELI 인과 chain Top 3 즉시 적용.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2423160" y="4114800"/>
            <a:ext cx="0" cy="868680"/>
          </a:xfrm>
          <a:prstGeom prst="line">
            <a:avLst/>
          </a:prstGeom>
          <a:noFill/>
          <a:ln w="6350">
            <a:solidFill>
              <a:srgbClr val="D0D7DE"/>
            </a:solidFill>
            <a:prstDash val="dash"/>
          </a:ln>
        </p:spPr>
      </p:sp>
      <p:sp>
        <p:nvSpPr>
          <p:cNvPr id="47" name="Text 44"/>
          <p:cNvSpPr/>
          <p:nvPr/>
        </p:nvSpPr>
        <p:spPr>
          <a:xfrm>
            <a:off x="2514600" y="4069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💪 HP Assessment 5축 (본인 ▼ vs Velo Group)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2514600" y="4242816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JH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3108960" y="4283964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3383280" y="4283964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3657600" y="4283964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3931920" y="4283964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4082430" y="4265676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251960" y="424281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47.7 cm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2514600" y="4389120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PP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3108960" y="4430268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3383280" y="4430268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3657600" y="4430268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3931920" y="4430268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4183380" y="4411980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25196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45.9 W/kg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2514600" y="4535424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IMTP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3108960" y="4576572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3383280" y="4576572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576572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3931920" y="4576572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3912287" y="4558284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251960" y="453542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30.8 N/kg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2514600" y="4681728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Hop RSI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3108960" y="4722876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3383280" y="4722876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3657600" y="4722876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3931920" y="4722876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3656686" y="4704588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251960" y="468172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2.3</a:t>
            </a:r>
            <a:endParaRPr lang="en-US" sz="750" dirty="0"/>
          </a:p>
        </p:txBody>
      </p:sp>
      <p:sp>
        <p:nvSpPr>
          <p:cNvPr id="76" name="Text 73"/>
          <p:cNvSpPr/>
          <p:nvPr/>
        </p:nvSpPr>
        <p:spPr>
          <a:xfrm>
            <a:off x="2514600" y="4828032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Plyo PP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3108960" y="4869180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3383280" y="4869180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9" name="Shape 76"/>
          <p:cNvSpPr/>
          <p:nvPr/>
        </p:nvSpPr>
        <p:spPr>
          <a:xfrm>
            <a:off x="3657600" y="4869180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80" name="Shape 77"/>
          <p:cNvSpPr/>
          <p:nvPr/>
        </p:nvSpPr>
        <p:spPr>
          <a:xfrm>
            <a:off x="3931920" y="4869180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81" name="Shape 78"/>
          <p:cNvSpPr/>
          <p:nvPr/>
        </p:nvSpPr>
        <p:spPr>
          <a:xfrm>
            <a:off x="4010950" y="4850892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251960" y="48280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11.9 N/kg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85" name="Text 82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86" name="Shape 83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-1.3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89" name="Text 86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90" name="Shape 87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3" name="Text 90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94" name="Shape 91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FC 시 트렁크 기울기 부적절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착지 시 몸통 자세 불량  ·  손실 -0.2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Trunk control — anti-rotation core (palloff press)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선수07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173cm · 67kg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64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137.9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우수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135.0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64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63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적정  (+2.9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23360"/>
            <a:ext cx="4206240" cy="1005840"/>
          </a:xfrm>
          <a:prstGeom prst="rect">
            <a:avLst/>
          </a:prstGeom>
          <a:solidFill>
            <a:srgbClr val="FAFBFC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261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균형 — 체력·메카닉 동시 발달 권장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" y="46268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두 영역 병행 훈련.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2423160" y="4114800"/>
            <a:ext cx="0" cy="868680"/>
          </a:xfrm>
          <a:prstGeom prst="line">
            <a:avLst/>
          </a:prstGeom>
          <a:noFill/>
          <a:ln w="6350">
            <a:solidFill>
              <a:srgbClr val="D0D7DE"/>
            </a:solidFill>
            <a:prstDash val="dash"/>
          </a:ln>
        </p:spPr>
      </p:sp>
      <p:sp>
        <p:nvSpPr>
          <p:cNvPr id="47" name="Text 44"/>
          <p:cNvSpPr/>
          <p:nvPr/>
        </p:nvSpPr>
        <p:spPr>
          <a:xfrm>
            <a:off x="2514600" y="4069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💪 HP Assessment 5축 (본인 ▼ vs Velo Group)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2514600" y="4242816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JH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3108960" y="4283964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3383280" y="4283964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3657600" y="4283964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3931920" y="4283964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3801527" y="4265676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251960" y="424281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41.3 cm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2514600" y="4389120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PP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3108960" y="4430268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3383280" y="4430268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3657600" y="4430268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3931920" y="4430268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4183380" y="4411980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25196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40.1 W/kg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2514600" y="4535424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IMTP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3108960" y="4576572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3383280" y="4576572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576572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3931920" y="4576572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3679922" y="4558284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251960" y="453542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27.2 N/kg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2514600" y="4681728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Hop RSI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3108960" y="4722876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3383280" y="4722876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3657600" y="4722876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3931920" y="4722876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3393338" y="4704588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251960" y="468172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1.9</a:t>
            </a:r>
            <a:endParaRPr lang="en-US" sz="750" dirty="0"/>
          </a:p>
        </p:txBody>
      </p:sp>
      <p:sp>
        <p:nvSpPr>
          <p:cNvPr id="76" name="Text 73"/>
          <p:cNvSpPr/>
          <p:nvPr/>
        </p:nvSpPr>
        <p:spPr>
          <a:xfrm>
            <a:off x="2514600" y="4828032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Plyo PP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3108960" y="4869180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3383280" y="4869180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9" name="Shape 76"/>
          <p:cNvSpPr/>
          <p:nvPr/>
        </p:nvSpPr>
        <p:spPr>
          <a:xfrm>
            <a:off x="3657600" y="4869180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80" name="Shape 77"/>
          <p:cNvSpPr/>
          <p:nvPr/>
        </p:nvSpPr>
        <p:spPr>
          <a:xfrm>
            <a:off x="3931920" y="4869180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81" name="Shape 78"/>
          <p:cNvSpPr/>
          <p:nvPr/>
        </p:nvSpPr>
        <p:spPr>
          <a:xfrm>
            <a:off x="3760143" y="4850892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251960" y="48280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10.3 N/kg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85" name="Text 82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86" name="Shape 83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89" name="Text 86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90" name="Shape 87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3" name="Text 90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94" name="Shape 91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-0.6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선수08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177cm · 73kg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118.1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미달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136.8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65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(-18.7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23360"/>
            <a:ext cx="4206240" cy="10058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261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" y="46268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18.7 km/h 만큼 메카닉 교정 잠재력. ELI 인과 chain Top 3 즉시 적용.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2423160" y="4114800"/>
            <a:ext cx="0" cy="868680"/>
          </a:xfrm>
          <a:prstGeom prst="line">
            <a:avLst/>
          </a:prstGeom>
          <a:noFill/>
          <a:ln w="6350">
            <a:solidFill>
              <a:srgbClr val="D0D7DE"/>
            </a:solidFill>
            <a:prstDash val="dash"/>
          </a:ln>
        </p:spPr>
      </p:sp>
      <p:sp>
        <p:nvSpPr>
          <p:cNvPr id="47" name="Text 44"/>
          <p:cNvSpPr/>
          <p:nvPr/>
        </p:nvSpPr>
        <p:spPr>
          <a:xfrm>
            <a:off x="2514600" y="4069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💪 HP Assessment 5축 (본인 ▼ vs Velo Group)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2514600" y="4242816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JH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3108960" y="4283964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3383280" y="4283964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3657600" y="4283964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3931920" y="4283964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3805916" y="4265676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251960" y="424281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41.4 cm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2514600" y="4389120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PP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3108960" y="4430268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3383280" y="4430268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3657600" y="4430268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3931920" y="4430268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4183380" y="4411980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25196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40.2 W/kg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2514600" y="4535424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IMTP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3108960" y="4576572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3383280" y="4576572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576572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3931920" y="4576572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3686377" y="4558284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251960" y="453542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27.3 N/kg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2514600" y="4681728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Hop RSI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3108960" y="4722876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3383280" y="4722876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3657600" y="4722876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3931920" y="4722876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3400654" y="4704588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251960" y="468172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1.9</a:t>
            </a:r>
            <a:endParaRPr lang="en-US" sz="750" dirty="0"/>
          </a:p>
        </p:txBody>
      </p:sp>
      <p:sp>
        <p:nvSpPr>
          <p:cNvPr id="76" name="Text 73"/>
          <p:cNvSpPr/>
          <p:nvPr/>
        </p:nvSpPr>
        <p:spPr>
          <a:xfrm>
            <a:off x="2514600" y="4828032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Plyo PP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3108960" y="4869180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3383280" y="4869180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9" name="Shape 76"/>
          <p:cNvSpPr/>
          <p:nvPr/>
        </p:nvSpPr>
        <p:spPr>
          <a:xfrm>
            <a:off x="3657600" y="4869180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80" name="Shape 77"/>
          <p:cNvSpPr/>
          <p:nvPr/>
        </p:nvSpPr>
        <p:spPr>
          <a:xfrm>
            <a:off x="3931920" y="4869180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81" name="Shape 78"/>
          <p:cNvSpPr/>
          <p:nvPr/>
        </p:nvSpPr>
        <p:spPr>
          <a:xfrm>
            <a:off x="3775819" y="4850892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251960" y="48280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10.4 N/kg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85" name="Text 82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86" name="Shape 83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89" name="Text 86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90" name="Shape 87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-0.9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3" name="Text 90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94" name="Shape 91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-0.9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선수09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181cm · 79kg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124.2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미달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138.5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77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70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(-14.3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23360"/>
            <a:ext cx="4206240" cy="10058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261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" y="46268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14.3 km/h 만큼 메카닉 교정 잠재력. ELI 인과 chain Top 3 즉시 적용.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2423160" y="4114800"/>
            <a:ext cx="0" cy="868680"/>
          </a:xfrm>
          <a:prstGeom prst="line">
            <a:avLst/>
          </a:prstGeom>
          <a:noFill/>
          <a:ln w="6350">
            <a:solidFill>
              <a:srgbClr val="D0D7DE"/>
            </a:solidFill>
            <a:prstDash val="dash"/>
          </a:ln>
        </p:spPr>
      </p:sp>
      <p:sp>
        <p:nvSpPr>
          <p:cNvPr id="47" name="Text 44"/>
          <p:cNvSpPr/>
          <p:nvPr/>
        </p:nvSpPr>
        <p:spPr>
          <a:xfrm>
            <a:off x="2514600" y="4069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💪 HP Assessment 5축 (본인 ▼ vs Velo Group)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2514600" y="4242816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JH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3108960" y="4283964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3383280" y="4283964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3657600" y="4283964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3931920" y="4283964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4007815" y="4265676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251960" y="424281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46.0 cm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2514600" y="4389120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PP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3108960" y="4430268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3383280" y="4430268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3657600" y="4430268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3931920" y="4430268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4183380" y="4411980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25196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44.4 W/kg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2514600" y="4535424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IMTP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3108960" y="4576572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3383280" y="4576572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576572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3931920" y="4576572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3847741" y="4558284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251960" y="453542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29.8 N/kg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2514600" y="4681728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Hop RSI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3108960" y="4722876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3383280" y="4722876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3657600" y="4722876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3931920" y="4722876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3583534" y="4704588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251960" y="468172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2.2</a:t>
            </a:r>
            <a:endParaRPr lang="en-US" sz="750" dirty="0"/>
          </a:p>
        </p:txBody>
      </p:sp>
      <p:sp>
        <p:nvSpPr>
          <p:cNvPr id="76" name="Text 73"/>
          <p:cNvSpPr/>
          <p:nvPr/>
        </p:nvSpPr>
        <p:spPr>
          <a:xfrm>
            <a:off x="2514600" y="4828032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Plyo PP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3108960" y="4869180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3383280" y="4869180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9" name="Shape 76"/>
          <p:cNvSpPr/>
          <p:nvPr/>
        </p:nvSpPr>
        <p:spPr>
          <a:xfrm>
            <a:off x="3657600" y="4869180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80" name="Shape 77"/>
          <p:cNvSpPr/>
          <p:nvPr/>
        </p:nvSpPr>
        <p:spPr>
          <a:xfrm>
            <a:off x="3931920" y="4869180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81" name="Shape 78"/>
          <p:cNvSpPr/>
          <p:nvPr/>
        </p:nvSpPr>
        <p:spPr>
          <a:xfrm>
            <a:off x="3948249" y="4850892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251960" y="48280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11.5 N/kg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85" name="Text 82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86" name="Shape 83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89" name="Text 86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90" name="Shape 87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-0.8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3" name="Text 90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94" name="Shape 91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-0.6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선수10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좌투 · 175cm · 71kg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51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130.4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평균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133.7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48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46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(-3.3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23360"/>
            <a:ext cx="4206240" cy="10058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261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" y="46268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3.3 km/h 만큼 메카닉 교정 잠재력. ELI 인과 chain Top 3 즉시 적용.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2423160" y="4114800"/>
            <a:ext cx="0" cy="868680"/>
          </a:xfrm>
          <a:prstGeom prst="line">
            <a:avLst/>
          </a:prstGeom>
          <a:noFill/>
          <a:ln w="6350">
            <a:solidFill>
              <a:srgbClr val="D0D7DE"/>
            </a:solidFill>
            <a:prstDash val="dash"/>
          </a:ln>
        </p:spPr>
      </p:sp>
      <p:sp>
        <p:nvSpPr>
          <p:cNvPr id="47" name="Text 44"/>
          <p:cNvSpPr/>
          <p:nvPr/>
        </p:nvSpPr>
        <p:spPr>
          <a:xfrm>
            <a:off x="2514600" y="4069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💪 HP Assessment 5축 (본인 ▼ vs Velo Group)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2514600" y="4242816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JH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3108960" y="4283964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3383280" y="4283964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3657600" y="4283964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3931920" y="4283964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3722522" y="4265676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251960" y="424281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39.5 cm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2514600" y="4389120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PP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3108960" y="4430268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3383280" y="4430268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3657600" y="4430268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3931920" y="4430268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4183380" y="4411980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25196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38.5 W/kg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2514600" y="4535424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IMTP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3108960" y="4576572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3383280" y="4576572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576572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3931920" y="4576572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3621831" y="4558284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251960" y="453542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26.3 N/kg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2514600" y="4681728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Hop RSI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3108960" y="4722876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3383280" y="4722876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3657600" y="4722876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3931920" y="4722876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3327502" y="4704588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251960" y="468172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1.8</a:t>
            </a:r>
            <a:endParaRPr lang="en-US" sz="750" dirty="0"/>
          </a:p>
        </p:txBody>
      </p:sp>
      <p:sp>
        <p:nvSpPr>
          <p:cNvPr id="76" name="Text 73"/>
          <p:cNvSpPr/>
          <p:nvPr/>
        </p:nvSpPr>
        <p:spPr>
          <a:xfrm>
            <a:off x="2514600" y="4828032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Plyo PP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3108960" y="4869180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3383280" y="4869180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9" name="Shape 76"/>
          <p:cNvSpPr/>
          <p:nvPr/>
        </p:nvSpPr>
        <p:spPr>
          <a:xfrm>
            <a:off x="3657600" y="4869180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80" name="Shape 77"/>
          <p:cNvSpPr/>
          <p:nvPr/>
        </p:nvSpPr>
        <p:spPr>
          <a:xfrm>
            <a:off x="3931920" y="4869180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81" name="Shape 78"/>
          <p:cNvSpPr/>
          <p:nvPr/>
        </p:nvSpPr>
        <p:spPr>
          <a:xfrm>
            <a:off x="3697442" y="4850892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251960" y="48280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9.9 N/kg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85" name="Text 82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86" name="Shape 83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89" name="Text 86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90" name="Shape 87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-1.4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3" name="Text 90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94" name="Shape 91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-0.6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183cm · 81kg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58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132.5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평균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136.2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54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61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(-3.7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23360"/>
            <a:ext cx="4206240" cy="10058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261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" y="46268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3.7 km/h 만큼 메카닉 교정 잠재력. ELI 인과 chain Top 3 즉시 적용.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2423160" y="4114800"/>
            <a:ext cx="0" cy="868680"/>
          </a:xfrm>
          <a:prstGeom prst="line">
            <a:avLst/>
          </a:prstGeom>
          <a:noFill/>
          <a:ln w="6350">
            <a:solidFill>
              <a:srgbClr val="D0D7DE"/>
            </a:solidFill>
            <a:prstDash val="dash"/>
          </a:ln>
        </p:spPr>
      </p:sp>
      <p:sp>
        <p:nvSpPr>
          <p:cNvPr id="47" name="Text 44"/>
          <p:cNvSpPr/>
          <p:nvPr/>
        </p:nvSpPr>
        <p:spPr>
          <a:xfrm>
            <a:off x="2514600" y="4069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💪 HP Assessment 5축 (본인 ▼ vs Velo Group)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2514600" y="4242816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JH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3108960" y="4283964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3383280" y="4283964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3657600" y="4283964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3931920" y="4283964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3731301" y="4265676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251960" y="424281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39.7 cm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2514600" y="4389120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PP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3108960" y="4430268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3383280" y="4430268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3657600" y="4430268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3931920" y="4430268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4183380" y="4411980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25196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38.6 W/kg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2514600" y="4535424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IMTP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3108960" y="4576572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3383280" y="4576572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576572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3931920" y="4576572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3628285" y="4558284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251960" y="453542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26.4 N/kg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2514600" y="4681728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Hop RSI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3108960" y="4722876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3383280" y="4722876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3657600" y="4722876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3931920" y="4722876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3334817" y="4704588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251960" y="468172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1.8</a:t>
            </a:r>
            <a:endParaRPr lang="en-US" sz="750" dirty="0"/>
          </a:p>
        </p:txBody>
      </p:sp>
      <p:sp>
        <p:nvSpPr>
          <p:cNvPr id="76" name="Text 73"/>
          <p:cNvSpPr/>
          <p:nvPr/>
        </p:nvSpPr>
        <p:spPr>
          <a:xfrm>
            <a:off x="2514600" y="4828032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Plyo PP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3108960" y="4869180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3383280" y="4869180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9" name="Shape 76"/>
          <p:cNvSpPr/>
          <p:nvPr/>
        </p:nvSpPr>
        <p:spPr>
          <a:xfrm>
            <a:off x="3657600" y="4869180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80" name="Shape 77"/>
          <p:cNvSpPr/>
          <p:nvPr/>
        </p:nvSpPr>
        <p:spPr>
          <a:xfrm>
            <a:off x="3931920" y="4869180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81" name="Shape 78"/>
          <p:cNvSpPr/>
          <p:nvPr/>
        </p:nvSpPr>
        <p:spPr>
          <a:xfrm>
            <a:off x="3697442" y="4850892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251960" y="48280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9.9 N/kg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85" name="Text 82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86" name="Shape 83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89" name="Text 86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90" name="Shape 87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3" name="Text 90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94" name="Shape 91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-0.9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178cm · 74kg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65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138.6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Elite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136.0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적정  (+2.6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23360"/>
            <a:ext cx="4206240" cy="1005840"/>
          </a:xfrm>
          <a:prstGeom prst="rect">
            <a:avLst/>
          </a:prstGeom>
          <a:solidFill>
            <a:srgbClr val="FAFBFC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261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균형 — 체력·메카닉 동시 발달 권장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" y="46268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두 영역 병행 훈련.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2423160" y="4114800"/>
            <a:ext cx="0" cy="868680"/>
          </a:xfrm>
          <a:prstGeom prst="line">
            <a:avLst/>
          </a:prstGeom>
          <a:noFill/>
          <a:ln w="6350">
            <a:solidFill>
              <a:srgbClr val="D0D7DE"/>
            </a:solidFill>
            <a:prstDash val="dash"/>
          </a:ln>
        </p:spPr>
      </p:sp>
      <p:sp>
        <p:nvSpPr>
          <p:cNvPr id="47" name="Text 44"/>
          <p:cNvSpPr/>
          <p:nvPr/>
        </p:nvSpPr>
        <p:spPr>
          <a:xfrm>
            <a:off x="2514600" y="4069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💪 HP Assessment 5축 (본인 ▼ vs Velo Group)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2514600" y="4242816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JH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3108960" y="4283964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3383280" y="4283964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3657600" y="4283964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3931920" y="4283964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3928811" y="4265676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251960" y="424281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44.2 cm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2514600" y="4389120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PP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3108960" y="4430268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3383280" y="4430268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3657600" y="4430268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3931920" y="4430268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4183380" y="4411980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25196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42.8 W/kg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2514600" y="4535424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IMTP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3108960" y="4576572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3383280" y="4576572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576572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3931920" y="4576572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3789650" y="4558284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251960" y="453542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28.9 N/kg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2514600" y="4681728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Hop RSI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3108960" y="4722876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3383280" y="4722876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3657600" y="4722876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3931920" y="4722876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3517697" y="4704588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251960" y="468172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2.1</a:t>
            </a:r>
            <a:endParaRPr lang="en-US" sz="750" dirty="0"/>
          </a:p>
        </p:txBody>
      </p:sp>
      <p:sp>
        <p:nvSpPr>
          <p:cNvPr id="76" name="Text 73"/>
          <p:cNvSpPr/>
          <p:nvPr/>
        </p:nvSpPr>
        <p:spPr>
          <a:xfrm>
            <a:off x="2514600" y="4828032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Plyo PP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3108960" y="4869180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3383280" y="4869180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9" name="Shape 76"/>
          <p:cNvSpPr/>
          <p:nvPr/>
        </p:nvSpPr>
        <p:spPr>
          <a:xfrm>
            <a:off x="3657600" y="4869180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80" name="Shape 77"/>
          <p:cNvSpPr/>
          <p:nvPr/>
        </p:nvSpPr>
        <p:spPr>
          <a:xfrm>
            <a:off x="3931920" y="4869180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81" name="Shape 78"/>
          <p:cNvSpPr/>
          <p:nvPr/>
        </p:nvSpPr>
        <p:spPr>
          <a:xfrm>
            <a:off x="3885547" y="4850892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251960" y="48280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11.1 N/kg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85" name="Text 82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86" name="Shape 83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89" name="Text 86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90" name="Shape 87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-0.6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3" name="Text 90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94" name="Shape 91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-0.2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선수13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172cm · 68kg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122.8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미달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138.8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66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69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(-16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23360"/>
            <a:ext cx="4206240" cy="10058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261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" y="46268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16 km/h 만큼 메카닉 교정 잠재력. ELI 인과 chain Top 3 즉시 적용.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2423160" y="4114800"/>
            <a:ext cx="0" cy="868680"/>
          </a:xfrm>
          <a:prstGeom prst="line">
            <a:avLst/>
          </a:prstGeom>
          <a:noFill/>
          <a:ln w="6350">
            <a:solidFill>
              <a:srgbClr val="D0D7DE"/>
            </a:solidFill>
            <a:prstDash val="dash"/>
          </a:ln>
        </p:spPr>
      </p:sp>
      <p:sp>
        <p:nvSpPr>
          <p:cNvPr id="47" name="Text 44"/>
          <p:cNvSpPr/>
          <p:nvPr/>
        </p:nvSpPr>
        <p:spPr>
          <a:xfrm>
            <a:off x="2514600" y="4069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💪 HP Assessment 5축 (본인 ▼ vs Velo Group)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2514600" y="4242816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JH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3108960" y="4283964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3383280" y="4283964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3657600" y="4283964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3931920" y="4283964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4130711" y="4265676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251960" y="424281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48.8 cm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2514600" y="4389120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PP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3108960" y="4430268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3383280" y="4430268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3657600" y="4430268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3931920" y="4430268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4183380" y="4411980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25196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46.9 W/kg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2514600" y="4535424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IMTP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3108960" y="4576572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3383280" y="4576572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576572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3931920" y="4576572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3944560" y="4558284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251960" y="453542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31.3 N/kg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2514600" y="4681728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Hop RSI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3108960" y="4722876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3383280" y="4722876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3657600" y="4722876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3931920" y="4722876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3693262" y="4704588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251960" y="468172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2.3</a:t>
            </a:r>
            <a:endParaRPr lang="en-US" sz="750" dirty="0"/>
          </a:p>
        </p:txBody>
      </p:sp>
      <p:sp>
        <p:nvSpPr>
          <p:cNvPr id="76" name="Text 73"/>
          <p:cNvSpPr/>
          <p:nvPr/>
        </p:nvSpPr>
        <p:spPr>
          <a:xfrm>
            <a:off x="2514600" y="4828032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Plyo PP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3108960" y="4869180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3383280" y="4869180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9" name="Shape 76"/>
          <p:cNvSpPr/>
          <p:nvPr/>
        </p:nvSpPr>
        <p:spPr>
          <a:xfrm>
            <a:off x="3657600" y="4869180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80" name="Shape 77"/>
          <p:cNvSpPr/>
          <p:nvPr/>
        </p:nvSpPr>
        <p:spPr>
          <a:xfrm>
            <a:off x="3931920" y="4869180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81" name="Shape 78"/>
          <p:cNvSpPr/>
          <p:nvPr/>
        </p:nvSpPr>
        <p:spPr>
          <a:xfrm>
            <a:off x="4057977" y="4850892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251960" y="48280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12.2 N/kg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85" name="Text 82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86" name="Shape 83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89" name="Text 86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90" name="Shape 87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-0.3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3" name="Text 90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94" name="Shape 91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FC 시 트렁크 기울기 부적절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착지 시 몸통 자세 불량  ·  손실 -0.1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Trunk control — anti-rotation core (palloff press)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선수14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180cm · 77kg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124.9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미달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137.8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80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77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71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(-12.9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23360"/>
            <a:ext cx="4206240" cy="10058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261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" y="46268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12.9 km/h 만큼 메카닉 교정 잠재력. ELI 인과 chain Top 3 즉시 적용.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2423160" y="4114800"/>
            <a:ext cx="0" cy="868680"/>
          </a:xfrm>
          <a:prstGeom prst="line">
            <a:avLst/>
          </a:prstGeom>
          <a:noFill/>
          <a:ln w="6350">
            <a:solidFill>
              <a:srgbClr val="D0D7DE"/>
            </a:solidFill>
            <a:prstDash val="dash"/>
          </a:ln>
        </p:spPr>
      </p:sp>
      <p:sp>
        <p:nvSpPr>
          <p:cNvPr id="47" name="Text 44"/>
          <p:cNvSpPr/>
          <p:nvPr/>
        </p:nvSpPr>
        <p:spPr>
          <a:xfrm>
            <a:off x="2514600" y="4069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💪 HP Assessment 5축 (본인 ▼ vs Velo Group)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2514600" y="4242816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JH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3108960" y="4283964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3383280" y="4283964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3657600" y="4283964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3931920" y="4283964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3652296" y="4265676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251960" y="424281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37.9 cm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2514600" y="4389120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PP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3108960" y="4430268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3383280" y="4430268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3657600" y="4430268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3931920" y="4430268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4183380" y="4411980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25196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37.0 W/kg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2514600" y="4535424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IMTP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3108960" y="4576572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3383280" y="4576572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576572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3931920" y="4576572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3563740" y="4558284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251960" y="453542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25.4 N/kg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2514600" y="4681728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Hop RSI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3108960" y="4722876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3383280" y="4722876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3657600" y="4722876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3931920" y="4722876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3261665" y="4704588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251960" y="468172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1.7</a:t>
            </a:r>
            <a:endParaRPr lang="en-US" sz="750" dirty="0"/>
          </a:p>
        </p:txBody>
      </p:sp>
      <p:sp>
        <p:nvSpPr>
          <p:cNvPr id="76" name="Text 73"/>
          <p:cNvSpPr/>
          <p:nvPr/>
        </p:nvSpPr>
        <p:spPr>
          <a:xfrm>
            <a:off x="2514600" y="4828032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Plyo PP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3108960" y="4869180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3383280" y="4869180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9" name="Shape 76"/>
          <p:cNvSpPr/>
          <p:nvPr/>
        </p:nvSpPr>
        <p:spPr>
          <a:xfrm>
            <a:off x="3657600" y="4869180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80" name="Shape 77"/>
          <p:cNvSpPr/>
          <p:nvPr/>
        </p:nvSpPr>
        <p:spPr>
          <a:xfrm>
            <a:off x="3931920" y="4869180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81" name="Shape 78"/>
          <p:cNvSpPr/>
          <p:nvPr/>
        </p:nvSpPr>
        <p:spPr>
          <a:xfrm>
            <a:off x="3634740" y="4850892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251960" y="48280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9.5 N/kg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85" name="Text 82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86" name="Shape 83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89" name="Text 86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90" name="Shape 87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3" name="Text 90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94" name="Shape 91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Shoulder ER 부적절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어깨 ER 부족 / 과도  ·  손실 -0.3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Shoulder ER ROM — sleeper stretch + cuff 강화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좌투 · 185cm · 84kg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51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131.0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평균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139.7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51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55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(-8.7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23360"/>
            <a:ext cx="4206240" cy="10058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261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" y="46268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8.7 km/h 만큼 메카닉 교정 잠재력. ELI 인과 chain Top 3 즉시 적용.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2423160" y="4114800"/>
            <a:ext cx="0" cy="868680"/>
          </a:xfrm>
          <a:prstGeom prst="line">
            <a:avLst/>
          </a:prstGeom>
          <a:noFill/>
          <a:ln w="6350">
            <a:solidFill>
              <a:srgbClr val="D0D7DE"/>
            </a:solidFill>
            <a:prstDash val="dash"/>
          </a:ln>
        </p:spPr>
      </p:sp>
      <p:sp>
        <p:nvSpPr>
          <p:cNvPr id="47" name="Text 44"/>
          <p:cNvSpPr/>
          <p:nvPr/>
        </p:nvSpPr>
        <p:spPr>
          <a:xfrm>
            <a:off x="2514600" y="4069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💪 HP Assessment 5축 (본인 ▼ vs Velo Group)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2514600" y="4242816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JH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3108960" y="4283964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3383280" y="4283964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3657600" y="4283964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3931920" y="4283964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3854196" y="4265676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251960" y="424281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42.5 cm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2514600" y="4389120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PP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3108960" y="4430268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3383280" y="4430268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3657600" y="4430268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3931920" y="4430268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4183380" y="4411980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25196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41.2 W/kg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2514600" y="4535424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IMTP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3108960" y="4576572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3383280" y="4576572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576572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3931920" y="4576572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3725104" y="4558284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251960" y="453542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27.9 N/kg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2514600" y="4681728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Hop RSI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3108960" y="4722876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3383280" y="4722876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3657600" y="4722876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3931920" y="4722876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3444545" y="4704588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251960" y="468172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2.0</a:t>
            </a:r>
            <a:endParaRPr lang="en-US" sz="750" dirty="0"/>
          </a:p>
        </p:txBody>
      </p:sp>
      <p:sp>
        <p:nvSpPr>
          <p:cNvPr id="76" name="Text 73"/>
          <p:cNvSpPr/>
          <p:nvPr/>
        </p:nvSpPr>
        <p:spPr>
          <a:xfrm>
            <a:off x="2514600" y="4828032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Plyo PP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3108960" y="4869180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3383280" y="4869180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9" name="Shape 76"/>
          <p:cNvSpPr/>
          <p:nvPr/>
        </p:nvSpPr>
        <p:spPr>
          <a:xfrm>
            <a:off x="3657600" y="4869180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80" name="Shape 77"/>
          <p:cNvSpPr/>
          <p:nvPr/>
        </p:nvSpPr>
        <p:spPr>
          <a:xfrm>
            <a:off x="3931920" y="4869180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81" name="Shape 78"/>
          <p:cNvSpPr/>
          <p:nvPr/>
        </p:nvSpPr>
        <p:spPr>
          <a:xfrm>
            <a:off x="3807170" y="4850892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251960" y="48280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10.6 N/kg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85" name="Text 82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86" name="Shape 83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-1.9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89" name="Text 86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90" name="Shape 87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-1.2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3" name="Text 90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94" name="Shape 91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-1.3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선수16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178cm · 75kg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65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137.2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우수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139.2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57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58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71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적정  (-2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23360"/>
            <a:ext cx="4206240" cy="1005840"/>
          </a:xfrm>
          <a:prstGeom prst="rect">
            <a:avLst/>
          </a:prstGeom>
          <a:solidFill>
            <a:srgbClr val="FAFBFC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261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균형 — 체력·메카닉 동시 발달 권장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" y="46268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두 영역 병행 훈련.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2423160" y="4114800"/>
            <a:ext cx="0" cy="868680"/>
          </a:xfrm>
          <a:prstGeom prst="line">
            <a:avLst/>
          </a:prstGeom>
          <a:noFill/>
          <a:ln w="6350">
            <a:solidFill>
              <a:srgbClr val="D0D7DE"/>
            </a:solidFill>
            <a:prstDash val="dash"/>
          </a:ln>
        </p:spPr>
      </p:sp>
      <p:sp>
        <p:nvSpPr>
          <p:cNvPr id="47" name="Text 44"/>
          <p:cNvSpPr/>
          <p:nvPr/>
        </p:nvSpPr>
        <p:spPr>
          <a:xfrm>
            <a:off x="2514600" y="4069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💪 HP Assessment 5축 (본인 ▼ vs Velo Group)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2514600" y="4242816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JH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3108960" y="4283964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3383280" y="4283964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3657600" y="4283964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3931920" y="4283964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4051706" y="4265676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251960" y="424281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47.0 cm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2514600" y="4389120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PP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3108960" y="4430268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3383280" y="4430268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3657600" y="4430268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3931920" y="4430268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4183380" y="4411980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25196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45.3 W/kg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2514600" y="4535424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IMTP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3108960" y="4576572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3383280" y="4576572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576572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3931920" y="4576572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3886469" y="4558284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251960" y="453542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30.4 N/kg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2514600" y="4681728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Hop RSI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3108960" y="4722876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3383280" y="4722876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3657600" y="4722876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3931920" y="4722876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3627425" y="4704588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251960" y="468172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2.2</a:t>
            </a:r>
            <a:endParaRPr lang="en-US" sz="750" dirty="0"/>
          </a:p>
        </p:txBody>
      </p:sp>
      <p:sp>
        <p:nvSpPr>
          <p:cNvPr id="76" name="Text 73"/>
          <p:cNvSpPr/>
          <p:nvPr/>
        </p:nvSpPr>
        <p:spPr>
          <a:xfrm>
            <a:off x="2514600" y="4828032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Plyo PP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3108960" y="4869180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3383280" y="4869180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9" name="Shape 76"/>
          <p:cNvSpPr/>
          <p:nvPr/>
        </p:nvSpPr>
        <p:spPr>
          <a:xfrm>
            <a:off x="3657600" y="4869180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80" name="Shape 77"/>
          <p:cNvSpPr/>
          <p:nvPr/>
        </p:nvSpPr>
        <p:spPr>
          <a:xfrm>
            <a:off x="3931920" y="4869180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81" name="Shape 78"/>
          <p:cNvSpPr/>
          <p:nvPr/>
        </p:nvSpPr>
        <p:spPr>
          <a:xfrm>
            <a:off x="3995275" y="4850892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251960" y="48280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11.8 N/kg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85" name="Text 82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86" name="Shape 83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89" name="Text 86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90" name="Shape 87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-0.8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3" name="Text 90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94" name="Shape 91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-0.4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선수17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181cm · 78kg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117.3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미달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137.8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64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69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(-20.5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23360"/>
            <a:ext cx="4206240" cy="10058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261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" y="46268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20.5 km/h 만큼 메카닉 교정 잠재력. ELI 인과 chain Top 3 즉시 적용.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2423160" y="4114800"/>
            <a:ext cx="0" cy="868680"/>
          </a:xfrm>
          <a:prstGeom prst="line">
            <a:avLst/>
          </a:prstGeom>
          <a:noFill/>
          <a:ln w="6350">
            <a:solidFill>
              <a:srgbClr val="D0D7DE"/>
            </a:solidFill>
            <a:prstDash val="dash"/>
          </a:ln>
        </p:spPr>
      </p:sp>
      <p:sp>
        <p:nvSpPr>
          <p:cNvPr id="47" name="Text 44"/>
          <p:cNvSpPr/>
          <p:nvPr/>
        </p:nvSpPr>
        <p:spPr>
          <a:xfrm>
            <a:off x="2514600" y="4069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💪 HP Assessment 5축 (본인 ▼ vs Velo Group)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2514600" y="4242816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JH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3108960" y="4283964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3383280" y="4283964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3657600" y="4283964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3931920" y="4283964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3577681" y="4265676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251960" y="424281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36.2 cm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2514600" y="4389120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PP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3108960" y="4430268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3383280" y="4430268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3657600" y="4430268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3931920" y="4430268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4183380" y="4411980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25196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35.5 W/kg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2514600" y="4535424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IMTP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3108960" y="4576572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3383280" y="4576572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576572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3931920" y="4576572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3505648" y="4558284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251960" y="453542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24.5 N/kg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2514600" y="4681728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Hop RSI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3108960" y="4722876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3383280" y="4722876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3657600" y="4722876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3931920" y="4722876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3195828" y="4704588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251960" y="468172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1.6</a:t>
            </a:r>
            <a:endParaRPr lang="en-US" sz="750" dirty="0"/>
          </a:p>
        </p:txBody>
      </p:sp>
      <p:sp>
        <p:nvSpPr>
          <p:cNvPr id="76" name="Text 73"/>
          <p:cNvSpPr/>
          <p:nvPr/>
        </p:nvSpPr>
        <p:spPr>
          <a:xfrm>
            <a:off x="2514600" y="4828032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Plyo PP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3108960" y="4869180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3383280" y="4869180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9" name="Shape 76"/>
          <p:cNvSpPr/>
          <p:nvPr/>
        </p:nvSpPr>
        <p:spPr>
          <a:xfrm>
            <a:off x="3657600" y="4869180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80" name="Shape 77"/>
          <p:cNvSpPr/>
          <p:nvPr/>
        </p:nvSpPr>
        <p:spPr>
          <a:xfrm>
            <a:off x="3931920" y="4869180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81" name="Shape 78"/>
          <p:cNvSpPr/>
          <p:nvPr/>
        </p:nvSpPr>
        <p:spPr>
          <a:xfrm>
            <a:off x="3556363" y="4850892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251960" y="48280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9.0 N/kg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85" name="Text 82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86" name="Shape 83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89" name="Text 86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90" name="Shape 87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3" name="Text 90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94" name="Shape 91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-0.8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선수18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183cm · 80kg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123.5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미달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137.5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68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56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(-14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23360"/>
            <a:ext cx="4206240" cy="10058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261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" y="46268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14 km/h 만큼 메카닉 교정 잠재력. ELI 인과 chain Top 3 즉시 적용.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2423160" y="4114800"/>
            <a:ext cx="0" cy="868680"/>
          </a:xfrm>
          <a:prstGeom prst="line">
            <a:avLst/>
          </a:prstGeom>
          <a:noFill/>
          <a:ln w="6350">
            <a:solidFill>
              <a:srgbClr val="D0D7DE"/>
            </a:solidFill>
            <a:prstDash val="dash"/>
          </a:ln>
        </p:spPr>
      </p:sp>
      <p:sp>
        <p:nvSpPr>
          <p:cNvPr id="47" name="Text 44"/>
          <p:cNvSpPr/>
          <p:nvPr/>
        </p:nvSpPr>
        <p:spPr>
          <a:xfrm>
            <a:off x="2514600" y="4069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💪 HP Assessment 5축 (본인 ▼ vs Velo Group)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2514600" y="4242816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JH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3108960" y="4283964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3383280" y="4283964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3657600" y="4283964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3931920" y="4283964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3779581" y="4265676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251960" y="424281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40.8 cm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2514600" y="4389120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PP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3108960" y="4430268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3383280" y="4430268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3657600" y="4430268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3931920" y="4430268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4183380" y="4411980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25196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39.6 W/kg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2514600" y="4535424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IMTP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3108960" y="4576572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3383280" y="4576572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576572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3931920" y="4576572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3667013" y="4558284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251960" y="453542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27.0 N/kg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2514600" y="4681728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Hop RSI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3108960" y="4722876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3383280" y="4722876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3657600" y="4722876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3931920" y="4722876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3378708" y="4704588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251960" y="468172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1.9</a:t>
            </a:r>
            <a:endParaRPr lang="en-US" sz="750" dirty="0"/>
          </a:p>
        </p:txBody>
      </p:sp>
      <p:sp>
        <p:nvSpPr>
          <p:cNvPr id="76" name="Text 73"/>
          <p:cNvSpPr/>
          <p:nvPr/>
        </p:nvSpPr>
        <p:spPr>
          <a:xfrm>
            <a:off x="2514600" y="4828032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Plyo PP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3108960" y="4869180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3383280" y="4869180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9" name="Shape 76"/>
          <p:cNvSpPr/>
          <p:nvPr/>
        </p:nvSpPr>
        <p:spPr>
          <a:xfrm>
            <a:off x="3657600" y="4869180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80" name="Shape 77"/>
          <p:cNvSpPr/>
          <p:nvPr/>
        </p:nvSpPr>
        <p:spPr>
          <a:xfrm>
            <a:off x="3931920" y="4869180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81" name="Shape 78"/>
          <p:cNvSpPr/>
          <p:nvPr/>
        </p:nvSpPr>
        <p:spPr>
          <a:xfrm>
            <a:off x="3744468" y="4850892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251960" y="48280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10.2 N/kg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85" name="Text 82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86" name="Shape 83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-1.1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89" name="Text 86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90" name="Shape 87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-1.4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3" name="Text 90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94" name="Shape 91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선수19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179cm · 76kg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86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129.6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평균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138.3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82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81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(-8.7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23360"/>
            <a:ext cx="4206240" cy="10058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261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" y="46268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8.7 km/h 만큼 메카닉 교정 잠재력. ELI 인과 chain Top 3 즉시 적용.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2423160" y="4114800"/>
            <a:ext cx="0" cy="868680"/>
          </a:xfrm>
          <a:prstGeom prst="line">
            <a:avLst/>
          </a:prstGeom>
          <a:noFill/>
          <a:ln w="6350">
            <a:solidFill>
              <a:srgbClr val="D0D7DE"/>
            </a:solidFill>
            <a:prstDash val="dash"/>
          </a:ln>
        </p:spPr>
      </p:sp>
      <p:sp>
        <p:nvSpPr>
          <p:cNvPr id="47" name="Text 44"/>
          <p:cNvSpPr/>
          <p:nvPr/>
        </p:nvSpPr>
        <p:spPr>
          <a:xfrm>
            <a:off x="2514600" y="4069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💪 HP Assessment 5축 (본인 ▼ vs Velo Group)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2514600" y="4242816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JH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3108960" y="4283964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3383280" y="4283964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3657600" y="4283964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3931920" y="4283964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3977091" y="4265676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251960" y="424281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45.3 cm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2514600" y="4389120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PP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3108960" y="4430268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3383280" y="4430268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3657600" y="4430268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3931920" y="4430268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4183380" y="4411980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25196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43.7 W/kg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2514600" y="4535424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IMTP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3108960" y="4576572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3383280" y="4576572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576572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3931920" y="4576572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3821923" y="4558284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251960" y="453542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29.4 N/kg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2514600" y="4681728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Hop RSI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3108960" y="4722876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3383280" y="4722876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3657600" y="4722876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3931920" y="4722876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3554273" y="4704588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251960" y="468172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2.1</a:t>
            </a:r>
            <a:endParaRPr lang="en-US" sz="750" dirty="0"/>
          </a:p>
        </p:txBody>
      </p:sp>
      <p:sp>
        <p:nvSpPr>
          <p:cNvPr id="76" name="Text 73"/>
          <p:cNvSpPr/>
          <p:nvPr/>
        </p:nvSpPr>
        <p:spPr>
          <a:xfrm>
            <a:off x="2514600" y="4828032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Plyo PP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3108960" y="4869180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3383280" y="4869180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9" name="Shape 76"/>
          <p:cNvSpPr/>
          <p:nvPr/>
        </p:nvSpPr>
        <p:spPr>
          <a:xfrm>
            <a:off x="3657600" y="4869180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80" name="Shape 77"/>
          <p:cNvSpPr/>
          <p:nvPr/>
        </p:nvSpPr>
        <p:spPr>
          <a:xfrm>
            <a:off x="3931920" y="4869180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81" name="Shape 78"/>
          <p:cNvSpPr/>
          <p:nvPr/>
        </p:nvSpPr>
        <p:spPr>
          <a:xfrm>
            <a:off x="3916898" y="4850892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251960" y="48280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11.3 N/kg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85" name="Text 82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86" name="Shape 83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89" name="Text 86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90" name="Shape 87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-1.4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3" name="Text 90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94" name="Shape 91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P20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선수20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좌투 · 184cm · 82kg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58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135.7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우수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134.3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54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53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적정  (+1.4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23360"/>
            <a:ext cx="4206240" cy="1005840"/>
          </a:xfrm>
          <a:prstGeom prst="rect">
            <a:avLst/>
          </a:prstGeom>
          <a:solidFill>
            <a:srgbClr val="FAFBFC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261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균형 — 체력·메카닉 동시 발달 권장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" y="46268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두 영역 병행 훈련.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2423160" y="4114800"/>
            <a:ext cx="0" cy="868680"/>
          </a:xfrm>
          <a:prstGeom prst="line">
            <a:avLst/>
          </a:prstGeom>
          <a:noFill/>
          <a:ln w="6350">
            <a:solidFill>
              <a:srgbClr val="D0D7DE"/>
            </a:solidFill>
            <a:prstDash val="dash"/>
          </a:ln>
        </p:spPr>
      </p:sp>
      <p:sp>
        <p:nvSpPr>
          <p:cNvPr id="47" name="Text 44"/>
          <p:cNvSpPr/>
          <p:nvPr/>
        </p:nvSpPr>
        <p:spPr>
          <a:xfrm>
            <a:off x="2514600" y="4069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💪 HP Assessment 5축 (본인 ▼ vs Velo Group)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2514600" y="4242816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JH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3108960" y="4283964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3383280" y="4283964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3657600" y="4283964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3931920" y="4283964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3696188" y="4265676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251960" y="4242816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38.9 cm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2514600" y="4389120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CMJ PP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3108960" y="4430268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3383280" y="4430268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3657600" y="4430268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3931920" y="4430268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4183380" y="4411980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251960" y="4389120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37.9 W/kg</a:t>
            </a:r>
            <a:endParaRPr lang="en-US" sz="750" dirty="0"/>
          </a:p>
        </p:txBody>
      </p:sp>
      <p:sp>
        <p:nvSpPr>
          <p:cNvPr id="62" name="Text 59"/>
          <p:cNvSpPr/>
          <p:nvPr/>
        </p:nvSpPr>
        <p:spPr>
          <a:xfrm>
            <a:off x="2514600" y="4535424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IMTP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3108960" y="4576572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3383280" y="4576572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576572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3931920" y="4576572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3596012" y="4558284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251960" y="4535424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25.9 N/kg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2514600" y="4681728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Hop RSI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3108960" y="4722876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3383280" y="4722876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2" name="Shape 69"/>
          <p:cNvSpPr/>
          <p:nvPr/>
        </p:nvSpPr>
        <p:spPr>
          <a:xfrm>
            <a:off x="3657600" y="4722876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73" name="Shape 70"/>
          <p:cNvSpPr/>
          <p:nvPr/>
        </p:nvSpPr>
        <p:spPr>
          <a:xfrm>
            <a:off x="3931920" y="4722876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74" name="Shape 71"/>
          <p:cNvSpPr/>
          <p:nvPr/>
        </p:nvSpPr>
        <p:spPr>
          <a:xfrm>
            <a:off x="3298241" y="4704588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251960" y="4681728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1.8</a:t>
            </a:r>
            <a:endParaRPr lang="en-US" sz="750" dirty="0"/>
          </a:p>
        </p:txBody>
      </p:sp>
      <p:sp>
        <p:nvSpPr>
          <p:cNvPr id="76" name="Text 73"/>
          <p:cNvSpPr/>
          <p:nvPr/>
        </p:nvSpPr>
        <p:spPr>
          <a:xfrm>
            <a:off x="2514600" y="4828032"/>
            <a:ext cx="594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Plyo PP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3108960" y="4869180"/>
            <a:ext cx="269748" cy="54864"/>
          </a:xfrm>
          <a:prstGeom prst="rect">
            <a:avLst/>
          </a:prstGeom>
          <a:solidFill>
            <a:srgbClr val="7E57C2">
              <a:alpha val="50000"/>
            </a:srgbClr>
          </a:solidFill>
          <a:ln/>
        </p:spPr>
      </p:sp>
      <p:sp>
        <p:nvSpPr>
          <p:cNvPr id="78" name="Shape 75"/>
          <p:cNvSpPr/>
          <p:nvPr/>
        </p:nvSpPr>
        <p:spPr>
          <a:xfrm>
            <a:off x="3383280" y="4869180"/>
            <a:ext cx="269748" cy="54864"/>
          </a:xfrm>
          <a:prstGeom prst="rect">
            <a:avLst/>
          </a:prstGeom>
          <a:solidFill>
            <a:srgbClr val="E91E63">
              <a:alpha val="50000"/>
            </a:srgbClr>
          </a:solidFill>
          <a:ln/>
        </p:spPr>
      </p:sp>
      <p:sp>
        <p:nvSpPr>
          <p:cNvPr id="79" name="Shape 76"/>
          <p:cNvSpPr/>
          <p:nvPr/>
        </p:nvSpPr>
        <p:spPr>
          <a:xfrm>
            <a:off x="3657600" y="4869180"/>
            <a:ext cx="269748" cy="54864"/>
          </a:xfrm>
          <a:prstGeom prst="rect">
            <a:avLst/>
          </a:prstGeom>
          <a:solidFill>
            <a:srgbClr val="FF9800">
              <a:alpha val="50000"/>
            </a:srgbClr>
          </a:solidFill>
          <a:ln/>
        </p:spPr>
      </p:sp>
      <p:sp>
        <p:nvSpPr>
          <p:cNvPr id="80" name="Shape 77"/>
          <p:cNvSpPr/>
          <p:nvPr/>
        </p:nvSpPr>
        <p:spPr>
          <a:xfrm>
            <a:off x="3931920" y="4869180"/>
            <a:ext cx="269748" cy="54864"/>
          </a:xfrm>
          <a:prstGeom prst="rect">
            <a:avLst/>
          </a:prstGeom>
          <a:solidFill>
            <a:srgbClr val="FF6F00">
              <a:alpha val="50000"/>
            </a:srgbClr>
          </a:solidFill>
          <a:ln/>
        </p:spPr>
      </p:sp>
      <p:sp>
        <p:nvSpPr>
          <p:cNvPr id="81" name="Shape 78"/>
          <p:cNvSpPr/>
          <p:nvPr/>
        </p:nvSpPr>
        <p:spPr>
          <a:xfrm>
            <a:off x="3666091" y="4850892"/>
            <a:ext cx="45720" cy="91440"/>
          </a:xfrm>
          <a:prstGeom prst="rect">
            <a:avLst/>
          </a:prstGeom>
          <a:solidFill>
            <a:srgbClr val="0969DA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251960" y="4828032"/>
            <a:ext cx="274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9.7 N/kg</a:t>
            </a:r>
            <a:endParaRPr lang="en-US" sz="750" dirty="0"/>
          </a:p>
        </p:txBody>
      </p:sp>
      <p:sp>
        <p:nvSpPr>
          <p:cNvPr id="83" name="Text 80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84" name="Shape 81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85" name="Text 82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86" name="Shape 83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89" name="Text 86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90" name="Shape 87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3" name="Text 90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94" name="Shape 91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98" name="Text 95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 방법론 (analytics v2.1)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회귀 — 7개 변수 가법 모델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2120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1280160"/>
                <a:gridCol w="12801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변수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임계치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최대 기여 (km/h)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문헌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trunk_peak_dps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900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Stodden 2001 (univariate r≈0.4)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pelvis_peak_dps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500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Stodden 2001 (한국 elite N=41 fit R=-0.10, range restriction)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cmj_pp_bm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38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Lehman 2013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imtp_pf_bm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28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Lehman 2013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front_grf_bm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1.5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MacWilliams 1998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shoulder_er_deg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165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2.5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Werner 2008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stride_pct_height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85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Stodden 2001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914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 6 Zones</a:t>
            </a:r>
            <a:endParaRPr lang="en-US" sz="13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234440"/>
          <a:ext cx="29260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37744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Zone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내용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Z1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Sequential timing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Z2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X-factor 분리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Z3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Lead leg block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Z4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Trunk at FC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Z5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Shoulder ER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Z6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Pelvis braking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한계 및 주의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57200" y="4114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회귀 계수는 문헌 기반 합의 추정값 — 우리 코호트(N=20)에 fit 된 값 아님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causal chain의 km/h 손실은 추정 — 단일 변수 한계 효과 해석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Uplift 회차는 GRF 없음 — Z3, Z4, Z6 제한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국민대학교 BBL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상동고 투수 1차 측정 코치 미팅</dc:title>
  <dc:subject>PptxGenJS Presentation</dc:subject>
  <dc:creator>국민대 BBL · 스포츠과학과</dc:creator>
  <cp:lastModifiedBy>국민대 BBL · 스포츠과학과</cp:lastModifiedBy>
  <cp:revision>1</cp:revision>
  <dcterms:created xsi:type="dcterms:W3CDTF">2026-05-09T19:24:09Z</dcterms:created>
  <dcterms:modified xsi:type="dcterms:W3CDTF">2026-05-09T19:24:09Z</dcterms:modified>
</cp:coreProperties>
</file>