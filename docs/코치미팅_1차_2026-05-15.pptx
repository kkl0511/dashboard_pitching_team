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9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533</c:v>
                </c:pt>
                <c:pt idx="1">
                  <c:v>737</c:v>
                </c:pt>
                <c:pt idx="2">
                  <c:v>1352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546</c:v>
                </c:pt>
                <c:pt idx="1">
                  <c:v>740</c:v>
                </c:pt>
                <c:pt idx="2">
                  <c:v>1527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선수03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</c:v>
                </c:pt>
                <c:pt idx="1">
                  <c:v>743</c:v>
                </c:pt>
                <c:pt idx="2">
                  <c:v>1302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선수04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494</c:v>
                </c:pt>
                <c:pt idx="1">
                  <c:v>746</c:v>
                </c:pt>
                <c:pt idx="2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선수05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507</c:v>
                </c:pt>
                <c:pt idx="1">
                  <c:v>749</c:v>
                </c:pt>
                <c:pt idx="2">
                  <c:v>1251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선수06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521</c:v>
                </c:pt>
                <c:pt idx="1">
                  <c:v>752</c:v>
                </c:pt>
                <c:pt idx="2">
                  <c:v>1426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선수07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534</c:v>
                </c:pt>
                <c:pt idx="1">
                  <c:v>756</c:v>
                </c:pt>
                <c:pt idx="2">
                  <c:v>1201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선수08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548</c:v>
                </c:pt>
                <c:pt idx="1">
                  <c:v>759</c:v>
                </c:pt>
                <c:pt idx="2">
                  <c:v>1376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선수09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482</c:v>
                </c:pt>
                <c:pt idx="1">
                  <c:v>762</c:v>
                </c:pt>
                <c:pt idx="2">
                  <c:v>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495</c:v>
                </c:pt>
                <c:pt idx="1">
                  <c:v>765</c:v>
                </c:pt>
                <c:pt idx="2">
                  <c:v>1326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509</c:v>
                </c:pt>
                <c:pt idx="1">
                  <c:v>624</c:v>
                </c:pt>
                <c:pt idx="2">
                  <c:v>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523</c:v>
                </c:pt>
                <c:pt idx="1">
                  <c:v>628</c:v>
                </c:pt>
                <c:pt idx="2">
                  <c:v>1775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선수13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536</c:v>
                </c:pt>
                <c:pt idx="1">
                  <c:v>631</c:v>
                </c:pt>
                <c:pt idx="2">
                  <c:v>1950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선수14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550</c:v>
                </c:pt>
                <c:pt idx="1">
                  <c:v>634</c:v>
                </c:pt>
                <c:pt idx="2">
                  <c:v>1725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선수15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637</c:v>
                </c:pt>
                <c:pt idx="2">
                  <c:v>1900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선수16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497</c:v>
                </c:pt>
                <c:pt idx="1">
                  <c:v>640</c:v>
                </c:pt>
                <c:pt idx="2">
                  <c:v>1674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선수17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511</c:v>
                </c:pt>
                <c:pt idx="1">
                  <c:v>644</c:v>
                </c:pt>
                <c:pt idx="2">
                  <c:v>1849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선수18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525</c:v>
                </c:pt>
                <c:pt idx="1">
                  <c:v>647</c:v>
                </c:pt>
                <c:pt idx="2">
                  <c:v>1624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선수19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538</c:v>
                </c:pt>
                <c:pt idx="1">
                  <c:v>650</c:v>
                </c:pt>
                <c:pt idx="2">
                  <c:v>1799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선수20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552</c:v>
                </c:pt>
                <c:pt idx="1">
                  <c:v>653</c:v>
                </c:pt>
                <c:pt idx="2">
                  <c:v>1574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8016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투수 측정 리포트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 측정 — 코치 미팅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2026-05-15  ·  Theia+GRF  ·  20명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국민대학교 스포츠과학과 BBL · analytics v2.1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종합 — KPI 및 우수/주의 선수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 측정 (2026-05-15) · N=20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구속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129.0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01168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179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최고 139.4 km/h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277063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종합점수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7063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68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16052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7063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20명 평균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491947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ELI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1947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0936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1947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에너지 누수 관리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0372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706831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완료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6831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45820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6831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세션 1차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상위 3명 (구속)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128016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P03 선수03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139.4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P12 선수12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138.6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65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P07 선수07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137.9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64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475488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3명 (구속)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788920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128016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P17 선수17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117.3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P08 선수08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118.1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P04 선수04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119.5 km/h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종합 78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8"/>
          <p:cNvSpPr/>
          <p:nvPr/>
        </p:nvSpPr>
        <p:spPr>
          <a:xfrm>
            <a:off x="457200" y="40233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시사점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평균 구속 129.0 km/h — 동급 고교 평균(약 130 km/h) 대비 비교 필요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 60 미만 6명 — 누수 zone 분석 우선 필요 (개별 슬라이드 참조)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172cm · 68kg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127.1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164.7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49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52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(-37.6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37.6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-0.5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175cm · 71kg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133.2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우수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169.1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(-35.9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35.9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170cm · 65kg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139.4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Elite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163.2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(-23.8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23.8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174cm · 69kg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119.5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164.8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66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(-45.3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45.3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-0.5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168cm · 62kg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85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125.7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162.9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72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(-37.2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37.2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178cm · 73kg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131.8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168.6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51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56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(-36.8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36.8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173cm · 67kg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우수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163.4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(-25.5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25.5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177cm · 73kg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118.1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165.2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(-47.1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47.1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P09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선수09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181cm · 79kg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124.2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166.9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70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(-42.7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42.7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175cm · 71kg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130.4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162.1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(-31.7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31.7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183cm · 81kg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132.5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164.6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(-32.1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32.1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178cm · 74kg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138.6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Elite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164.4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(-25.8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25.8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-0.2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172cm · 68kg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122.8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167.2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66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(-44.4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44.4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착지 시 몸통 자세 불량  ·  손실 -0.1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180cm · 77kg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124.9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166.2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(-41.3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41.3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Shoulder ER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어깨 ER 부족 / 과도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Shoulder ER ROM — sleeper stretch + cuff 강화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185cm · 84kg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131.0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168.1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51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55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(-37.1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37.1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178cm · 75kg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137.2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우수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167.6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(-30.4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30.4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181cm · 78kg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117.3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166.2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69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(-48.9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48.9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183cm · 80kg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123.5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미달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165.9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56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(-42.4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42.4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X-factor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P19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선수19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우투 · 179cm · 76kg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86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129.6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평균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166.7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81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(-37.1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37.1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P20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선수20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좌투 · 184cm · 82kg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종합 58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" y="960120"/>
            <a:ext cx="45720" cy="868680"/>
          </a:xfrm>
          <a:prstGeom prst="rect">
            <a:avLst/>
          </a:prstGeom>
          <a:solidFill>
            <a:srgbClr val="0969DA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측정 구속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69D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135.7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0302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우수 그룹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8882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960120"/>
            <a:ext cx="45720" cy="868680"/>
          </a:xfrm>
          <a:prstGeom prst="rect">
            <a:avLst/>
          </a:prstGeom>
          <a:solidFill>
            <a:srgbClr val="BC4C00"/>
          </a:solidFill>
          <a:ln/>
        </p:spPr>
      </p:sp>
      <p:sp>
        <p:nvSpPr>
          <p:cNvPr id="16" name="Text 14"/>
          <p:cNvSpPr/>
          <p:nvPr/>
        </p:nvSpPr>
        <p:spPr>
          <a:xfrm>
            <a:off x="209854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체력 Ceiling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9854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4C0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162.7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04038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km/h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9854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Predicted Velo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2618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6180" y="960120"/>
            <a:ext cx="45720" cy="868680"/>
          </a:xfrm>
          <a:prstGeom prst="rect">
            <a:avLst/>
          </a:prstGeom>
          <a:solidFill>
            <a:srgbClr val="1A7F37"/>
          </a:solidFill>
          <a:ln/>
        </p:spPr>
      </p:sp>
      <p:sp>
        <p:nvSpPr>
          <p:cNvPr id="22" name="Text 20"/>
          <p:cNvSpPr/>
          <p:nvPr/>
        </p:nvSpPr>
        <p:spPr>
          <a:xfrm>
            <a:off x="383590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⚡ 힘 만들기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3590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7774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3590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(Output)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6354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3540" y="960120"/>
            <a:ext cx="45720" cy="868680"/>
          </a:xfrm>
          <a:prstGeom prst="rect">
            <a:avLst/>
          </a:prstGeom>
          <a:solidFill>
            <a:srgbClr val="8250DF"/>
          </a:solidFill>
          <a:ln/>
        </p:spPr>
      </p:sp>
      <p:sp>
        <p:nvSpPr>
          <p:cNvPr id="28" name="Text 26"/>
          <p:cNvSpPr/>
          <p:nvPr/>
        </p:nvSpPr>
        <p:spPr>
          <a:xfrm>
            <a:off x="557326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🔗 힘 전달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7326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250D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51510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326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전달 (Transfer)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00900" y="960120"/>
            <a:ext cx="16916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0900" y="960120"/>
            <a:ext cx="45720" cy="86868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34" name="Text 32"/>
          <p:cNvSpPr/>
          <p:nvPr/>
        </p:nvSpPr>
        <p:spPr>
          <a:xfrm>
            <a:off x="7310628" y="10058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힘 보존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0628" y="120700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252460" y="13716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0628" y="162763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누수 관리 (역 ELI)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1460" y="1920240"/>
            <a:ext cx="8641080" cy="274320"/>
          </a:xfrm>
          <a:prstGeom prst="rect">
            <a:avLst/>
          </a:prstGeom>
          <a:solidFill>
            <a:srgbClr val="F6F8FA"/>
          </a:solidFill>
          <a:ln w="508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94767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부상위험: </a:t>
            </a:r>
            <a:pPr indent="0" marL="0">
              <a:buNone/>
            </a:pPr>
            <a:r>
              <a:rPr lang="en-US" sz="1000" dirty="0">
                <a:solidFill>
                  <a:srgbClr val="1A7F3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낮음  |  </a:t>
            </a:r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효율 (AE): </a:t>
            </a:r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 메카닉 발달 여지  (-27 km/h)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65760" y="2286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관절 분절 시퀀스 (피크 회전속도)</a:t>
            </a:r>
            <a:endParaRPr lang="en-US" sz="105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365760" y="2542032"/>
          <a:ext cx="4206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2" name="Shape 39"/>
          <p:cNvSpPr/>
          <p:nvPr/>
        </p:nvSpPr>
        <p:spPr>
          <a:xfrm>
            <a:off x="365760" y="4069080"/>
            <a:ext cx="4206240" cy="777240"/>
          </a:xfrm>
          <a:prstGeom prst="rect">
            <a:avLst/>
          </a:prstGeom>
          <a:solidFill>
            <a:srgbClr val="FAFBFC"/>
          </a:solidFill>
          <a:ln w="19050">
            <a:solidFill>
              <a:srgbClr val="CF222E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📊 자동 진단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57200" y="431596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메카닉 비효율로 체력 잠재력 미발현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57200" y="451713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권장: 27 km/h 만큼 메카닉 교정 잠재력. ELI 인과 chain Top 3 즉시 적용.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4754880" y="22860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💧 누수 인과 분석 (Top 3) — Per 1 km/h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4754880" y="2542032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49" name="Shape 46"/>
          <p:cNvSpPr/>
          <p:nvPr/>
        </p:nvSpPr>
        <p:spPr>
          <a:xfrm>
            <a:off x="5120640" y="254203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12080" y="258775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754880" y="3319272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52" name="Text 49"/>
          <p:cNvSpPr/>
          <p:nvPr/>
        </p:nvSpPr>
        <p:spPr>
          <a:xfrm>
            <a:off x="4754880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5120640" y="331927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212080" y="3364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골반→몸통→팔 시퀀스 어긋남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754880" y="4096512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6" name="Text 53"/>
          <p:cNvSpPr/>
          <p:nvPr/>
        </p:nvSpPr>
        <p:spPr>
          <a:xfrm>
            <a:off x="4754880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5120640" y="4096512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212080" y="414223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골반 감속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61" name="Text 5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분석 방법론 (analytics v2.1)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잠재 구속 회귀 — 7개 변수 가법 모델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280160"/>
                <a:gridCol w="12801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변수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임계치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최대 기여 (km/h)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문헌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trunk_peak_dps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900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 (univariate r≈0.4)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pelvis_peak_dps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500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 (한국 elite N=41 fit R=-0.10, range restriction)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cmj_pp_bm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Lehman 2013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imtp_pf_bm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Lehman 2013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front_grf_bm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MacWilliams 1998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shoulder_er_deg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2.5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Werner 2008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stride_pct_height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Stodden 2001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914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ELI 6 Zones</a:t>
            </a:r>
            <a:endParaRPr lang="en-US" sz="13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34440"/>
          <a:ext cx="29260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Z1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Sequential timing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Z2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X-factor 분리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Z3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Lead leg block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Z4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Trunk at FC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Z5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Shoulder ER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Z6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Pelvis braking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22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및 주의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회귀 계수는 문헌 기반 합의 추정값 — 우리 코호트(N=20)에 fit 된 값 아님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causal chain의 km/h 손실은 추정 — 단일 변수 한계 효과 해석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Uplift 회차는 GRF 없음 — Z3, Z4, Z6 제한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국민대학교 BBL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상동고 투수 1차 측정 코치 미팅</dc:title>
  <dc:subject>PptxGenJS Presentation</dc:subject>
  <dc:creator>국민대 BBL · 스포츠과학과</dc:creator>
  <cp:lastModifiedBy>국민대 BBL · 스포츠과학과</cp:lastModifiedBy>
  <cp:revision>1</cp:revision>
  <dcterms:created xsi:type="dcterms:W3CDTF">2026-05-09T13:00:39Z</dcterms:created>
  <dcterms:modified xsi:type="dcterms:W3CDTF">2026-05-09T13:00:39Z</dcterms:modified>
</cp:coreProperties>
</file>