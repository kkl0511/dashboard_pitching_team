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8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9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0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3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4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5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6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7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18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19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20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선수01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3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D9DB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골반</c:v>
                  </c:pt>
                  <c:pt idx="1">
                    <c:v>몸통</c:v>
                  </c:pt>
                  <c:pt idx="2">
                    <c:v>팔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533</c:v>
                </c:pt>
                <c:pt idx="1">
                  <c:v>737</c:v>
                </c:pt>
                <c:pt idx="2">
                  <c:v>1352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3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56D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56D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선수02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3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D9DB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골반</c:v>
                  </c:pt>
                  <c:pt idx="1">
                    <c:v>몸통</c:v>
                  </c:pt>
                  <c:pt idx="2">
                    <c:v>팔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546</c:v>
                </c:pt>
                <c:pt idx="1">
                  <c:v>740</c:v>
                </c:pt>
                <c:pt idx="2">
                  <c:v>1527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3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56D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56D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선수03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3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D9DB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골반</c:v>
                  </c:pt>
                  <c:pt idx="1">
                    <c:v>몸통</c:v>
                  </c:pt>
                  <c:pt idx="2">
                    <c:v>팔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560</c:v>
                </c:pt>
                <c:pt idx="1">
                  <c:v>743</c:v>
                </c:pt>
                <c:pt idx="2">
                  <c:v>1302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3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56D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56D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선수04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3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D9DB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골반</c:v>
                  </c:pt>
                  <c:pt idx="1">
                    <c:v>몸통</c:v>
                  </c:pt>
                  <c:pt idx="2">
                    <c:v>팔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494</c:v>
                </c:pt>
                <c:pt idx="1">
                  <c:v>746</c:v>
                </c:pt>
                <c:pt idx="2">
                  <c:v>1477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3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56D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56D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선수05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3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D9DB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골반</c:v>
                  </c:pt>
                  <c:pt idx="1">
                    <c:v>몸통</c:v>
                  </c:pt>
                  <c:pt idx="2">
                    <c:v>팔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507</c:v>
                </c:pt>
                <c:pt idx="1">
                  <c:v>749</c:v>
                </c:pt>
                <c:pt idx="2">
                  <c:v>1251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3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56D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56D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선수06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3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D9DB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골반</c:v>
                  </c:pt>
                  <c:pt idx="1">
                    <c:v>몸통</c:v>
                  </c:pt>
                  <c:pt idx="2">
                    <c:v>팔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521</c:v>
                </c:pt>
                <c:pt idx="1">
                  <c:v>752</c:v>
                </c:pt>
                <c:pt idx="2">
                  <c:v>1426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3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56D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56D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선수07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3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D9DB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골반</c:v>
                  </c:pt>
                  <c:pt idx="1">
                    <c:v>몸통</c:v>
                  </c:pt>
                  <c:pt idx="2">
                    <c:v>팔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534</c:v>
                </c:pt>
                <c:pt idx="1">
                  <c:v>756</c:v>
                </c:pt>
                <c:pt idx="2">
                  <c:v>1201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3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56D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56D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선수08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3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D9DB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골반</c:v>
                  </c:pt>
                  <c:pt idx="1">
                    <c:v>몸통</c:v>
                  </c:pt>
                  <c:pt idx="2">
                    <c:v>팔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548</c:v>
                </c:pt>
                <c:pt idx="1">
                  <c:v>759</c:v>
                </c:pt>
                <c:pt idx="2">
                  <c:v>1376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3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56D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56D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선수09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3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D9DB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골반</c:v>
                  </c:pt>
                  <c:pt idx="1">
                    <c:v>몸통</c:v>
                  </c:pt>
                  <c:pt idx="2">
                    <c:v>팔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482</c:v>
                </c:pt>
                <c:pt idx="1">
                  <c:v>762</c:v>
                </c:pt>
                <c:pt idx="2">
                  <c:v>1551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3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56D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56D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선수10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3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D9DB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골반</c:v>
                  </c:pt>
                  <c:pt idx="1">
                    <c:v>몸통</c:v>
                  </c:pt>
                  <c:pt idx="2">
                    <c:v>팔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495</c:v>
                </c:pt>
                <c:pt idx="1">
                  <c:v>765</c:v>
                </c:pt>
                <c:pt idx="2">
                  <c:v>1326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3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56D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56D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선수11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3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D9DB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골반</c:v>
                  </c:pt>
                  <c:pt idx="1">
                    <c:v>몸통</c:v>
                  </c:pt>
                  <c:pt idx="2">
                    <c:v>팔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509</c:v>
                </c:pt>
                <c:pt idx="1">
                  <c:v>624</c:v>
                </c:pt>
                <c:pt idx="2">
                  <c:v>1500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3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56D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56D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선수12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3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D9DB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골반</c:v>
                  </c:pt>
                  <c:pt idx="1">
                    <c:v>몸통</c:v>
                  </c:pt>
                  <c:pt idx="2">
                    <c:v>팔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523</c:v>
                </c:pt>
                <c:pt idx="1">
                  <c:v>628</c:v>
                </c:pt>
                <c:pt idx="2">
                  <c:v>1775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3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56D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56D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선수13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3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D9DB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골반</c:v>
                  </c:pt>
                  <c:pt idx="1">
                    <c:v>몸통</c:v>
                  </c:pt>
                  <c:pt idx="2">
                    <c:v>팔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536</c:v>
                </c:pt>
                <c:pt idx="1">
                  <c:v>631</c:v>
                </c:pt>
                <c:pt idx="2">
                  <c:v>1950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3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56D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56D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선수14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3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D9DB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골반</c:v>
                  </c:pt>
                  <c:pt idx="1">
                    <c:v>몸통</c:v>
                  </c:pt>
                  <c:pt idx="2">
                    <c:v>팔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550</c:v>
                </c:pt>
                <c:pt idx="1">
                  <c:v>634</c:v>
                </c:pt>
                <c:pt idx="2">
                  <c:v>1725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3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56D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56D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선수15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3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D9DB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골반</c:v>
                  </c:pt>
                  <c:pt idx="1">
                    <c:v>몸통</c:v>
                  </c:pt>
                  <c:pt idx="2">
                    <c:v>팔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484</c:v>
                </c:pt>
                <c:pt idx="1">
                  <c:v>637</c:v>
                </c:pt>
                <c:pt idx="2">
                  <c:v>1900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3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56D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56D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선수16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3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D9DB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골반</c:v>
                  </c:pt>
                  <c:pt idx="1">
                    <c:v>몸통</c:v>
                  </c:pt>
                  <c:pt idx="2">
                    <c:v>팔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497</c:v>
                </c:pt>
                <c:pt idx="1">
                  <c:v>640</c:v>
                </c:pt>
                <c:pt idx="2">
                  <c:v>1674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3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56D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56D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선수17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3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D9DB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골반</c:v>
                  </c:pt>
                  <c:pt idx="1">
                    <c:v>몸통</c:v>
                  </c:pt>
                  <c:pt idx="2">
                    <c:v>팔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511</c:v>
                </c:pt>
                <c:pt idx="1">
                  <c:v>644</c:v>
                </c:pt>
                <c:pt idx="2">
                  <c:v>1849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3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56D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56D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선수18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3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D9DB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골반</c:v>
                  </c:pt>
                  <c:pt idx="1">
                    <c:v>몸통</c:v>
                  </c:pt>
                  <c:pt idx="2">
                    <c:v>팔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525</c:v>
                </c:pt>
                <c:pt idx="1">
                  <c:v>647</c:v>
                </c:pt>
                <c:pt idx="2">
                  <c:v>1624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3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56D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56D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선수19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3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D9DB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골반</c:v>
                  </c:pt>
                  <c:pt idx="1">
                    <c:v>몸통</c:v>
                  </c:pt>
                  <c:pt idx="2">
                    <c:v>팔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538</c:v>
                </c:pt>
                <c:pt idx="1">
                  <c:v>650</c:v>
                </c:pt>
                <c:pt idx="2">
                  <c:v>1799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3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56D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56D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선수20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3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D9DB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골반</c:v>
                  </c:pt>
                  <c:pt idx="1">
                    <c:v>몸통</c:v>
                  </c:pt>
                  <c:pt idx="2">
                    <c:v>팔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552</c:v>
                </c:pt>
                <c:pt idx="1">
                  <c:v>653</c:v>
                </c:pt>
                <c:pt idx="2">
                  <c:v>1574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3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56D7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E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56D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80160"/>
            <a:ext cx="73152" cy="1554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188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상동고 투수 측정 리포트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1차 측정 — 코치 미팅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606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2026-05-15  ·  Theia+GRF  ·  20명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6863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국민대학교 스포츠과학과 BBL · analytics v2.1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팀 종합 — KPI 및 우수/주의 선수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1차 측정 (2026-05-15) · N=20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0116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11887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170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평균 구속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1792" y="13716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129.0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011680" y="16276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km/h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1947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최고 139.4 km/h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06040" y="1097280"/>
            <a:ext cx="20116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1097280"/>
            <a:ext cx="54864" cy="11887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2770632" y="1170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평균 종합점수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70632" y="13716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68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160520" y="16276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70632" y="1947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20명 평균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1097280"/>
            <a:ext cx="20116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097280"/>
            <a:ext cx="54864" cy="11887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4919472" y="1170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평균 ELI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19472" y="13716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309360" y="16276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19472" y="1947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에너지 누수 관리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03720" y="1097280"/>
            <a:ext cx="20116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03720" y="1097280"/>
            <a:ext cx="54864" cy="11887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7068312" y="1170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측정 완료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68312" y="13716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8458200" y="16276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68312" y="1947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세션 1차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2468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F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상위 3명 (구속)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88920"/>
          <a:ext cx="41148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554480"/>
                <a:gridCol w="1280160"/>
                <a:gridCol w="9144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P03 선수03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139.4 km/h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종합 71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P12 선수12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138.6 km/h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종합 65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P07 선수07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137.9 km/h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종합 64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Text 27"/>
          <p:cNvSpPr/>
          <p:nvPr/>
        </p:nvSpPr>
        <p:spPr>
          <a:xfrm>
            <a:off x="4754880" y="2468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주의 3명 (구속)</a:t>
            </a:r>
            <a:endParaRPr lang="en-US" sz="12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2788920"/>
          <a:ext cx="41148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554480"/>
                <a:gridCol w="1280160"/>
                <a:gridCol w="9144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P17 선수17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117.3 km/h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종합 72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P08 선수08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118.1 km/h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종합 71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P04 선수04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119.5 km/h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종합 78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 28"/>
          <p:cNvSpPr/>
          <p:nvPr/>
        </p:nvSpPr>
        <p:spPr>
          <a:xfrm>
            <a:off x="457200" y="40233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핵심 시사점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457200" y="4297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팀 평균 구속 129.0 km/h — 동급 고교 평균(약 130 km/h) 대비 비교 필요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ELI 60 미만 6명 — 누수 zone 분석 우선 필요 (개별 슬라이드 참조)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365760" y="4823460"/>
            <a:ext cx="8412480" cy="0"/>
          </a:xfrm>
          <a:prstGeom prst="line">
            <a:avLst/>
          </a:prstGeom>
          <a:noFill/>
          <a:ln w="6350">
            <a:solidFill>
              <a:srgbClr val="D0D7DE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65760" y="48691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상동고 투구 리포트 · 1차 측정 (2026-05-15)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365760" y="48691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국민대 BBL · analytics v2.1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P01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1645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선수01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우투 · 172cm · 68kg · 1차 (2026-05-15)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0" y="182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종합 56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0" y="502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" y="960120"/>
            <a:ext cx="45720" cy="868680"/>
          </a:xfrm>
          <a:prstGeom prst="rect">
            <a:avLst/>
          </a:prstGeom>
          <a:solidFill>
            <a:srgbClr val="0969DA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측정 구속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118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127.1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0302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km/h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118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미달 그룹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98882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88820" y="960120"/>
            <a:ext cx="45720" cy="868680"/>
          </a:xfrm>
          <a:prstGeom prst="rect">
            <a:avLst/>
          </a:prstGeom>
          <a:solidFill>
            <a:srgbClr val="BC4C00"/>
          </a:solidFill>
          <a:ln/>
        </p:spPr>
      </p:sp>
      <p:sp>
        <p:nvSpPr>
          <p:cNvPr id="16" name="Text 14"/>
          <p:cNvSpPr/>
          <p:nvPr/>
        </p:nvSpPr>
        <p:spPr>
          <a:xfrm>
            <a:off x="209854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체력 Ceiling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9854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C4C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136.3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04038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km/h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9854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Predicted Velo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72618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26180" y="960120"/>
            <a:ext cx="45720" cy="868680"/>
          </a:xfrm>
          <a:prstGeom prst="rect">
            <a:avLst/>
          </a:prstGeom>
          <a:solidFill>
            <a:srgbClr val="1A7F37"/>
          </a:solidFill>
          <a:ln/>
        </p:spPr>
      </p:sp>
      <p:sp>
        <p:nvSpPr>
          <p:cNvPr id="22" name="Text 20"/>
          <p:cNvSpPr/>
          <p:nvPr/>
        </p:nvSpPr>
        <p:spPr>
          <a:xfrm>
            <a:off x="383590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⚡ 힘 만들기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3590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7F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49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77774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3590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출력 (Output)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46354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63540" y="960120"/>
            <a:ext cx="45720" cy="868680"/>
          </a:xfrm>
          <a:prstGeom prst="rect">
            <a:avLst/>
          </a:prstGeom>
          <a:solidFill>
            <a:srgbClr val="8250DF"/>
          </a:solidFill>
          <a:ln/>
        </p:spPr>
      </p:sp>
      <p:sp>
        <p:nvSpPr>
          <p:cNvPr id="28" name="Text 26"/>
          <p:cNvSpPr/>
          <p:nvPr/>
        </p:nvSpPr>
        <p:spPr>
          <a:xfrm>
            <a:off x="557326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🔗 힘 전달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7326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250D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52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51510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7326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전달 (Transfer)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20090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00900" y="960120"/>
            <a:ext cx="45720" cy="868680"/>
          </a:xfrm>
          <a:prstGeom prst="rect">
            <a:avLst/>
          </a:prstGeom>
          <a:solidFill>
            <a:srgbClr val="CF222E"/>
          </a:solidFill>
          <a:ln/>
        </p:spPr>
      </p:sp>
      <p:sp>
        <p:nvSpPr>
          <p:cNvPr id="34" name="Text 32"/>
          <p:cNvSpPr/>
          <p:nvPr/>
        </p:nvSpPr>
        <p:spPr>
          <a:xfrm>
            <a:off x="731062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💧 힘 보존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1062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61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825246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1062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누수 관리 (역 ELI)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51460" y="1920240"/>
            <a:ext cx="8641080" cy="274320"/>
          </a:xfrm>
          <a:prstGeom prst="rect">
            <a:avLst/>
          </a:prstGeom>
          <a:solidFill>
            <a:srgbClr val="F6F8FA"/>
          </a:solidFill>
          <a:ln w="5080">
            <a:solidFill>
              <a:srgbClr val="D0D7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194767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부상위험: </a:t>
            </a:r>
            <a:pPr indent="0" marL="0">
              <a:buNone/>
            </a:pPr>
            <a:r>
              <a:rPr lang="en-US" sz="1000" dirty="0">
                <a:solidFill>
                  <a:srgbClr val="1A7F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낮음  |  </a:t>
            </a:r>
            <a:pPr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메카닉 효율 (AE): </a:t>
            </a:r>
            <a:pPr indent="0" marL="0">
              <a:buNone/>
            </a:pPr>
            <a:r>
              <a:rPr lang="en-US" sz="100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⚠ 메카닉 발달 여지  (-9.2 km/h)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22860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관절 분절 시퀀스 (피크 회전속도)</a:t>
            </a:r>
            <a:endParaRPr lang="en-US" sz="1050" dirty="0"/>
          </a:p>
        </p:txBody>
      </p:sp>
      <p:graphicFrame>
        <p:nvGraphicFramePr>
          <p:cNvPr id="41" name="Chart 0" descr=""/>
          <p:cNvGraphicFramePr/>
          <p:nvPr/>
        </p:nvGraphicFramePr>
        <p:xfrm>
          <a:off x="365760" y="2542032"/>
          <a:ext cx="420624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2" name="Shape 39"/>
          <p:cNvSpPr/>
          <p:nvPr/>
        </p:nvSpPr>
        <p:spPr>
          <a:xfrm>
            <a:off x="365760" y="4023360"/>
            <a:ext cx="4206240" cy="1005840"/>
          </a:xfrm>
          <a:prstGeom prst="rect">
            <a:avLst/>
          </a:prstGeom>
          <a:solidFill>
            <a:srgbClr val="FAFBFC"/>
          </a:solidFill>
          <a:ln w="19050">
            <a:solidFill>
              <a:srgbClr val="CF222E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57200" y="4069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📊 자동 진단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457200" y="42611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메카닉 비효율로 체력 잠재력 미발현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57200" y="46268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💡 9.2 km/h 만큼 메카닉 교정 잠재력. ELI 인과 chain Top 3 즉시 적용.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2423160" y="4114800"/>
            <a:ext cx="0" cy="868680"/>
          </a:xfrm>
          <a:prstGeom prst="line">
            <a:avLst/>
          </a:prstGeom>
          <a:noFill/>
          <a:ln w="6350">
            <a:solidFill>
              <a:srgbClr val="D0D7DE"/>
            </a:solidFill>
            <a:prstDash val="dash"/>
          </a:ln>
        </p:spPr>
      </p:sp>
      <p:sp>
        <p:nvSpPr>
          <p:cNvPr id="47" name="Text 44"/>
          <p:cNvSpPr/>
          <p:nvPr/>
        </p:nvSpPr>
        <p:spPr>
          <a:xfrm>
            <a:off x="2514600" y="40690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C4C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💪 체력 5 변수 (본인 ▼ vs Velo Group)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2514600" y="4242816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CMJ JH</a:t>
            </a:r>
            <a:endParaRPr lang="en-US" sz="750" dirty="0"/>
          </a:p>
        </p:txBody>
      </p:sp>
      <p:sp>
        <p:nvSpPr>
          <p:cNvPr id="49" name="Shape 46"/>
          <p:cNvSpPr/>
          <p:nvPr/>
        </p:nvSpPr>
        <p:spPr>
          <a:xfrm>
            <a:off x="3108960" y="4283964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3383280" y="4283964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3657600" y="4283964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3931920" y="4283964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3762024" y="4265676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251960" y="4242816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40.4 cm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2514600" y="4389120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CMJ PP</a:t>
            </a:r>
            <a:endParaRPr lang="en-US" sz="750" dirty="0"/>
          </a:p>
        </p:txBody>
      </p:sp>
      <p:sp>
        <p:nvSpPr>
          <p:cNvPr id="56" name="Shape 53"/>
          <p:cNvSpPr/>
          <p:nvPr/>
        </p:nvSpPr>
        <p:spPr>
          <a:xfrm>
            <a:off x="3108960" y="4430268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3383280" y="4430268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3657600" y="4430268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3931920" y="4430268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4183380" y="4411980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4251960" y="4389120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39.3 W/kg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2514600" y="4535424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IMTP</a:t>
            </a:r>
            <a:endParaRPr 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3108960" y="4576572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3383280" y="4576572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3657600" y="4576572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3931920" y="4576572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67" name="Shape 64"/>
          <p:cNvSpPr/>
          <p:nvPr/>
        </p:nvSpPr>
        <p:spPr>
          <a:xfrm>
            <a:off x="3654104" y="4558284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4251960" y="4535424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26.8 N/kg</a:t>
            </a:r>
            <a:endParaRPr lang="en-US" sz="750" dirty="0"/>
          </a:p>
        </p:txBody>
      </p:sp>
      <p:sp>
        <p:nvSpPr>
          <p:cNvPr id="69" name="Text 66"/>
          <p:cNvSpPr/>
          <p:nvPr/>
        </p:nvSpPr>
        <p:spPr>
          <a:xfrm>
            <a:off x="2514600" y="4681728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Hop RSI</a:t>
            </a:r>
            <a:endParaRPr lang="en-US" sz="750" dirty="0"/>
          </a:p>
        </p:txBody>
      </p:sp>
      <p:sp>
        <p:nvSpPr>
          <p:cNvPr id="70" name="Shape 67"/>
          <p:cNvSpPr/>
          <p:nvPr/>
        </p:nvSpPr>
        <p:spPr>
          <a:xfrm>
            <a:off x="3108960" y="4722876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71" name="Shape 68"/>
          <p:cNvSpPr/>
          <p:nvPr/>
        </p:nvSpPr>
        <p:spPr>
          <a:xfrm>
            <a:off x="3383280" y="4722876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72" name="Shape 69"/>
          <p:cNvSpPr/>
          <p:nvPr/>
        </p:nvSpPr>
        <p:spPr>
          <a:xfrm>
            <a:off x="3657600" y="4722876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73" name="Shape 70"/>
          <p:cNvSpPr/>
          <p:nvPr/>
        </p:nvSpPr>
        <p:spPr>
          <a:xfrm>
            <a:off x="3931920" y="4722876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74" name="Shape 71"/>
          <p:cNvSpPr/>
          <p:nvPr/>
        </p:nvSpPr>
        <p:spPr>
          <a:xfrm>
            <a:off x="3364078" y="4704588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4251960" y="4681728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1.9</a:t>
            </a:r>
            <a:endParaRPr lang="en-US" sz="750" dirty="0"/>
          </a:p>
        </p:txBody>
      </p:sp>
      <p:sp>
        <p:nvSpPr>
          <p:cNvPr id="76" name="Text 73"/>
          <p:cNvSpPr/>
          <p:nvPr/>
        </p:nvSpPr>
        <p:spPr>
          <a:xfrm>
            <a:off x="2514600" y="4828032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Grip</a:t>
            </a:r>
            <a:endParaRPr lang="en-US" sz="750" dirty="0"/>
          </a:p>
        </p:txBody>
      </p:sp>
      <p:sp>
        <p:nvSpPr>
          <p:cNvPr id="77" name="Shape 74"/>
          <p:cNvSpPr/>
          <p:nvPr/>
        </p:nvSpPr>
        <p:spPr>
          <a:xfrm>
            <a:off x="3108960" y="4869180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78" name="Shape 75"/>
          <p:cNvSpPr/>
          <p:nvPr/>
        </p:nvSpPr>
        <p:spPr>
          <a:xfrm>
            <a:off x="3383280" y="4869180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79" name="Shape 76"/>
          <p:cNvSpPr/>
          <p:nvPr/>
        </p:nvSpPr>
        <p:spPr>
          <a:xfrm>
            <a:off x="3657600" y="4869180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80" name="Shape 77"/>
          <p:cNvSpPr/>
          <p:nvPr/>
        </p:nvSpPr>
        <p:spPr>
          <a:xfrm>
            <a:off x="3931920" y="4869180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81" name="Shape 78"/>
          <p:cNvSpPr/>
          <p:nvPr/>
        </p:nvSpPr>
        <p:spPr>
          <a:xfrm>
            <a:off x="3525012" y="4850892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4251960" y="4828032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55.0 kg</a:t>
            </a:r>
            <a:endParaRPr lang="en-US" sz="750" dirty="0"/>
          </a:p>
        </p:txBody>
      </p:sp>
      <p:sp>
        <p:nvSpPr>
          <p:cNvPr id="83" name="Text 80"/>
          <p:cNvSpPr/>
          <p:nvPr/>
        </p:nvSpPr>
        <p:spPr>
          <a:xfrm>
            <a:off x="4754880" y="22860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💧 누수 인과 분석 (Top 3) — Per 1 km/h</a:t>
            </a:r>
            <a:endParaRPr lang="en-US" sz="1050" dirty="0"/>
          </a:p>
        </p:txBody>
      </p:sp>
      <p:sp>
        <p:nvSpPr>
          <p:cNvPr id="84" name="Shape 81"/>
          <p:cNvSpPr/>
          <p:nvPr/>
        </p:nvSpPr>
        <p:spPr>
          <a:xfrm>
            <a:off x="4754880" y="2542032"/>
            <a:ext cx="365760" cy="685800"/>
          </a:xfrm>
          <a:prstGeom prst="rect">
            <a:avLst/>
          </a:prstGeom>
          <a:solidFill>
            <a:srgbClr val="CF222E"/>
          </a:solidFill>
          <a:ln/>
        </p:spPr>
      </p:sp>
      <p:sp>
        <p:nvSpPr>
          <p:cNvPr id="85" name="Text 82"/>
          <p:cNvSpPr/>
          <p:nvPr/>
        </p:nvSpPr>
        <p:spPr>
          <a:xfrm>
            <a:off x="4754880" y="2706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800" dirty="0"/>
          </a:p>
        </p:txBody>
      </p:sp>
      <p:sp>
        <p:nvSpPr>
          <p:cNvPr id="86" name="Shape 83"/>
          <p:cNvSpPr/>
          <p:nvPr/>
        </p:nvSpPr>
        <p:spPr>
          <a:xfrm>
            <a:off x="5120640" y="254203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5212080" y="258775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분절 가속 순서 결함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골반→몸통→팔 시퀀스 어긋남  ·  손실 -1.8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분절 가속 타이밍 훈련 (medicine ball 회전)</a:t>
            </a:r>
            <a:endParaRPr lang="en-US" sz="1100" dirty="0"/>
          </a:p>
        </p:txBody>
      </p:sp>
      <p:sp>
        <p:nvSpPr>
          <p:cNvPr id="88" name="Shape 85"/>
          <p:cNvSpPr/>
          <p:nvPr/>
        </p:nvSpPr>
        <p:spPr>
          <a:xfrm>
            <a:off x="4754880" y="3319272"/>
            <a:ext cx="365760" cy="685800"/>
          </a:xfrm>
          <a:prstGeom prst="rect">
            <a:avLst/>
          </a:prstGeom>
          <a:solidFill>
            <a:srgbClr val="BF8700"/>
          </a:solidFill>
          <a:ln/>
        </p:spPr>
      </p:sp>
      <p:sp>
        <p:nvSpPr>
          <p:cNvPr id="89" name="Text 86"/>
          <p:cNvSpPr/>
          <p:nvPr/>
        </p:nvSpPr>
        <p:spPr>
          <a:xfrm>
            <a:off x="4754880" y="3483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800" dirty="0"/>
          </a:p>
        </p:txBody>
      </p:sp>
      <p:sp>
        <p:nvSpPr>
          <p:cNvPr id="90" name="Shape 87"/>
          <p:cNvSpPr/>
          <p:nvPr/>
        </p:nvSpPr>
        <p:spPr>
          <a:xfrm>
            <a:off x="5120640" y="331927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5212080" y="336499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Lead knee collapse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앞발 받쳐주기 약함  ·  손실 -1.7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Lead leg 강화 — 단일하지 박스점프, 제자리 깊은 스쿼트</a:t>
            </a:r>
            <a:endParaRPr lang="en-US" sz="1100" dirty="0"/>
          </a:p>
        </p:txBody>
      </p:sp>
      <p:sp>
        <p:nvSpPr>
          <p:cNvPr id="92" name="Shape 89"/>
          <p:cNvSpPr/>
          <p:nvPr/>
        </p:nvSpPr>
        <p:spPr>
          <a:xfrm>
            <a:off x="4754880" y="4096512"/>
            <a:ext cx="36576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3" name="Text 90"/>
          <p:cNvSpPr/>
          <p:nvPr/>
        </p:nvSpPr>
        <p:spPr>
          <a:xfrm>
            <a:off x="4754880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800" dirty="0"/>
          </a:p>
        </p:txBody>
      </p:sp>
      <p:sp>
        <p:nvSpPr>
          <p:cNvPr id="94" name="Shape 91"/>
          <p:cNvSpPr/>
          <p:nvPr/>
        </p:nvSpPr>
        <p:spPr>
          <a:xfrm>
            <a:off x="5120640" y="409651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5212080" y="414223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골반-상체 분리 미달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X-factor 부족  ·  손실 -0.5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X-factor 증대 — hip-shoulder 분리 stretch</a:t>
            </a:r>
            <a:endParaRPr lang="en-US" sz="1100" dirty="0"/>
          </a:p>
        </p:txBody>
      </p:sp>
      <p:sp>
        <p:nvSpPr>
          <p:cNvPr id="96" name="Shape 93"/>
          <p:cNvSpPr/>
          <p:nvPr/>
        </p:nvSpPr>
        <p:spPr>
          <a:xfrm>
            <a:off x="365760" y="4823460"/>
            <a:ext cx="8412480" cy="0"/>
          </a:xfrm>
          <a:prstGeom prst="line">
            <a:avLst/>
          </a:prstGeom>
          <a:noFill/>
          <a:ln w="6350">
            <a:solidFill>
              <a:srgbClr val="D0D7DE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365760" y="48691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상동고 투구 리포트 · 1차 측정 (2026-05-15)</a:t>
            </a:r>
            <a:endParaRPr lang="en-US" sz="800" dirty="0"/>
          </a:p>
        </p:txBody>
      </p:sp>
      <p:sp>
        <p:nvSpPr>
          <p:cNvPr id="98" name="Text 95"/>
          <p:cNvSpPr/>
          <p:nvPr/>
        </p:nvSpPr>
        <p:spPr>
          <a:xfrm>
            <a:off x="365760" y="48691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국민대 BBL · analytics v2.1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P02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1645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선수02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우투 · 175cm · 71kg · 1차 (2026-05-15)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0" y="182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종합 63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0" y="502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" y="960120"/>
            <a:ext cx="45720" cy="868680"/>
          </a:xfrm>
          <a:prstGeom prst="rect">
            <a:avLst/>
          </a:prstGeom>
          <a:solidFill>
            <a:srgbClr val="0969DA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측정 구속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118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133.2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0302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km/h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118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우수 그룹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98882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88820" y="960120"/>
            <a:ext cx="45720" cy="868680"/>
          </a:xfrm>
          <a:prstGeom prst="rect">
            <a:avLst/>
          </a:prstGeom>
          <a:solidFill>
            <a:srgbClr val="BC4C00"/>
          </a:solidFill>
          <a:ln/>
        </p:spPr>
      </p:sp>
      <p:sp>
        <p:nvSpPr>
          <p:cNvPr id="16" name="Text 14"/>
          <p:cNvSpPr/>
          <p:nvPr/>
        </p:nvSpPr>
        <p:spPr>
          <a:xfrm>
            <a:off x="209854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체력 Ceiling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9854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C4C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140.7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04038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km/h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9854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Predicted Velo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72618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26180" y="960120"/>
            <a:ext cx="45720" cy="868680"/>
          </a:xfrm>
          <a:prstGeom prst="rect">
            <a:avLst/>
          </a:prstGeom>
          <a:solidFill>
            <a:srgbClr val="1A7F37"/>
          </a:solidFill>
          <a:ln/>
        </p:spPr>
      </p:sp>
      <p:sp>
        <p:nvSpPr>
          <p:cNvPr id="22" name="Text 20"/>
          <p:cNvSpPr/>
          <p:nvPr/>
        </p:nvSpPr>
        <p:spPr>
          <a:xfrm>
            <a:off x="383590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⚡ 힘 만들기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3590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7F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77774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3590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출력 (Output)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46354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63540" y="960120"/>
            <a:ext cx="45720" cy="868680"/>
          </a:xfrm>
          <a:prstGeom prst="rect">
            <a:avLst/>
          </a:prstGeom>
          <a:solidFill>
            <a:srgbClr val="8250DF"/>
          </a:solidFill>
          <a:ln/>
        </p:spPr>
      </p:sp>
      <p:sp>
        <p:nvSpPr>
          <p:cNvPr id="28" name="Text 26"/>
          <p:cNvSpPr/>
          <p:nvPr/>
        </p:nvSpPr>
        <p:spPr>
          <a:xfrm>
            <a:off x="557326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🔗 힘 전달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7326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250D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60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51510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7326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전달 (Transfer)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20090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00900" y="960120"/>
            <a:ext cx="45720" cy="868680"/>
          </a:xfrm>
          <a:prstGeom prst="rect">
            <a:avLst/>
          </a:prstGeom>
          <a:solidFill>
            <a:srgbClr val="CF222E"/>
          </a:solidFill>
          <a:ln/>
        </p:spPr>
      </p:sp>
      <p:sp>
        <p:nvSpPr>
          <p:cNvPr id="34" name="Text 32"/>
          <p:cNvSpPr/>
          <p:nvPr/>
        </p:nvSpPr>
        <p:spPr>
          <a:xfrm>
            <a:off x="731062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💧 힘 보존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1062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39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825246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1062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누수 관리 (역 ELI)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51460" y="1920240"/>
            <a:ext cx="8641080" cy="274320"/>
          </a:xfrm>
          <a:prstGeom prst="rect">
            <a:avLst/>
          </a:prstGeom>
          <a:solidFill>
            <a:srgbClr val="F6F8FA"/>
          </a:solidFill>
          <a:ln w="5080">
            <a:solidFill>
              <a:srgbClr val="D0D7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194767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부상위험: </a:t>
            </a:r>
            <a:pPr indent="0" marL="0">
              <a:buNone/>
            </a:pPr>
            <a:r>
              <a:rPr lang="en-US" sz="1000" dirty="0">
                <a:solidFill>
                  <a:srgbClr val="1A7F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낮음  |  </a:t>
            </a:r>
            <a:pPr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메카닉 효율 (AE): </a:t>
            </a:r>
            <a:pPr indent="0" marL="0">
              <a:buNone/>
            </a:pPr>
            <a:r>
              <a:rPr lang="en-US" sz="100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⚠ 메카닉 발달 여지  (-7.5 km/h)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22860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관절 분절 시퀀스 (피크 회전속도)</a:t>
            </a:r>
            <a:endParaRPr lang="en-US" sz="1050" dirty="0"/>
          </a:p>
        </p:txBody>
      </p:sp>
      <p:graphicFrame>
        <p:nvGraphicFramePr>
          <p:cNvPr id="41" name="Chart 0" descr=""/>
          <p:cNvGraphicFramePr/>
          <p:nvPr/>
        </p:nvGraphicFramePr>
        <p:xfrm>
          <a:off x="365760" y="2542032"/>
          <a:ext cx="420624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2" name="Shape 39"/>
          <p:cNvSpPr/>
          <p:nvPr/>
        </p:nvSpPr>
        <p:spPr>
          <a:xfrm>
            <a:off x="365760" y="4023360"/>
            <a:ext cx="4206240" cy="1005840"/>
          </a:xfrm>
          <a:prstGeom prst="rect">
            <a:avLst/>
          </a:prstGeom>
          <a:solidFill>
            <a:srgbClr val="FAFBFC"/>
          </a:solidFill>
          <a:ln w="19050">
            <a:solidFill>
              <a:srgbClr val="CF222E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57200" y="4069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📊 자동 진단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457200" y="42611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메카닉 비효율로 체력 잠재력 미발현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57200" y="46268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💡 7.5 km/h 만큼 메카닉 교정 잠재력. ELI 인과 chain Top 3 즉시 적용.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2423160" y="4114800"/>
            <a:ext cx="0" cy="868680"/>
          </a:xfrm>
          <a:prstGeom prst="line">
            <a:avLst/>
          </a:prstGeom>
          <a:noFill/>
          <a:ln w="6350">
            <a:solidFill>
              <a:srgbClr val="D0D7DE"/>
            </a:solidFill>
            <a:prstDash val="dash"/>
          </a:ln>
        </p:spPr>
      </p:sp>
      <p:sp>
        <p:nvSpPr>
          <p:cNvPr id="47" name="Text 44"/>
          <p:cNvSpPr/>
          <p:nvPr/>
        </p:nvSpPr>
        <p:spPr>
          <a:xfrm>
            <a:off x="2514600" y="40690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C4C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💪 체력 5 변수 (본인 ▼ vs Velo Group)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2514600" y="4242816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CMJ JH</a:t>
            </a:r>
            <a:endParaRPr lang="en-US" sz="750" dirty="0"/>
          </a:p>
        </p:txBody>
      </p:sp>
      <p:sp>
        <p:nvSpPr>
          <p:cNvPr id="49" name="Shape 46"/>
          <p:cNvSpPr/>
          <p:nvPr/>
        </p:nvSpPr>
        <p:spPr>
          <a:xfrm>
            <a:off x="3108960" y="4283964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3383280" y="4283964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3657600" y="4283964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3931920" y="4283964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3959535" y="4265676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251960" y="4242816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44.9 cm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2514600" y="4389120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CMJ PP</a:t>
            </a:r>
            <a:endParaRPr lang="en-US" sz="750" dirty="0"/>
          </a:p>
        </p:txBody>
      </p:sp>
      <p:sp>
        <p:nvSpPr>
          <p:cNvPr id="56" name="Shape 53"/>
          <p:cNvSpPr/>
          <p:nvPr/>
        </p:nvSpPr>
        <p:spPr>
          <a:xfrm>
            <a:off x="3108960" y="4430268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3383280" y="4430268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3657600" y="4430268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3931920" y="4430268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4183380" y="4411980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4251960" y="4389120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43.4 W/kg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2514600" y="4535424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IMTP</a:t>
            </a:r>
            <a:endParaRPr 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3108960" y="4576572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3383280" y="4576572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3657600" y="4576572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3931920" y="4576572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67" name="Shape 64"/>
          <p:cNvSpPr/>
          <p:nvPr/>
        </p:nvSpPr>
        <p:spPr>
          <a:xfrm>
            <a:off x="3809014" y="4558284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4251960" y="4535424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29.2 N/kg</a:t>
            </a:r>
            <a:endParaRPr lang="en-US" sz="750" dirty="0"/>
          </a:p>
        </p:txBody>
      </p:sp>
      <p:sp>
        <p:nvSpPr>
          <p:cNvPr id="69" name="Text 66"/>
          <p:cNvSpPr/>
          <p:nvPr/>
        </p:nvSpPr>
        <p:spPr>
          <a:xfrm>
            <a:off x="2514600" y="4681728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Hop RSI</a:t>
            </a:r>
            <a:endParaRPr lang="en-US" sz="750" dirty="0"/>
          </a:p>
        </p:txBody>
      </p:sp>
      <p:sp>
        <p:nvSpPr>
          <p:cNvPr id="70" name="Shape 67"/>
          <p:cNvSpPr/>
          <p:nvPr/>
        </p:nvSpPr>
        <p:spPr>
          <a:xfrm>
            <a:off x="3108960" y="4722876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71" name="Shape 68"/>
          <p:cNvSpPr/>
          <p:nvPr/>
        </p:nvSpPr>
        <p:spPr>
          <a:xfrm>
            <a:off x="3383280" y="4722876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72" name="Shape 69"/>
          <p:cNvSpPr/>
          <p:nvPr/>
        </p:nvSpPr>
        <p:spPr>
          <a:xfrm>
            <a:off x="3657600" y="4722876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73" name="Shape 70"/>
          <p:cNvSpPr/>
          <p:nvPr/>
        </p:nvSpPr>
        <p:spPr>
          <a:xfrm>
            <a:off x="3931920" y="4722876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74" name="Shape 71"/>
          <p:cNvSpPr/>
          <p:nvPr/>
        </p:nvSpPr>
        <p:spPr>
          <a:xfrm>
            <a:off x="3539642" y="4704588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4251960" y="4681728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2.1</a:t>
            </a:r>
            <a:endParaRPr lang="en-US" sz="750" dirty="0"/>
          </a:p>
        </p:txBody>
      </p:sp>
      <p:sp>
        <p:nvSpPr>
          <p:cNvPr id="76" name="Text 73"/>
          <p:cNvSpPr/>
          <p:nvPr/>
        </p:nvSpPr>
        <p:spPr>
          <a:xfrm>
            <a:off x="2514600" y="4828032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Grip</a:t>
            </a:r>
            <a:endParaRPr lang="en-US" sz="750" dirty="0"/>
          </a:p>
        </p:txBody>
      </p:sp>
      <p:sp>
        <p:nvSpPr>
          <p:cNvPr id="77" name="Shape 74"/>
          <p:cNvSpPr/>
          <p:nvPr/>
        </p:nvSpPr>
        <p:spPr>
          <a:xfrm>
            <a:off x="3108960" y="4869180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78" name="Shape 75"/>
          <p:cNvSpPr/>
          <p:nvPr/>
        </p:nvSpPr>
        <p:spPr>
          <a:xfrm>
            <a:off x="3383280" y="4869180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79" name="Shape 76"/>
          <p:cNvSpPr/>
          <p:nvPr/>
        </p:nvSpPr>
        <p:spPr>
          <a:xfrm>
            <a:off x="3657600" y="4869180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80" name="Shape 77"/>
          <p:cNvSpPr/>
          <p:nvPr/>
        </p:nvSpPr>
        <p:spPr>
          <a:xfrm>
            <a:off x="3931920" y="4869180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81" name="Shape 78"/>
          <p:cNvSpPr/>
          <p:nvPr/>
        </p:nvSpPr>
        <p:spPr>
          <a:xfrm>
            <a:off x="3525012" y="4850892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4251960" y="4828032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55.0 kg</a:t>
            </a:r>
            <a:endParaRPr lang="en-US" sz="750" dirty="0"/>
          </a:p>
        </p:txBody>
      </p:sp>
      <p:sp>
        <p:nvSpPr>
          <p:cNvPr id="83" name="Text 80"/>
          <p:cNvSpPr/>
          <p:nvPr/>
        </p:nvSpPr>
        <p:spPr>
          <a:xfrm>
            <a:off x="4754880" y="22860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💧 누수 인과 분석 (Top 3) — Per 1 km/h</a:t>
            </a:r>
            <a:endParaRPr lang="en-US" sz="1050" dirty="0"/>
          </a:p>
        </p:txBody>
      </p:sp>
      <p:sp>
        <p:nvSpPr>
          <p:cNvPr id="84" name="Shape 81"/>
          <p:cNvSpPr/>
          <p:nvPr/>
        </p:nvSpPr>
        <p:spPr>
          <a:xfrm>
            <a:off x="4754880" y="2542032"/>
            <a:ext cx="365760" cy="685800"/>
          </a:xfrm>
          <a:prstGeom prst="rect">
            <a:avLst/>
          </a:prstGeom>
          <a:solidFill>
            <a:srgbClr val="CF222E"/>
          </a:solidFill>
          <a:ln/>
        </p:spPr>
      </p:sp>
      <p:sp>
        <p:nvSpPr>
          <p:cNvPr id="85" name="Text 82"/>
          <p:cNvSpPr/>
          <p:nvPr/>
        </p:nvSpPr>
        <p:spPr>
          <a:xfrm>
            <a:off x="4754880" y="2706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800" dirty="0"/>
          </a:p>
        </p:txBody>
      </p:sp>
      <p:sp>
        <p:nvSpPr>
          <p:cNvPr id="86" name="Shape 83"/>
          <p:cNvSpPr/>
          <p:nvPr/>
        </p:nvSpPr>
        <p:spPr>
          <a:xfrm>
            <a:off x="5120640" y="254203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5212080" y="258775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Lead knee collapse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앞발 받쳐주기 약함  ·  손실 -1.8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Lead leg 강화 — 단일하지 박스점프, 제자리 깊은 스쿼트</a:t>
            </a:r>
            <a:endParaRPr lang="en-US" sz="1100" dirty="0"/>
          </a:p>
        </p:txBody>
      </p:sp>
      <p:sp>
        <p:nvSpPr>
          <p:cNvPr id="88" name="Shape 85"/>
          <p:cNvSpPr/>
          <p:nvPr/>
        </p:nvSpPr>
        <p:spPr>
          <a:xfrm>
            <a:off x="4754880" y="3319272"/>
            <a:ext cx="365760" cy="685800"/>
          </a:xfrm>
          <a:prstGeom prst="rect">
            <a:avLst/>
          </a:prstGeom>
          <a:solidFill>
            <a:srgbClr val="BF8700"/>
          </a:solidFill>
          <a:ln/>
        </p:spPr>
      </p:sp>
      <p:sp>
        <p:nvSpPr>
          <p:cNvPr id="89" name="Text 86"/>
          <p:cNvSpPr/>
          <p:nvPr/>
        </p:nvSpPr>
        <p:spPr>
          <a:xfrm>
            <a:off x="4754880" y="3483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800" dirty="0"/>
          </a:p>
        </p:txBody>
      </p:sp>
      <p:sp>
        <p:nvSpPr>
          <p:cNvPr id="90" name="Shape 87"/>
          <p:cNvSpPr/>
          <p:nvPr/>
        </p:nvSpPr>
        <p:spPr>
          <a:xfrm>
            <a:off x="5120640" y="331927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5212080" y="336499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Pelvis braking 부족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골반 감속 부족  ·  손실 -2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Pelvis brake — 단일하지 RFE 스플릿 스쿼트, 디셀러레이션 드릴</a:t>
            </a:r>
            <a:endParaRPr lang="en-US" sz="1100" dirty="0"/>
          </a:p>
        </p:txBody>
      </p:sp>
      <p:sp>
        <p:nvSpPr>
          <p:cNvPr id="92" name="Shape 89"/>
          <p:cNvSpPr/>
          <p:nvPr/>
        </p:nvSpPr>
        <p:spPr>
          <a:xfrm>
            <a:off x="4754880" y="4096512"/>
            <a:ext cx="36576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3" name="Text 90"/>
          <p:cNvSpPr/>
          <p:nvPr/>
        </p:nvSpPr>
        <p:spPr>
          <a:xfrm>
            <a:off x="4754880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800" dirty="0"/>
          </a:p>
        </p:txBody>
      </p:sp>
      <p:sp>
        <p:nvSpPr>
          <p:cNvPr id="94" name="Shape 91"/>
          <p:cNvSpPr/>
          <p:nvPr/>
        </p:nvSpPr>
        <p:spPr>
          <a:xfrm>
            <a:off x="5120640" y="409651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5212080" y="414223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분절 가속 순서 결함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골반→몸통→팔 시퀀스 어긋남  ·  손실 -1.7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분절 가속 타이밍 훈련 (medicine ball 회전)</a:t>
            </a:r>
            <a:endParaRPr lang="en-US" sz="1100" dirty="0"/>
          </a:p>
        </p:txBody>
      </p:sp>
      <p:sp>
        <p:nvSpPr>
          <p:cNvPr id="96" name="Shape 93"/>
          <p:cNvSpPr/>
          <p:nvPr/>
        </p:nvSpPr>
        <p:spPr>
          <a:xfrm>
            <a:off x="365760" y="4823460"/>
            <a:ext cx="8412480" cy="0"/>
          </a:xfrm>
          <a:prstGeom prst="line">
            <a:avLst/>
          </a:prstGeom>
          <a:noFill/>
          <a:ln w="6350">
            <a:solidFill>
              <a:srgbClr val="D0D7DE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365760" y="48691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상동고 투구 리포트 · 1차 측정 (2026-05-15)</a:t>
            </a:r>
            <a:endParaRPr lang="en-US" sz="800" dirty="0"/>
          </a:p>
        </p:txBody>
      </p:sp>
      <p:sp>
        <p:nvSpPr>
          <p:cNvPr id="98" name="Text 95"/>
          <p:cNvSpPr/>
          <p:nvPr/>
        </p:nvSpPr>
        <p:spPr>
          <a:xfrm>
            <a:off x="365760" y="48691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국민대 BBL · analytics v2.1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P03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1645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선수03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좌투 · 170cm · 65kg · 1차 (2026-05-15)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0" y="182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종합 71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0" y="502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" y="960120"/>
            <a:ext cx="45720" cy="868680"/>
          </a:xfrm>
          <a:prstGeom prst="rect">
            <a:avLst/>
          </a:prstGeom>
          <a:solidFill>
            <a:srgbClr val="0969DA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측정 구속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118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139.4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0302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km/h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118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Elite 그룹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98882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88820" y="960120"/>
            <a:ext cx="45720" cy="868680"/>
          </a:xfrm>
          <a:prstGeom prst="rect">
            <a:avLst/>
          </a:prstGeom>
          <a:solidFill>
            <a:srgbClr val="BC4C00"/>
          </a:solidFill>
          <a:ln/>
        </p:spPr>
      </p:sp>
      <p:sp>
        <p:nvSpPr>
          <p:cNvPr id="16" name="Text 14"/>
          <p:cNvSpPr/>
          <p:nvPr/>
        </p:nvSpPr>
        <p:spPr>
          <a:xfrm>
            <a:off x="209854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체력 Ceiling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9854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C4C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134.8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04038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km/h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9854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Predicted Velo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72618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26180" y="960120"/>
            <a:ext cx="45720" cy="868680"/>
          </a:xfrm>
          <a:prstGeom prst="rect">
            <a:avLst/>
          </a:prstGeom>
          <a:solidFill>
            <a:srgbClr val="1A7F37"/>
          </a:solidFill>
          <a:ln/>
        </p:spPr>
      </p:sp>
      <p:sp>
        <p:nvSpPr>
          <p:cNvPr id="22" name="Text 20"/>
          <p:cNvSpPr/>
          <p:nvPr/>
        </p:nvSpPr>
        <p:spPr>
          <a:xfrm>
            <a:off x="383590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⚡ 힘 만들기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3590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7F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60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77774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3590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출력 (Output)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46354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63540" y="960120"/>
            <a:ext cx="45720" cy="868680"/>
          </a:xfrm>
          <a:prstGeom prst="rect">
            <a:avLst/>
          </a:prstGeom>
          <a:solidFill>
            <a:srgbClr val="8250DF"/>
          </a:solidFill>
          <a:ln/>
        </p:spPr>
      </p:sp>
      <p:sp>
        <p:nvSpPr>
          <p:cNvPr id="28" name="Text 26"/>
          <p:cNvSpPr/>
          <p:nvPr/>
        </p:nvSpPr>
        <p:spPr>
          <a:xfrm>
            <a:off x="557326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🔗 힘 전달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7326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250D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60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51510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7326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전달 (Transfer)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20090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00900" y="960120"/>
            <a:ext cx="45720" cy="868680"/>
          </a:xfrm>
          <a:prstGeom prst="rect">
            <a:avLst/>
          </a:prstGeom>
          <a:solidFill>
            <a:srgbClr val="CF222E"/>
          </a:solidFill>
          <a:ln/>
        </p:spPr>
      </p:sp>
      <p:sp>
        <p:nvSpPr>
          <p:cNvPr id="34" name="Text 32"/>
          <p:cNvSpPr/>
          <p:nvPr/>
        </p:nvSpPr>
        <p:spPr>
          <a:xfrm>
            <a:off x="731062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💧 힘 보존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1062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53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825246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1062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누수 관리 (역 ELI)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51460" y="1920240"/>
            <a:ext cx="8641080" cy="274320"/>
          </a:xfrm>
          <a:prstGeom prst="rect">
            <a:avLst/>
          </a:prstGeom>
          <a:solidFill>
            <a:srgbClr val="F6F8FA"/>
          </a:solidFill>
          <a:ln w="5080">
            <a:solidFill>
              <a:srgbClr val="D0D7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194767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부상위험: </a:t>
            </a:r>
            <a:pPr indent="0" marL="0">
              <a:buNone/>
            </a:pPr>
            <a:r>
              <a:rPr lang="en-US" sz="1000" dirty="0">
                <a:solidFill>
                  <a:srgbClr val="1A7F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낮음  |  </a:t>
            </a:r>
            <a:pPr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메카닉 효율 (AE): </a:t>
            </a:r>
            <a:pPr indent="0" marL="0">
              <a:buNone/>
            </a:pPr>
            <a:r>
              <a:rPr lang="en-US" sz="1000" b="1" dirty="0">
                <a:solidFill>
                  <a:srgbClr val="1A7F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★ 메카닉 우수  (+4.6 km/h)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22860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관절 분절 시퀀스 (피크 회전속도)</a:t>
            </a:r>
            <a:endParaRPr lang="en-US" sz="1050" dirty="0"/>
          </a:p>
        </p:txBody>
      </p:sp>
      <p:graphicFrame>
        <p:nvGraphicFramePr>
          <p:cNvPr id="41" name="Chart 0" descr=""/>
          <p:cNvGraphicFramePr/>
          <p:nvPr/>
        </p:nvGraphicFramePr>
        <p:xfrm>
          <a:off x="365760" y="2542032"/>
          <a:ext cx="420624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2" name="Shape 39"/>
          <p:cNvSpPr/>
          <p:nvPr/>
        </p:nvSpPr>
        <p:spPr>
          <a:xfrm>
            <a:off x="365760" y="4023360"/>
            <a:ext cx="4206240" cy="1005840"/>
          </a:xfrm>
          <a:prstGeom prst="rect">
            <a:avLst/>
          </a:prstGeom>
          <a:solidFill>
            <a:srgbClr val="FAFBFC"/>
          </a:solidFill>
          <a:ln w="19050">
            <a:solidFill>
              <a:srgbClr val="1A7F37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57200" y="4069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F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📊 자동 진단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457200" y="42611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메카닉 효율 우수 — 다음 ceiling 은 체력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57200" y="46268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💡 체력 발달 (CMJ·IMTP·Hop) 시 추가 구속 발현 가능.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2423160" y="4114800"/>
            <a:ext cx="0" cy="868680"/>
          </a:xfrm>
          <a:prstGeom prst="line">
            <a:avLst/>
          </a:prstGeom>
          <a:noFill/>
          <a:ln w="6350">
            <a:solidFill>
              <a:srgbClr val="D0D7DE"/>
            </a:solidFill>
            <a:prstDash val="dash"/>
          </a:ln>
        </p:spPr>
      </p:sp>
      <p:sp>
        <p:nvSpPr>
          <p:cNvPr id="47" name="Text 44"/>
          <p:cNvSpPr/>
          <p:nvPr/>
        </p:nvSpPr>
        <p:spPr>
          <a:xfrm>
            <a:off x="2514600" y="40690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C4C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💪 체력 5 변수 (본인 ▼ vs Velo Group)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2514600" y="4242816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CMJ JH</a:t>
            </a:r>
            <a:endParaRPr lang="en-US" sz="750" dirty="0"/>
          </a:p>
        </p:txBody>
      </p:sp>
      <p:sp>
        <p:nvSpPr>
          <p:cNvPr id="49" name="Shape 46"/>
          <p:cNvSpPr/>
          <p:nvPr/>
        </p:nvSpPr>
        <p:spPr>
          <a:xfrm>
            <a:off x="3108960" y="4283964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3383280" y="4283964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3657600" y="4283964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3931920" y="4283964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3678631" y="4265676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251960" y="4242816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38.5 cm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2514600" y="4389120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CMJ PP</a:t>
            </a:r>
            <a:endParaRPr lang="en-US" sz="750" dirty="0"/>
          </a:p>
        </p:txBody>
      </p:sp>
      <p:sp>
        <p:nvSpPr>
          <p:cNvPr id="56" name="Shape 53"/>
          <p:cNvSpPr/>
          <p:nvPr/>
        </p:nvSpPr>
        <p:spPr>
          <a:xfrm>
            <a:off x="3108960" y="4430268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3383280" y="4430268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3657600" y="4430268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3931920" y="4430268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4183380" y="4411980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4251960" y="4389120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37.5 W/kg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2514600" y="4535424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IMTP</a:t>
            </a:r>
            <a:endParaRPr 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3108960" y="4576572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3383280" y="4576572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3657600" y="4576572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3931920" y="4576572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67" name="Shape 64"/>
          <p:cNvSpPr/>
          <p:nvPr/>
        </p:nvSpPr>
        <p:spPr>
          <a:xfrm>
            <a:off x="3583103" y="4558284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4251960" y="4535424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25.7 N/kg</a:t>
            </a:r>
            <a:endParaRPr lang="en-US" sz="750" dirty="0"/>
          </a:p>
        </p:txBody>
      </p:sp>
      <p:sp>
        <p:nvSpPr>
          <p:cNvPr id="69" name="Text 66"/>
          <p:cNvSpPr/>
          <p:nvPr/>
        </p:nvSpPr>
        <p:spPr>
          <a:xfrm>
            <a:off x="2514600" y="4681728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Hop RSI</a:t>
            </a:r>
            <a:endParaRPr lang="en-US" sz="750" dirty="0"/>
          </a:p>
        </p:txBody>
      </p:sp>
      <p:sp>
        <p:nvSpPr>
          <p:cNvPr id="70" name="Shape 67"/>
          <p:cNvSpPr/>
          <p:nvPr/>
        </p:nvSpPr>
        <p:spPr>
          <a:xfrm>
            <a:off x="3108960" y="4722876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71" name="Shape 68"/>
          <p:cNvSpPr/>
          <p:nvPr/>
        </p:nvSpPr>
        <p:spPr>
          <a:xfrm>
            <a:off x="3383280" y="4722876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72" name="Shape 69"/>
          <p:cNvSpPr/>
          <p:nvPr/>
        </p:nvSpPr>
        <p:spPr>
          <a:xfrm>
            <a:off x="3657600" y="4722876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73" name="Shape 70"/>
          <p:cNvSpPr/>
          <p:nvPr/>
        </p:nvSpPr>
        <p:spPr>
          <a:xfrm>
            <a:off x="3931920" y="4722876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74" name="Shape 71"/>
          <p:cNvSpPr/>
          <p:nvPr/>
        </p:nvSpPr>
        <p:spPr>
          <a:xfrm>
            <a:off x="3283610" y="4704588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4251960" y="4681728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1.8</a:t>
            </a:r>
            <a:endParaRPr lang="en-US" sz="750" dirty="0"/>
          </a:p>
        </p:txBody>
      </p:sp>
      <p:sp>
        <p:nvSpPr>
          <p:cNvPr id="76" name="Text 73"/>
          <p:cNvSpPr/>
          <p:nvPr/>
        </p:nvSpPr>
        <p:spPr>
          <a:xfrm>
            <a:off x="2514600" y="4828032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Grip</a:t>
            </a:r>
            <a:endParaRPr lang="en-US" sz="750" dirty="0"/>
          </a:p>
        </p:txBody>
      </p:sp>
      <p:sp>
        <p:nvSpPr>
          <p:cNvPr id="77" name="Shape 74"/>
          <p:cNvSpPr/>
          <p:nvPr/>
        </p:nvSpPr>
        <p:spPr>
          <a:xfrm>
            <a:off x="3108960" y="4869180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78" name="Shape 75"/>
          <p:cNvSpPr/>
          <p:nvPr/>
        </p:nvSpPr>
        <p:spPr>
          <a:xfrm>
            <a:off x="3383280" y="4869180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79" name="Shape 76"/>
          <p:cNvSpPr/>
          <p:nvPr/>
        </p:nvSpPr>
        <p:spPr>
          <a:xfrm>
            <a:off x="3657600" y="4869180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80" name="Shape 77"/>
          <p:cNvSpPr/>
          <p:nvPr/>
        </p:nvSpPr>
        <p:spPr>
          <a:xfrm>
            <a:off x="3931920" y="4869180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81" name="Shape 78"/>
          <p:cNvSpPr/>
          <p:nvPr/>
        </p:nvSpPr>
        <p:spPr>
          <a:xfrm>
            <a:off x="3525012" y="4850892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4251960" y="4828032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55.0 kg</a:t>
            </a:r>
            <a:endParaRPr lang="en-US" sz="750" dirty="0"/>
          </a:p>
        </p:txBody>
      </p:sp>
      <p:sp>
        <p:nvSpPr>
          <p:cNvPr id="83" name="Text 80"/>
          <p:cNvSpPr/>
          <p:nvPr/>
        </p:nvSpPr>
        <p:spPr>
          <a:xfrm>
            <a:off x="4754880" y="22860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💧 누수 인과 분석 (Top 3) — Per 1 km/h</a:t>
            </a:r>
            <a:endParaRPr lang="en-US" sz="1050" dirty="0"/>
          </a:p>
        </p:txBody>
      </p:sp>
      <p:sp>
        <p:nvSpPr>
          <p:cNvPr id="84" name="Shape 81"/>
          <p:cNvSpPr/>
          <p:nvPr/>
        </p:nvSpPr>
        <p:spPr>
          <a:xfrm>
            <a:off x="4754880" y="2542032"/>
            <a:ext cx="365760" cy="685800"/>
          </a:xfrm>
          <a:prstGeom prst="rect">
            <a:avLst/>
          </a:prstGeom>
          <a:solidFill>
            <a:srgbClr val="CF222E"/>
          </a:solidFill>
          <a:ln/>
        </p:spPr>
      </p:sp>
      <p:sp>
        <p:nvSpPr>
          <p:cNvPr id="85" name="Text 82"/>
          <p:cNvSpPr/>
          <p:nvPr/>
        </p:nvSpPr>
        <p:spPr>
          <a:xfrm>
            <a:off x="4754880" y="2706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800" dirty="0"/>
          </a:p>
        </p:txBody>
      </p:sp>
      <p:sp>
        <p:nvSpPr>
          <p:cNvPr id="86" name="Shape 83"/>
          <p:cNvSpPr/>
          <p:nvPr/>
        </p:nvSpPr>
        <p:spPr>
          <a:xfrm>
            <a:off x="5120640" y="254203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5212080" y="258775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Lead knee collapse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앞발 받쳐주기 약함  ·  손실 -1.8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Lead leg 강화 — 단일하지 박스점프, 제자리 깊은 스쿼트</a:t>
            </a:r>
            <a:endParaRPr lang="en-US" sz="1100" dirty="0"/>
          </a:p>
        </p:txBody>
      </p:sp>
      <p:sp>
        <p:nvSpPr>
          <p:cNvPr id="88" name="Shape 85"/>
          <p:cNvSpPr/>
          <p:nvPr/>
        </p:nvSpPr>
        <p:spPr>
          <a:xfrm>
            <a:off x="4754880" y="3319272"/>
            <a:ext cx="365760" cy="685800"/>
          </a:xfrm>
          <a:prstGeom prst="rect">
            <a:avLst/>
          </a:prstGeom>
          <a:solidFill>
            <a:srgbClr val="BF8700"/>
          </a:solidFill>
          <a:ln/>
        </p:spPr>
      </p:sp>
      <p:sp>
        <p:nvSpPr>
          <p:cNvPr id="89" name="Text 86"/>
          <p:cNvSpPr/>
          <p:nvPr/>
        </p:nvSpPr>
        <p:spPr>
          <a:xfrm>
            <a:off x="4754880" y="3483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800" dirty="0"/>
          </a:p>
        </p:txBody>
      </p:sp>
      <p:sp>
        <p:nvSpPr>
          <p:cNvPr id="90" name="Shape 87"/>
          <p:cNvSpPr/>
          <p:nvPr/>
        </p:nvSpPr>
        <p:spPr>
          <a:xfrm>
            <a:off x="5120640" y="331927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5212080" y="336499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Pelvis braking 부족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골반 감속 부족  ·  손실 -1.8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Pelvis brake — 단일하지 RFE 스플릿 스쿼트, 디셀러레이션 드릴</a:t>
            </a:r>
            <a:endParaRPr lang="en-US" sz="1100" dirty="0"/>
          </a:p>
        </p:txBody>
      </p:sp>
      <p:sp>
        <p:nvSpPr>
          <p:cNvPr id="92" name="Shape 89"/>
          <p:cNvSpPr/>
          <p:nvPr/>
        </p:nvSpPr>
        <p:spPr>
          <a:xfrm>
            <a:off x="4754880" y="4096512"/>
            <a:ext cx="36576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3" name="Text 90"/>
          <p:cNvSpPr/>
          <p:nvPr/>
        </p:nvSpPr>
        <p:spPr>
          <a:xfrm>
            <a:off x="4754880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800" dirty="0"/>
          </a:p>
        </p:txBody>
      </p:sp>
      <p:sp>
        <p:nvSpPr>
          <p:cNvPr id="94" name="Shape 91"/>
          <p:cNvSpPr/>
          <p:nvPr/>
        </p:nvSpPr>
        <p:spPr>
          <a:xfrm>
            <a:off x="5120640" y="409651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5212080" y="414223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분절 가속 순서 결함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골반→몸통→팔 시퀀스 어긋남  ·  손실 -1.2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분절 가속 타이밍 훈련 (medicine ball 회전)</a:t>
            </a:r>
            <a:endParaRPr lang="en-US" sz="1100" dirty="0"/>
          </a:p>
        </p:txBody>
      </p:sp>
      <p:sp>
        <p:nvSpPr>
          <p:cNvPr id="96" name="Shape 93"/>
          <p:cNvSpPr/>
          <p:nvPr/>
        </p:nvSpPr>
        <p:spPr>
          <a:xfrm>
            <a:off x="365760" y="4823460"/>
            <a:ext cx="8412480" cy="0"/>
          </a:xfrm>
          <a:prstGeom prst="line">
            <a:avLst/>
          </a:prstGeom>
          <a:noFill/>
          <a:ln w="6350">
            <a:solidFill>
              <a:srgbClr val="D0D7DE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365760" y="48691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상동고 투구 리포트 · 1차 측정 (2026-05-15)</a:t>
            </a:r>
            <a:endParaRPr lang="en-US" sz="800" dirty="0"/>
          </a:p>
        </p:txBody>
      </p:sp>
      <p:sp>
        <p:nvSpPr>
          <p:cNvPr id="98" name="Text 95"/>
          <p:cNvSpPr/>
          <p:nvPr/>
        </p:nvSpPr>
        <p:spPr>
          <a:xfrm>
            <a:off x="365760" y="48691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국민대 BBL · analytics v2.1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P04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1645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선수04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우투 · 174cm · 69kg · 1차 (2026-05-15)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0" y="182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종합 78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0" y="502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" y="960120"/>
            <a:ext cx="45720" cy="868680"/>
          </a:xfrm>
          <a:prstGeom prst="rect">
            <a:avLst/>
          </a:prstGeom>
          <a:solidFill>
            <a:srgbClr val="0969DA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측정 구속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118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119.5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0302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km/h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118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미달 그룹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98882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88820" y="960120"/>
            <a:ext cx="45720" cy="868680"/>
          </a:xfrm>
          <a:prstGeom prst="rect">
            <a:avLst/>
          </a:prstGeom>
          <a:solidFill>
            <a:srgbClr val="BC4C00"/>
          </a:solidFill>
          <a:ln/>
        </p:spPr>
      </p:sp>
      <p:sp>
        <p:nvSpPr>
          <p:cNvPr id="16" name="Text 14"/>
          <p:cNvSpPr/>
          <p:nvPr/>
        </p:nvSpPr>
        <p:spPr>
          <a:xfrm>
            <a:off x="209854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체력 Ceiling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9854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C4C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136.4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04038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km/h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9854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Predicted Velo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72618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26180" y="960120"/>
            <a:ext cx="45720" cy="868680"/>
          </a:xfrm>
          <a:prstGeom prst="rect">
            <a:avLst/>
          </a:prstGeom>
          <a:solidFill>
            <a:srgbClr val="1A7F37"/>
          </a:solidFill>
          <a:ln/>
        </p:spPr>
      </p:sp>
      <p:sp>
        <p:nvSpPr>
          <p:cNvPr id="22" name="Text 20"/>
          <p:cNvSpPr/>
          <p:nvPr/>
        </p:nvSpPr>
        <p:spPr>
          <a:xfrm>
            <a:off x="383590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⚡ 힘 만들기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3590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7F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66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77774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3590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출력 (Output)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46354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63540" y="960120"/>
            <a:ext cx="45720" cy="868680"/>
          </a:xfrm>
          <a:prstGeom prst="rect">
            <a:avLst/>
          </a:prstGeom>
          <a:solidFill>
            <a:srgbClr val="8250DF"/>
          </a:solidFill>
          <a:ln/>
        </p:spPr>
      </p:sp>
      <p:sp>
        <p:nvSpPr>
          <p:cNvPr id="28" name="Text 26"/>
          <p:cNvSpPr/>
          <p:nvPr/>
        </p:nvSpPr>
        <p:spPr>
          <a:xfrm>
            <a:off x="557326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🔗 힘 전달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7326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250D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69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51510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7326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전달 (Transfer)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20090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00900" y="960120"/>
            <a:ext cx="45720" cy="868680"/>
          </a:xfrm>
          <a:prstGeom prst="rect">
            <a:avLst/>
          </a:prstGeom>
          <a:solidFill>
            <a:srgbClr val="CF222E"/>
          </a:solidFill>
          <a:ln/>
        </p:spPr>
      </p:sp>
      <p:sp>
        <p:nvSpPr>
          <p:cNvPr id="34" name="Text 32"/>
          <p:cNvSpPr/>
          <p:nvPr/>
        </p:nvSpPr>
        <p:spPr>
          <a:xfrm>
            <a:off x="731062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💧 힘 보존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1062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71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825246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1062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누수 관리 (역 ELI)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51460" y="1920240"/>
            <a:ext cx="8641080" cy="274320"/>
          </a:xfrm>
          <a:prstGeom prst="rect">
            <a:avLst/>
          </a:prstGeom>
          <a:solidFill>
            <a:srgbClr val="F6F8FA"/>
          </a:solidFill>
          <a:ln w="5080">
            <a:solidFill>
              <a:srgbClr val="D0D7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194767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부상위험: </a:t>
            </a:r>
            <a:pPr indent="0" marL="0">
              <a:buNone/>
            </a:pPr>
            <a:r>
              <a:rPr lang="en-US" sz="1000" dirty="0">
                <a:solidFill>
                  <a:srgbClr val="1A7F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낮음  |  </a:t>
            </a:r>
            <a:pPr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메카닉 효율 (AE): </a:t>
            </a:r>
            <a:pPr indent="0" marL="0">
              <a:buNone/>
            </a:pPr>
            <a:r>
              <a:rPr lang="en-US" sz="100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⚠ 메카닉 발달 여지  (-16.9 km/h)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22860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관절 분절 시퀀스 (피크 회전속도)</a:t>
            </a:r>
            <a:endParaRPr lang="en-US" sz="1050" dirty="0"/>
          </a:p>
        </p:txBody>
      </p:sp>
      <p:graphicFrame>
        <p:nvGraphicFramePr>
          <p:cNvPr id="41" name="Chart 0" descr=""/>
          <p:cNvGraphicFramePr/>
          <p:nvPr/>
        </p:nvGraphicFramePr>
        <p:xfrm>
          <a:off x="365760" y="2542032"/>
          <a:ext cx="420624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2" name="Shape 39"/>
          <p:cNvSpPr/>
          <p:nvPr/>
        </p:nvSpPr>
        <p:spPr>
          <a:xfrm>
            <a:off x="365760" y="4023360"/>
            <a:ext cx="4206240" cy="1005840"/>
          </a:xfrm>
          <a:prstGeom prst="rect">
            <a:avLst/>
          </a:prstGeom>
          <a:solidFill>
            <a:srgbClr val="FAFBFC"/>
          </a:solidFill>
          <a:ln w="19050">
            <a:solidFill>
              <a:srgbClr val="CF222E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57200" y="4069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📊 자동 진단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457200" y="42611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메카닉 비효율로 체력 잠재력 미발현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57200" y="46268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💡 16.9 km/h 만큼 메카닉 교정 잠재력. ELI 인과 chain Top 3 즉시 적용.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2423160" y="4114800"/>
            <a:ext cx="0" cy="868680"/>
          </a:xfrm>
          <a:prstGeom prst="line">
            <a:avLst/>
          </a:prstGeom>
          <a:noFill/>
          <a:ln w="6350">
            <a:solidFill>
              <a:srgbClr val="D0D7DE"/>
            </a:solidFill>
            <a:prstDash val="dash"/>
          </a:ln>
        </p:spPr>
      </p:sp>
      <p:sp>
        <p:nvSpPr>
          <p:cNvPr id="47" name="Text 44"/>
          <p:cNvSpPr/>
          <p:nvPr/>
        </p:nvSpPr>
        <p:spPr>
          <a:xfrm>
            <a:off x="2514600" y="40690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C4C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💪 체력 5 변수 (본인 ▼ vs Velo Group)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2514600" y="4242816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CMJ JH</a:t>
            </a:r>
            <a:endParaRPr lang="en-US" sz="750" dirty="0"/>
          </a:p>
        </p:txBody>
      </p:sp>
      <p:sp>
        <p:nvSpPr>
          <p:cNvPr id="49" name="Shape 46"/>
          <p:cNvSpPr/>
          <p:nvPr/>
        </p:nvSpPr>
        <p:spPr>
          <a:xfrm>
            <a:off x="3108960" y="4283964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3383280" y="4283964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3657600" y="4283964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3931920" y="4283964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3876142" y="4265676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251960" y="4242816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43.0 cm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2514600" y="4389120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CMJ PP</a:t>
            </a:r>
            <a:endParaRPr lang="en-US" sz="750" dirty="0"/>
          </a:p>
        </p:txBody>
      </p:sp>
      <p:sp>
        <p:nvSpPr>
          <p:cNvPr id="56" name="Shape 53"/>
          <p:cNvSpPr/>
          <p:nvPr/>
        </p:nvSpPr>
        <p:spPr>
          <a:xfrm>
            <a:off x="3108960" y="4430268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3383280" y="4430268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3657600" y="4430268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3931920" y="4430268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4183380" y="4411980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4251960" y="4389120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41.7 W/kg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2514600" y="4535424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IMTP</a:t>
            </a:r>
            <a:endParaRPr 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3108960" y="4576572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3383280" y="4576572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3657600" y="4576572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3931920" y="4576572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67" name="Shape 64"/>
          <p:cNvSpPr/>
          <p:nvPr/>
        </p:nvSpPr>
        <p:spPr>
          <a:xfrm>
            <a:off x="3744468" y="4558284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4251960" y="4535424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28.2 N/kg</a:t>
            </a:r>
            <a:endParaRPr lang="en-US" sz="750" dirty="0"/>
          </a:p>
        </p:txBody>
      </p:sp>
      <p:sp>
        <p:nvSpPr>
          <p:cNvPr id="69" name="Text 66"/>
          <p:cNvSpPr/>
          <p:nvPr/>
        </p:nvSpPr>
        <p:spPr>
          <a:xfrm>
            <a:off x="2514600" y="4681728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Hop RSI</a:t>
            </a:r>
            <a:endParaRPr lang="en-US" sz="750" dirty="0"/>
          </a:p>
        </p:txBody>
      </p:sp>
      <p:sp>
        <p:nvSpPr>
          <p:cNvPr id="70" name="Shape 67"/>
          <p:cNvSpPr/>
          <p:nvPr/>
        </p:nvSpPr>
        <p:spPr>
          <a:xfrm>
            <a:off x="3108960" y="4722876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71" name="Shape 68"/>
          <p:cNvSpPr/>
          <p:nvPr/>
        </p:nvSpPr>
        <p:spPr>
          <a:xfrm>
            <a:off x="3383280" y="4722876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72" name="Shape 69"/>
          <p:cNvSpPr/>
          <p:nvPr/>
        </p:nvSpPr>
        <p:spPr>
          <a:xfrm>
            <a:off x="3657600" y="4722876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73" name="Shape 70"/>
          <p:cNvSpPr/>
          <p:nvPr/>
        </p:nvSpPr>
        <p:spPr>
          <a:xfrm>
            <a:off x="3931920" y="4722876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74" name="Shape 71"/>
          <p:cNvSpPr/>
          <p:nvPr/>
        </p:nvSpPr>
        <p:spPr>
          <a:xfrm>
            <a:off x="3466490" y="4704588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4251960" y="4681728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2.0</a:t>
            </a:r>
            <a:endParaRPr lang="en-US" sz="750" dirty="0"/>
          </a:p>
        </p:txBody>
      </p:sp>
      <p:sp>
        <p:nvSpPr>
          <p:cNvPr id="76" name="Text 73"/>
          <p:cNvSpPr/>
          <p:nvPr/>
        </p:nvSpPr>
        <p:spPr>
          <a:xfrm>
            <a:off x="2514600" y="4828032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Grip</a:t>
            </a:r>
            <a:endParaRPr lang="en-US" sz="750" dirty="0"/>
          </a:p>
        </p:txBody>
      </p:sp>
      <p:sp>
        <p:nvSpPr>
          <p:cNvPr id="77" name="Shape 74"/>
          <p:cNvSpPr/>
          <p:nvPr/>
        </p:nvSpPr>
        <p:spPr>
          <a:xfrm>
            <a:off x="3108960" y="4869180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78" name="Shape 75"/>
          <p:cNvSpPr/>
          <p:nvPr/>
        </p:nvSpPr>
        <p:spPr>
          <a:xfrm>
            <a:off x="3383280" y="4869180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79" name="Shape 76"/>
          <p:cNvSpPr/>
          <p:nvPr/>
        </p:nvSpPr>
        <p:spPr>
          <a:xfrm>
            <a:off x="3657600" y="4869180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80" name="Shape 77"/>
          <p:cNvSpPr/>
          <p:nvPr/>
        </p:nvSpPr>
        <p:spPr>
          <a:xfrm>
            <a:off x="3931920" y="4869180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81" name="Shape 78"/>
          <p:cNvSpPr/>
          <p:nvPr/>
        </p:nvSpPr>
        <p:spPr>
          <a:xfrm>
            <a:off x="3525012" y="4850892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4251960" y="4828032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55.0 kg</a:t>
            </a:r>
            <a:endParaRPr lang="en-US" sz="750" dirty="0"/>
          </a:p>
        </p:txBody>
      </p:sp>
      <p:sp>
        <p:nvSpPr>
          <p:cNvPr id="83" name="Text 80"/>
          <p:cNvSpPr/>
          <p:nvPr/>
        </p:nvSpPr>
        <p:spPr>
          <a:xfrm>
            <a:off x="4754880" y="22860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💧 누수 인과 분석 (Top 3) — Per 1 km/h</a:t>
            </a:r>
            <a:endParaRPr lang="en-US" sz="1050" dirty="0"/>
          </a:p>
        </p:txBody>
      </p:sp>
      <p:sp>
        <p:nvSpPr>
          <p:cNvPr id="84" name="Shape 81"/>
          <p:cNvSpPr/>
          <p:nvPr/>
        </p:nvSpPr>
        <p:spPr>
          <a:xfrm>
            <a:off x="4754880" y="2542032"/>
            <a:ext cx="365760" cy="685800"/>
          </a:xfrm>
          <a:prstGeom prst="rect">
            <a:avLst/>
          </a:prstGeom>
          <a:solidFill>
            <a:srgbClr val="CF222E"/>
          </a:solidFill>
          <a:ln/>
        </p:spPr>
      </p:sp>
      <p:sp>
        <p:nvSpPr>
          <p:cNvPr id="85" name="Text 82"/>
          <p:cNvSpPr/>
          <p:nvPr/>
        </p:nvSpPr>
        <p:spPr>
          <a:xfrm>
            <a:off x="4754880" y="2706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800" dirty="0"/>
          </a:p>
        </p:txBody>
      </p:sp>
      <p:sp>
        <p:nvSpPr>
          <p:cNvPr id="86" name="Shape 83"/>
          <p:cNvSpPr/>
          <p:nvPr/>
        </p:nvSpPr>
        <p:spPr>
          <a:xfrm>
            <a:off x="5120640" y="254203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5212080" y="258775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Pelvis braking 부족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골반 감속 부족  ·  손실 -1.6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Pelvis brake — 단일하지 RFE 스플릿 스쿼트, 디셀러레이션 드릴</a:t>
            </a:r>
            <a:endParaRPr lang="en-US" sz="1100" dirty="0"/>
          </a:p>
        </p:txBody>
      </p:sp>
      <p:sp>
        <p:nvSpPr>
          <p:cNvPr id="88" name="Shape 85"/>
          <p:cNvSpPr/>
          <p:nvPr/>
        </p:nvSpPr>
        <p:spPr>
          <a:xfrm>
            <a:off x="4754880" y="3319272"/>
            <a:ext cx="365760" cy="685800"/>
          </a:xfrm>
          <a:prstGeom prst="rect">
            <a:avLst/>
          </a:prstGeom>
          <a:solidFill>
            <a:srgbClr val="BF8700"/>
          </a:solidFill>
          <a:ln/>
        </p:spPr>
      </p:sp>
      <p:sp>
        <p:nvSpPr>
          <p:cNvPr id="89" name="Text 86"/>
          <p:cNvSpPr/>
          <p:nvPr/>
        </p:nvSpPr>
        <p:spPr>
          <a:xfrm>
            <a:off x="4754880" y="3483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800" dirty="0"/>
          </a:p>
        </p:txBody>
      </p:sp>
      <p:sp>
        <p:nvSpPr>
          <p:cNvPr id="90" name="Shape 87"/>
          <p:cNvSpPr/>
          <p:nvPr/>
        </p:nvSpPr>
        <p:spPr>
          <a:xfrm>
            <a:off x="5120640" y="331927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5212080" y="336499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분절 가속 순서 결함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골반→몸통→팔 시퀀스 어긋남  ·  손실 -0.7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분절 가속 타이밍 훈련 (medicine ball 회전)</a:t>
            </a:r>
            <a:endParaRPr lang="en-US" sz="1100" dirty="0"/>
          </a:p>
        </p:txBody>
      </p:sp>
      <p:sp>
        <p:nvSpPr>
          <p:cNvPr id="92" name="Shape 89"/>
          <p:cNvSpPr/>
          <p:nvPr/>
        </p:nvSpPr>
        <p:spPr>
          <a:xfrm>
            <a:off x="4754880" y="4096512"/>
            <a:ext cx="36576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3" name="Text 90"/>
          <p:cNvSpPr/>
          <p:nvPr/>
        </p:nvSpPr>
        <p:spPr>
          <a:xfrm>
            <a:off x="4754880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800" dirty="0"/>
          </a:p>
        </p:txBody>
      </p:sp>
      <p:sp>
        <p:nvSpPr>
          <p:cNvPr id="94" name="Shape 91"/>
          <p:cNvSpPr/>
          <p:nvPr/>
        </p:nvSpPr>
        <p:spPr>
          <a:xfrm>
            <a:off x="5120640" y="409651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5212080" y="414223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골반-상체 분리 미달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X-factor 부족  ·  손실 -0.5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X-factor 증대 — hip-shoulder 분리 stretch</a:t>
            </a:r>
            <a:endParaRPr lang="en-US" sz="1100" dirty="0"/>
          </a:p>
        </p:txBody>
      </p:sp>
      <p:sp>
        <p:nvSpPr>
          <p:cNvPr id="96" name="Shape 93"/>
          <p:cNvSpPr/>
          <p:nvPr/>
        </p:nvSpPr>
        <p:spPr>
          <a:xfrm>
            <a:off x="365760" y="4823460"/>
            <a:ext cx="8412480" cy="0"/>
          </a:xfrm>
          <a:prstGeom prst="line">
            <a:avLst/>
          </a:prstGeom>
          <a:noFill/>
          <a:ln w="6350">
            <a:solidFill>
              <a:srgbClr val="D0D7DE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365760" y="48691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상동고 투구 리포트 · 1차 측정 (2026-05-15)</a:t>
            </a:r>
            <a:endParaRPr lang="en-US" sz="800" dirty="0"/>
          </a:p>
        </p:txBody>
      </p:sp>
      <p:sp>
        <p:nvSpPr>
          <p:cNvPr id="98" name="Text 95"/>
          <p:cNvSpPr/>
          <p:nvPr/>
        </p:nvSpPr>
        <p:spPr>
          <a:xfrm>
            <a:off x="365760" y="48691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국민대 BBL · analytics v2.1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P05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1645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선수05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우투 · 168cm · 62kg · 1차 (2026-05-15)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0" y="182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종합 85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0" y="502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" y="960120"/>
            <a:ext cx="45720" cy="868680"/>
          </a:xfrm>
          <a:prstGeom prst="rect">
            <a:avLst/>
          </a:prstGeom>
          <a:solidFill>
            <a:srgbClr val="0969DA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측정 구속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118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125.7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0302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km/h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118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미달 그룹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98882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88820" y="960120"/>
            <a:ext cx="45720" cy="868680"/>
          </a:xfrm>
          <a:prstGeom prst="rect">
            <a:avLst/>
          </a:prstGeom>
          <a:solidFill>
            <a:srgbClr val="BC4C00"/>
          </a:solidFill>
          <a:ln/>
        </p:spPr>
      </p:sp>
      <p:sp>
        <p:nvSpPr>
          <p:cNvPr id="16" name="Text 14"/>
          <p:cNvSpPr/>
          <p:nvPr/>
        </p:nvSpPr>
        <p:spPr>
          <a:xfrm>
            <a:off x="209854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체력 Ceiling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9854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C4C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134.5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04038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km/h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9854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Predicted Velo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72618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26180" y="960120"/>
            <a:ext cx="45720" cy="868680"/>
          </a:xfrm>
          <a:prstGeom prst="rect">
            <a:avLst/>
          </a:prstGeom>
          <a:solidFill>
            <a:srgbClr val="1A7F37"/>
          </a:solidFill>
          <a:ln/>
        </p:spPr>
      </p:sp>
      <p:sp>
        <p:nvSpPr>
          <p:cNvPr id="22" name="Text 20"/>
          <p:cNvSpPr/>
          <p:nvPr/>
        </p:nvSpPr>
        <p:spPr>
          <a:xfrm>
            <a:off x="383590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⚡ 힘 만들기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3590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7F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80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77774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3590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출력 (Output)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46354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63540" y="960120"/>
            <a:ext cx="45720" cy="868680"/>
          </a:xfrm>
          <a:prstGeom prst="rect">
            <a:avLst/>
          </a:prstGeom>
          <a:solidFill>
            <a:srgbClr val="8250DF"/>
          </a:solidFill>
          <a:ln/>
        </p:spPr>
      </p:sp>
      <p:sp>
        <p:nvSpPr>
          <p:cNvPr id="28" name="Text 26"/>
          <p:cNvSpPr/>
          <p:nvPr/>
        </p:nvSpPr>
        <p:spPr>
          <a:xfrm>
            <a:off x="557326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🔗 힘 전달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7326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250D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77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51510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7326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전달 (Transfer)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20090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00900" y="960120"/>
            <a:ext cx="45720" cy="868680"/>
          </a:xfrm>
          <a:prstGeom prst="rect">
            <a:avLst/>
          </a:prstGeom>
          <a:solidFill>
            <a:srgbClr val="CF222E"/>
          </a:solidFill>
          <a:ln/>
        </p:spPr>
      </p:sp>
      <p:sp>
        <p:nvSpPr>
          <p:cNvPr id="34" name="Text 32"/>
          <p:cNvSpPr/>
          <p:nvPr/>
        </p:nvSpPr>
        <p:spPr>
          <a:xfrm>
            <a:off x="731062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💧 힘 보존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1062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72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825246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1062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누수 관리 (역 ELI)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51460" y="1920240"/>
            <a:ext cx="8641080" cy="274320"/>
          </a:xfrm>
          <a:prstGeom prst="rect">
            <a:avLst/>
          </a:prstGeom>
          <a:solidFill>
            <a:srgbClr val="F6F8FA"/>
          </a:solidFill>
          <a:ln w="5080">
            <a:solidFill>
              <a:srgbClr val="D0D7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194767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부상위험: </a:t>
            </a:r>
            <a:pPr indent="0" marL="0">
              <a:buNone/>
            </a:pPr>
            <a:r>
              <a:rPr lang="en-US" sz="1000" dirty="0">
                <a:solidFill>
                  <a:srgbClr val="1A7F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낮음  |  </a:t>
            </a:r>
            <a:pPr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메카닉 효율 (AE): </a:t>
            </a:r>
            <a:pPr indent="0" marL="0">
              <a:buNone/>
            </a:pPr>
            <a:r>
              <a:rPr lang="en-US" sz="100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⚠ 메카닉 발달 여지  (-8.8 km/h)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22860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관절 분절 시퀀스 (피크 회전속도)</a:t>
            </a:r>
            <a:endParaRPr lang="en-US" sz="1050" dirty="0"/>
          </a:p>
        </p:txBody>
      </p:sp>
      <p:graphicFrame>
        <p:nvGraphicFramePr>
          <p:cNvPr id="41" name="Chart 0" descr=""/>
          <p:cNvGraphicFramePr/>
          <p:nvPr/>
        </p:nvGraphicFramePr>
        <p:xfrm>
          <a:off x="365760" y="2542032"/>
          <a:ext cx="420624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2" name="Shape 39"/>
          <p:cNvSpPr/>
          <p:nvPr/>
        </p:nvSpPr>
        <p:spPr>
          <a:xfrm>
            <a:off x="365760" y="4023360"/>
            <a:ext cx="4206240" cy="1005840"/>
          </a:xfrm>
          <a:prstGeom prst="rect">
            <a:avLst/>
          </a:prstGeom>
          <a:solidFill>
            <a:srgbClr val="FAFBFC"/>
          </a:solidFill>
          <a:ln w="19050">
            <a:solidFill>
              <a:srgbClr val="CF222E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57200" y="4069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📊 자동 진단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457200" y="42611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메카닉 비효율로 체력 잠재력 미발현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57200" y="46268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💡 8.8 km/h 만큼 메카닉 교정 잠재력. ELI 인과 chain Top 3 즉시 적용.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2423160" y="4114800"/>
            <a:ext cx="0" cy="868680"/>
          </a:xfrm>
          <a:prstGeom prst="line">
            <a:avLst/>
          </a:prstGeom>
          <a:noFill/>
          <a:ln w="6350">
            <a:solidFill>
              <a:srgbClr val="D0D7DE"/>
            </a:solidFill>
            <a:prstDash val="dash"/>
          </a:ln>
        </p:spPr>
      </p:sp>
      <p:sp>
        <p:nvSpPr>
          <p:cNvPr id="47" name="Text 44"/>
          <p:cNvSpPr/>
          <p:nvPr/>
        </p:nvSpPr>
        <p:spPr>
          <a:xfrm>
            <a:off x="2514600" y="40690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C4C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💪 체력 5 변수 (본인 ▼ vs Velo Group)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2514600" y="4242816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CMJ JH</a:t>
            </a:r>
            <a:endParaRPr lang="en-US" sz="750" dirty="0"/>
          </a:p>
        </p:txBody>
      </p:sp>
      <p:sp>
        <p:nvSpPr>
          <p:cNvPr id="49" name="Shape 46"/>
          <p:cNvSpPr/>
          <p:nvPr/>
        </p:nvSpPr>
        <p:spPr>
          <a:xfrm>
            <a:off x="3108960" y="4283964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3383280" y="4283964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3657600" y="4283964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3931920" y="4283964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3884920" y="4265676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251960" y="4242816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43.2 cm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2514600" y="4389120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CMJ PP</a:t>
            </a:r>
            <a:endParaRPr lang="en-US" sz="750" dirty="0"/>
          </a:p>
        </p:txBody>
      </p:sp>
      <p:sp>
        <p:nvSpPr>
          <p:cNvPr id="56" name="Shape 53"/>
          <p:cNvSpPr/>
          <p:nvPr/>
        </p:nvSpPr>
        <p:spPr>
          <a:xfrm>
            <a:off x="3108960" y="4430268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3383280" y="4430268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3657600" y="4430268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3931920" y="4430268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4183380" y="4411980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4251960" y="4389120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41.8 W/kg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2514600" y="4535424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IMTP</a:t>
            </a:r>
            <a:endParaRPr 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3108960" y="4576572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3383280" y="4576572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3657600" y="4576572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3931920" y="4576572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67" name="Shape 64"/>
          <p:cNvSpPr/>
          <p:nvPr/>
        </p:nvSpPr>
        <p:spPr>
          <a:xfrm>
            <a:off x="3750923" y="4558284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4251960" y="4535424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28.3 N/kg</a:t>
            </a:r>
            <a:endParaRPr lang="en-US" sz="750" dirty="0"/>
          </a:p>
        </p:txBody>
      </p:sp>
      <p:sp>
        <p:nvSpPr>
          <p:cNvPr id="69" name="Text 66"/>
          <p:cNvSpPr/>
          <p:nvPr/>
        </p:nvSpPr>
        <p:spPr>
          <a:xfrm>
            <a:off x="2514600" y="4681728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Hop RSI</a:t>
            </a:r>
            <a:endParaRPr lang="en-US" sz="750" dirty="0"/>
          </a:p>
        </p:txBody>
      </p:sp>
      <p:sp>
        <p:nvSpPr>
          <p:cNvPr id="70" name="Shape 67"/>
          <p:cNvSpPr/>
          <p:nvPr/>
        </p:nvSpPr>
        <p:spPr>
          <a:xfrm>
            <a:off x="3108960" y="4722876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71" name="Shape 68"/>
          <p:cNvSpPr/>
          <p:nvPr/>
        </p:nvSpPr>
        <p:spPr>
          <a:xfrm>
            <a:off x="3383280" y="4722876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72" name="Shape 69"/>
          <p:cNvSpPr/>
          <p:nvPr/>
        </p:nvSpPr>
        <p:spPr>
          <a:xfrm>
            <a:off x="3657600" y="4722876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73" name="Shape 70"/>
          <p:cNvSpPr/>
          <p:nvPr/>
        </p:nvSpPr>
        <p:spPr>
          <a:xfrm>
            <a:off x="3931920" y="4722876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74" name="Shape 71"/>
          <p:cNvSpPr/>
          <p:nvPr/>
        </p:nvSpPr>
        <p:spPr>
          <a:xfrm>
            <a:off x="3473806" y="4704588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4251960" y="4681728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2.0</a:t>
            </a:r>
            <a:endParaRPr lang="en-US" sz="750" dirty="0"/>
          </a:p>
        </p:txBody>
      </p:sp>
      <p:sp>
        <p:nvSpPr>
          <p:cNvPr id="76" name="Text 73"/>
          <p:cNvSpPr/>
          <p:nvPr/>
        </p:nvSpPr>
        <p:spPr>
          <a:xfrm>
            <a:off x="2514600" y="4828032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Grip</a:t>
            </a:r>
            <a:endParaRPr lang="en-US" sz="750" dirty="0"/>
          </a:p>
        </p:txBody>
      </p:sp>
      <p:sp>
        <p:nvSpPr>
          <p:cNvPr id="77" name="Shape 74"/>
          <p:cNvSpPr/>
          <p:nvPr/>
        </p:nvSpPr>
        <p:spPr>
          <a:xfrm>
            <a:off x="3108960" y="4869180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78" name="Shape 75"/>
          <p:cNvSpPr/>
          <p:nvPr/>
        </p:nvSpPr>
        <p:spPr>
          <a:xfrm>
            <a:off x="3383280" y="4869180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79" name="Shape 76"/>
          <p:cNvSpPr/>
          <p:nvPr/>
        </p:nvSpPr>
        <p:spPr>
          <a:xfrm>
            <a:off x="3657600" y="4869180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80" name="Shape 77"/>
          <p:cNvSpPr/>
          <p:nvPr/>
        </p:nvSpPr>
        <p:spPr>
          <a:xfrm>
            <a:off x="3931920" y="4869180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81" name="Shape 78"/>
          <p:cNvSpPr/>
          <p:nvPr/>
        </p:nvSpPr>
        <p:spPr>
          <a:xfrm>
            <a:off x="3525012" y="4850892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4251960" y="4828032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55.0 kg</a:t>
            </a:r>
            <a:endParaRPr lang="en-US" sz="750" dirty="0"/>
          </a:p>
        </p:txBody>
      </p:sp>
      <p:sp>
        <p:nvSpPr>
          <p:cNvPr id="83" name="Text 80"/>
          <p:cNvSpPr/>
          <p:nvPr/>
        </p:nvSpPr>
        <p:spPr>
          <a:xfrm>
            <a:off x="4754880" y="22860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💧 누수 인과 분석 (Top 3) — Per 1 km/h</a:t>
            </a:r>
            <a:endParaRPr lang="en-US" sz="1050" dirty="0"/>
          </a:p>
        </p:txBody>
      </p:sp>
      <p:sp>
        <p:nvSpPr>
          <p:cNvPr id="84" name="Shape 81"/>
          <p:cNvSpPr/>
          <p:nvPr/>
        </p:nvSpPr>
        <p:spPr>
          <a:xfrm>
            <a:off x="4754880" y="2542032"/>
            <a:ext cx="365760" cy="685800"/>
          </a:xfrm>
          <a:prstGeom prst="rect">
            <a:avLst/>
          </a:prstGeom>
          <a:solidFill>
            <a:srgbClr val="CF222E"/>
          </a:solidFill>
          <a:ln/>
        </p:spPr>
      </p:sp>
      <p:sp>
        <p:nvSpPr>
          <p:cNvPr id="85" name="Text 82"/>
          <p:cNvSpPr/>
          <p:nvPr/>
        </p:nvSpPr>
        <p:spPr>
          <a:xfrm>
            <a:off x="4754880" y="2706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800" dirty="0"/>
          </a:p>
        </p:txBody>
      </p:sp>
      <p:sp>
        <p:nvSpPr>
          <p:cNvPr id="86" name="Shape 83"/>
          <p:cNvSpPr/>
          <p:nvPr/>
        </p:nvSpPr>
        <p:spPr>
          <a:xfrm>
            <a:off x="5120640" y="254203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5212080" y="258775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Pelvis braking 부족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골반 감속 부족  ·  손실 -1.4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Pelvis brake — 단일하지 RFE 스플릿 스쿼트, 디셀러레이션 드릴</a:t>
            </a:r>
            <a:endParaRPr lang="en-US" sz="1100" dirty="0"/>
          </a:p>
        </p:txBody>
      </p:sp>
      <p:sp>
        <p:nvSpPr>
          <p:cNvPr id="88" name="Shape 85"/>
          <p:cNvSpPr/>
          <p:nvPr/>
        </p:nvSpPr>
        <p:spPr>
          <a:xfrm>
            <a:off x="4754880" y="3319272"/>
            <a:ext cx="365760" cy="685800"/>
          </a:xfrm>
          <a:prstGeom prst="rect">
            <a:avLst/>
          </a:prstGeom>
          <a:solidFill>
            <a:srgbClr val="BF8700"/>
          </a:solidFill>
          <a:ln/>
        </p:spPr>
      </p:sp>
      <p:sp>
        <p:nvSpPr>
          <p:cNvPr id="89" name="Text 86"/>
          <p:cNvSpPr/>
          <p:nvPr/>
        </p:nvSpPr>
        <p:spPr>
          <a:xfrm>
            <a:off x="4754880" y="3483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800" dirty="0"/>
          </a:p>
        </p:txBody>
      </p:sp>
      <p:sp>
        <p:nvSpPr>
          <p:cNvPr id="90" name="Shape 87"/>
          <p:cNvSpPr/>
          <p:nvPr/>
        </p:nvSpPr>
        <p:spPr>
          <a:xfrm>
            <a:off x="5120640" y="331927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5212080" y="336499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골반-상체 분리 미달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X-factor 부족  ·  손실 -0.9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X-factor 증대 — hip-shoulder 분리 stretch</a:t>
            </a:r>
            <a:endParaRPr lang="en-US" sz="1100" dirty="0"/>
          </a:p>
        </p:txBody>
      </p:sp>
      <p:sp>
        <p:nvSpPr>
          <p:cNvPr id="92" name="Shape 89"/>
          <p:cNvSpPr/>
          <p:nvPr/>
        </p:nvSpPr>
        <p:spPr>
          <a:xfrm>
            <a:off x="4754880" y="4096512"/>
            <a:ext cx="36576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3" name="Text 90"/>
          <p:cNvSpPr/>
          <p:nvPr/>
        </p:nvSpPr>
        <p:spPr>
          <a:xfrm>
            <a:off x="4754880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800" dirty="0"/>
          </a:p>
        </p:txBody>
      </p:sp>
      <p:sp>
        <p:nvSpPr>
          <p:cNvPr id="94" name="Shape 91"/>
          <p:cNvSpPr/>
          <p:nvPr/>
        </p:nvSpPr>
        <p:spPr>
          <a:xfrm>
            <a:off x="5120640" y="409651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5212080" y="414223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FC 시 트렁크 기울기 부적절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앞발 착지 시 몸통 자세 불량  ·  손실 -0.3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Trunk control — anti-rotation core (palloff press)</a:t>
            </a:r>
            <a:endParaRPr lang="en-US" sz="1100" dirty="0"/>
          </a:p>
        </p:txBody>
      </p:sp>
      <p:sp>
        <p:nvSpPr>
          <p:cNvPr id="96" name="Shape 93"/>
          <p:cNvSpPr/>
          <p:nvPr/>
        </p:nvSpPr>
        <p:spPr>
          <a:xfrm>
            <a:off x="365760" y="4823460"/>
            <a:ext cx="8412480" cy="0"/>
          </a:xfrm>
          <a:prstGeom prst="line">
            <a:avLst/>
          </a:prstGeom>
          <a:noFill/>
          <a:ln w="6350">
            <a:solidFill>
              <a:srgbClr val="D0D7DE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365760" y="48691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상동고 투구 리포트 · 1차 측정 (2026-05-15)</a:t>
            </a:r>
            <a:endParaRPr lang="en-US" sz="800" dirty="0"/>
          </a:p>
        </p:txBody>
      </p:sp>
      <p:sp>
        <p:nvSpPr>
          <p:cNvPr id="98" name="Text 95"/>
          <p:cNvSpPr/>
          <p:nvPr/>
        </p:nvSpPr>
        <p:spPr>
          <a:xfrm>
            <a:off x="365760" y="48691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국민대 BBL · analytics v2.1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P06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1645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선수06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좌투 · 178cm · 73kg · 1차 (2026-05-15)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0" y="182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종합 57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0" y="502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" y="960120"/>
            <a:ext cx="45720" cy="868680"/>
          </a:xfrm>
          <a:prstGeom prst="rect">
            <a:avLst/>
          </a:prstGeom>
          <a:solidFill>
            <a:srgbClr val="0969DA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측정 구속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118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131.8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0302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km/h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118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평균 그룹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98882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88820" y="960120"/>
            <a:ext cx="45720" cy="868680"/>
          </a:xfrm>
          <a:prstGeom prst="rect">
            <a:avLst/>
          </a:prstGeom>
          <a:solidFill>
            <a:srgbClr val="BC4C00"/>
          </a:solidFill>
          <a:ln/>
        </p:spPr>
      </p:sp>
      <p:sp>
        <p:nvSpPr>
          <p:cNvPr id="16" name="Text 14"/>
          <p:cNvSpPr/>
          <p:nvPr/>
        </p:nvSpPr>
        <p:spPr>
          <a:xfrm>
            <a:off x="209854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체력 Ceiling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9854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C4C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140.2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04038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km/h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9854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Predicted Velo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72618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26180" y="960120"/>
            <a:ext cx="45720" cy="868680"/>
          </a:xfrm>
          <a:prstGeom prst="rect">
            <a:avLst/>
          </a:prstGeom>
          <a:solidFill>
            <a:srgbClr val="1A7F37"/>
          </a:solidFill>
          <a:ln/>
        </p:spPr>
      </p:sp>
      <p:sp>
        <p:nvSpPr>
          <p:cNvPr id="22" name="Text 20"/>
          <p:cNvSpPr/>
          <p:nvPr/>
        </p:nvSpPr>
        <p:spPr>
          <a:xfrm>
            <a:off x="383590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⚡ 힘 만들기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3590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7F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51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77774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3590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출력 (Output)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46354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63540" y="960120"/>
            <a:ext cx="45720" cy="868680"/>
          </a:xfrm>
          <a:prstGeom prst="rect">
            <a:avLst/>
          </a:prstGeom>
          <a:solidFill>
            <a:srgbClr val="8250DF"/>
          </a:solidFill>
          <a:ln/>
        </p:spPr>
      </p:sp>
      <p:sp>
        <p:nvSpPr>
          <p:cNvPr id="28" name="Text 26"/>
          <p:cNvSpPr/>
          <p:nvPr/>
        </p:nvSpPr>
        <p:spPr>
          <a:xfrm>
            <a:off x="557326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🔗 힘 전달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7326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250D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56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51510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7326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전달 (Transfer)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20090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00900" y="960120"/>
            <a:ext cx="45720" cy="868680"/>
          </a:xfrm>
          <a:prstGeom prst="rect">
            <a:avLst/>
          </a:prstGeom>
          <a:solidFill>
            <a:srgbClr val="CF222E"/>
          </a:solidFill>
          <a:ln/>
        </p:spPr>
      </p:sp>
      <p:sp>
        <p:nvSpPr>
          <p:cNvPr id="34" name="Text 32"/>
          <p:cNvSpPr/>
          <p:nvPr/>
        </p:nvSpPr>
        <p:spPr>
          <a:xfrm>
            <a:off x="731062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💧 힘 보존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1062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74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825246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1062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누수 관리 (역 ELI)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51460" y="1920240"/>
            <a:ext cx="8641080" cy="274320"/>
          </a:xfrm>
          <a:prstGeom prst="rect">
            <a:avLst/>
          </a:prstGeom>
          <a:solidFill>
            <a:srgbClr val="F6F8FA"/>
          </a:solidFill>
          <a:ln w="5080">
            <a:solidFill>
              <a:srgbClr val="D0D7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194767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부상위험: </a:t>
            </a:r>
            <a:pPr indent="0" marL="0">
              <a:buNone/>
            </a:pPr>
            <a:r>
              <a:rPr lang="en-US" sz="1000" dirty="0">
                <a:solidFill>
                  <a:srgbClr val="1A7F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낮음  |  </a:t>
            </a:r>
            <a:pPr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메카닉 효율 (AE): </a:t>
            </a:r>
            <a:pPr indent="0" marL="0">
              <a:buNone/>
            </a:pPr>
            <a:r>
              <a:rPr lang="en-US" sz="100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⚠ 메카닉 발달 여지  (-8.4 km/h)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22860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관절 분절 시퀀스 (피크 회전속도)</a:t>
            </a:r>
            <a:endParaRPr lang="en-US" sz="1050" dirty="0"/>
          </a:p>
        </p:txBody>
      </p:sp>
      <p:graphicFrame>
        <p:nvGraphicFramePr>
          <p:cNvPr id="41" name="Chart 0" descr=""/>
          <p:cNvGraphicFramePr/>
          <p:nvPr/>
        </p:nvGraphicFramePr>
        <p:xfrm>
          <a:off x="365760" y="2542032"/>
          <a:ext cx="420624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2" name="Shape 39"/>
          <p:cNvSpPr/>
          <p:nvPr/>
        </p:nvSpPr>
        <p:spPr>
          <a:xfrm>
            <a:off x="365760" y="4023360"/>
            <a:ext cx="4206240" cy="1005840"/>
          </a:xfrm>
          <a:prstGeom prst="rect">
            <a:avLst/>
          </a:prstGeom>
          <a:solidFill>
            <a:srgbClr val="FAFBFC"/>
          </a:solidFill>
          <a:ln w="19050">
            <a:solidFill>
              <a:srgbClr val="CF222E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57200" y="4069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📊 자동 진단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457200" y="42611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메카닉 비효율로 체력 잠재력 미발현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57200" y="46268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💡 8.4 km/h 만큼 메카닉 교정 잠재력. ELI 인과 chain Top 3 즉시 적용.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2423160" y="4114800"/>
            <a:ext cx="0" cy="868680"/>
          </a:xfrm>
          <a:prstGeom prst="line">
            <a:avLst/>
          </a:prstGeom>
          <a:noFill/>
          <a:ln w="6350">
            <a:solidFill>
              <a:srgbClr val="D0D7DE"/>
            </a:solidFill>
            <a:prstDash val="dash"/>
          </a:ln>
        </p:spPr>
      </p:sp>
      <p:sp>
        <p:nvSpPr>
          <p:cNvPr id="47" name="Text 44"/>
          <p:cNvSpPr/>
          <p:nvPr/>
        </p:nvSpPr>
        <p:spPr>
          <a:xfrm>
            <a:off x="2514600" y="40690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C4C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💪 체력 5 변수 (본인 ▼ vs Velo Group)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2514600" y="4242816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CMJ JH</a:t>
            </a:r>
            <a:endParaRPr lang="en-US" sz="750" dirty="0"/>
          </a:p>
        </p:txBody>
      </p:sp>
      <p:sp>
        <p:nvSpPr>
          <p:cNvPr id="49" name="Shape 46"/>
          <p:cNvSpPr/>
          <p:nvPr/>
        </p:nvSpPr>
        <p:spPr>
          <a:xfrm>
            <a:off x="3108960" y="4283964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3383280" y="4283964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3657600" y="4283964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3931920" y="4283964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4082430" y="4265676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251960" y="4242816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47.7 cm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2514600" y="4389120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CMJ PP</a:t>
            </a:r>
            <a:endParaRPr lang="en-US" sz="750" dirty="0"/>
          </a:p>
        </p:txBody>
      </p:sp>
      <p:sp>
        <p:nvSpPr>
          <p:cNvPr id="56" name="Shape 53"/>
          <p:cNvSpPr/>
          <p:nvPr/>
        </p:nvSpPr>
        <p:spPr>
          <a:xfrm>
            <a:off x="3108960" y="4430268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3383280" y="4430268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3657600" y="4430268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3931920" y="4430268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4183380" y="4411980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4251960" y="4389120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45.9 W/kg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2514600" y="4535424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IMTP</a:t>
            </a:r>
            <a:endParaRPr 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3108960" y="4576572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3383280" y="4576572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3657600" y="4576572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3931920" y="4576572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67" name="Shape 64"/>
          <p:cNvSpPr/>
          <p:nvPr/>
        </p:nvSpPr>
        <p:spPr>
          <a:xfrm>
            <a:off x="3912287" y="4558284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4251960" y="4535424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30.8 N/kg</a:t>
            </a:r>
            <a:endParaRPr lang="en-US" sz="750" dirty="0"/>
          </a:p>
        </p:txBody>
      </p:sp>
      <p:sp>
        <p:nvSpPr>
          <p:cNvPr id="69" name="Text 66"/>
          <p:cNvSpPr/>
          <p:nvPr/>
        </p:nvSpPr>
        <p:spPr>
          <a:xfrm>
            <a:off x="2514600" y="4681728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Hop RSI</a:t>
            </a:r>
            <a:endParaRPr lang="en-US" sz="750" dirty="0"/>
          </a:p>
        </p:txBody>
      </p:sp>
      <p:sp>
        <p:nvSpPr>
          <p:cNvPr id="70" name="Shape 67"/>
          <p:cNvSpPr/>
          <p:nvPr/>
        </p:nvSpPr>
        <p:spPr>
          <a:xfrm>
            <a:off x="3108960" y="4722876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71" name="Shape 68"/>
          <p:cNvSpPr/>
          <p:nvPr/>
        </p:nvSpPr>
        <p:spPr>
          <a:xfrm>
            <a:off x="3383280" y="4722876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72" name="Shape 69"/>
          <p:cNvSpPr/>
          <p:nvPr/>
        </p:nvSpPr>
        <p:spPr>
          <a:xfrm>
            <a:off x="3657600" y="4722876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73" name="Shape 70"/>
          <p:cNvSpPr/>
          <p:nvPr/>
        </p:nvSpPr>
        <p:spPr>
          <a:xfrm>
            <a:off x="3931920" y="4722876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74" name="Shape 71"/>
          <p:cNvSpPr/>
          <p:nvPr/>
        </p:nvSpPr>
        <p:spPr>
          <a:xfrm>
            <a:off x="3656686" y="4704588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4251960" y="4681728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2.3</a:t>
            </a:r>
            <a:endParaRPr lang="en-US" sz="750" dirty="0"/>
          </a:p>
        </p:txBody>
      </p:sp>
      <p:sp>
        <p:nvSpPr>
          <p:cNvPr id="76" name="Text 73"/>
          <p:cNvSpPr/>
          <p:nvPr/>
        </p:nvSpPr>
        <p:spPr>
          <a:xfrm>
            <a:off x="2514600" y="4828032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Grip</a:t>
            </a:r>
            <a:endParaRPr lang="en-US" sz="750" dirty="0"/>
          </a:p>
        </p:txBody>
      </p:sp>
      <p:sp>
        <p:nvSpPr>
          <p:cNvPr id="77" name="Shape 74"/>
          <p:cNvSpPr/>
          <p:nvPr/>
        </p:nvSpPr>
        <p:spPr>
          <a:xfrm>
            <a:off x="3108960" y="4869180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78" name="Shape 75"/>
          <p:cNvSpPr/>
          <p:nvPr/>
        </p:nvSpPr>
        <p:spPr>
          <a:xfrm>
            <a:off x="3383280" y="4869180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79" name="Shape 76"/>
          <p:cNvSpPr/>
          <p:nvPr/>
        </p:nvSpPr>
        <p:spPr>
          <a:xfrm>
            <a:off x="3657600" y="4869180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80" name="Shape 77"/>
          <p:cNvSpPr/>
          <p:nvPr/>
        </p:nvSpPr>
        <p:spPr>
          <a:xfrm>
            <a:off x="3931920" y="4869180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81" name="Shape 78"/>
          <p:cNvSpPr/>
          <p:nvPr/>
        </p:nvSpPr>
        <p:spPr>
          <a:xfrm>
            <a:off x="3525012" y="4850892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4251960" y="4828032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55.0 kg</a:t>
            </a:r>
            <a:endParaRPr lang="en-US" sz="750" dirty="0"/>
          </a:p>
        </p:txBody>
      </p:sp>
      <p:sp>
        <p:nvSpPr>
          <p:cNvPr id="83" name="Text 80"/>
          <p:cNvSpPr/>
          <p:nvPr/>
        </p:nvSpPr>
        <p:spPr>
          <a:xfrm>
            <a:off x="4754880" y="22860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💧 누수 인과 분석 (Top 3) — Per 1 km/h</a:t>
            </a:r>
            <a:endParaRPr lang="en-US" sz="1050" dirty="0"/>
          </a:p>
        </p:txBody>
      </p:sp>
      <p:sp>
        <p:nvSpPr>
          <p:cNvPr id="84" name="Shape 81"/>
          <p:cNvSpPr/>
          <p:nvPr/>
        </p:nvSpPr>
        <p:spPr>
          <a:xfrm>
            <a:off x="4754880" y="2542032"/>
            <a:ext cx="365760" cy="685800"/>
          </a:xfrm>
          <a:prstGeom prst="rect">
            <a:avLst/>
          </a:prstGeom>
          <a:solidFill>
            <a:srgbClr val="CF222E"/>
          </a:solidFill>
          <a:ln/>
        </p:spPr>
      </p:sp>
      <p:sp>
        <p:nvSpPr>
          <p:cNvPr id="85" name="Text 82"/>
          <p:cNvSpPr/>
          <p:nvPr/>
        </p:nvSpPr>
        <p:spPr>
          <a:xfrm>
            <a:off x="4754880" y="2706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800" dirty="0"/>
          </a:p>
        </p:txBody>
      </p:sp>
      <p:sp>
        <p:nvSpPr>
          <p:cNvPr id="86" name="Shape 83"/>
          <p:cNvSpPr/>
          <p:nvPr/>
        </p:nvSpPr>
        <p:spPr>
          <a:xfrm>
            <a:off x="5120640" y="254203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5212080" y="258775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Pelvis braking 부족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골반 감속 부족  ·  손실 -1.3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Pelvis brake — 단일하지 RFE 스플릿 스쿼트, 디셀러레이션 드릴</a:t>
            </a:r>
            <a:endParaRPr lang="en-US" sz="1100" dirty="0"/>
          </a:p>
        </p:txBody>
      </p:sp>
      <p:sp>
        <p:nvSpPr>
          <p:cNvPr id="88" name="Shape 85"/>
          <p:cNvSpPr/>
          <p:nvPr/>
        </p:nvSpPr>
        <p:spPr>
          <a:xfrm>
            <a:off x="4754880" y="3319272"/>
            <a:ext cx="365760" cy="685800"/>
          </a:xfrm>
          <a:prstGeom prst="rect">
            <a:avLst/>
          </a:prstGeom>
          <a:solidFill>
            <a:srgbClr val="BF8700"/>
          </a:solidFill>
          <a:ln/>
        </p:spPr>
      </p:sp>
      <p:sp>
        <p:nvSpPr>
          <p:cNvPr id="89" name="Text 86"/>
          <p:cNvSpPr/>
          <p:nvPr/>
        </p:nvSpPr>
        <p:spPr>
          <a:xfrm>
            <a:off x="4754880" y="3483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800" dirty="0"/>
          </a:p>
        </p:txBody>
      </p:sp>
      <p:sp>
        <p:nvSpPr>
          <p:cNvPr id="90" name="Shape 87"/>
          <p:cNvSpPr/>
          <p:nvPr/>
        </p:nvSpPr>
        <p:spPr>
          <a:xfrm>
            <a:off x="5120640" y="331927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5212080" y="336499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분절 가속 순서 결함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골반→몸통→팔 시퀀스 어긋남  ·  손실 -1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분절 가속 타이밍 훈련 (medicine ball 회전)</a:t>
            </a:r>
            <a:endParaRPr lang="en-US" sz="1100" dirty="0"/>
          </a:p>
        </p:txBody>
      </p:sp>
      <p:sp>
        <p:nvSpPr>
          <p:cNvPr id="92" name="Shape 89"/>
          <p:cNvSpPr/>
          <p:nvPr/>
        </p:nvSpPr>
        <p:spPr>
          <a:xfrm>
            <a:off x="4754880" y="4096512"/>
            <a:ext cx="36576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3" name="Text 90"/>
          <p:cNvSpPr/>
          <p:nvPr/>
        </p:nvSpPr>
        <p:spPr>
          <a:xfrm>
            <a:off x="4754880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800" dirty="0"/>
          </a:p>
        </p:txBody>
      </p:sp>
      <p:sp>
        <p:nvSpPr>
          <p:cNvPr id="94" name="Shape 91"/>
          <p:cNvSpPr/>
          <p:nvPr/>
        </p:nvSpPr>
        <p:spPr>
          <a:xfrm>
            <a:off x="5120640" y="409651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5212080" y="414223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FC 시 트렁크 기울기 부적절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앞발 착지 시 몸통 자세 불량  ·  손실 -0.2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Trunk control — anti-rotation core (palloff press)</a:t>
            </a:r>
            <a:endParaRPr lang="en-US" sz="1100" dirty="0"/>
          </a:p>
        </p:txBody>
      </p:sp>
      <p:sp>
        <p:nvSpPr>
          <p:cNvPr id="96" name="Shape 93"/>
          <p:cNvSpPr/>
          <p:nvPr/>
        </p:nvSpPr>
        <p:spPr>
          <a:xfrm>
            <a:off x="365760" y="4823460"/>
            <a:ext cx="8412480" cy="0"/>
          </a:xfrm>
          <a:prstGeom prst="line">
            <a:avLst/>
          </a:prstGeom>
          <a:noFill/>
          <a:ln w="6350">
            <a:solidFill>
              <a:srgbClr val="D0D7DE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365760" y="48691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상동고 투구 리포트 · 1차 측정 (2026-05-15)</a:t>
            </a:r>
            <a:endParaRPr lang="en-US" sz="800" dirty="0"/>
          </a:p>
        </p:txBody>
      </p:sp>
      <p:sp>
        <p:nvSpPr>
          <p:cNvPr id="98" name="Text 95"/>
          <p:cNvSpPr/>
          <p:nvPr/>
        </p:nvSpPr>
        <p:spPr>
          <a:xfrm>
            <a:off x="365760" y="48691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국민대 BBL · analytics v2.1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P07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1645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선수07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우투 · 173cm · 67kg · 1차 (2026-05-15)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0" y="182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종합 64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0" y="502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" y="960120"/>
            <a:ext cx="45720" cy="868680"/>
          </a:xfrm>
          <a:prstGeom prst="rect">
            <a:avLst/>
          </a:prstGeom>
          <a:solidFill>
            <a:srgbClr val="0969DA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측정 구속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118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137.9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0302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km/h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118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우수 그룹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98882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88820" y="960120"/>
            <a:ext cx="45720" cy="868680"/>
          </a:xfrm>
          <a:prstGeom prst="rect">
            <a:avLst/>
          </a:prstGeom>
          <a:solidFill>
            <a:srgbClr val="BC4C00"/>
          </a:solidFill>
          <a:ln/>
        </p:spPr>
      </p:sp>
      <p:sp>
        <p:nvSpPr>
          <p:cNvPr id="16" name="Text 14"/>
          <p:cNvSpPr/>
          <p:nvPr/>
        </p:nvSpPr>
        <p:spPr>
          <a:xfrm>
            <a:off x="209854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체력 Ceiling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9854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C4C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135.0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04038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km/h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9854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Predicted Velo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72618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26180" y="960120"/>
            <a:ext cx="45720" cy="868680"/>
          </a:xfrm>
          <a:prstGeom prst="rect">
            <a:avLst/>
          </a:prstGeom>
          <a:solidFill>
            <a:srgbClr val="1A7F37"/>
          </a:solidFill>
          <a:ln/>
        </p:spPr>
      </p:sp>
      <p:sp>
        <p:nvSpPr>
          <p:cNvPr id="22" name="Text 20"/>
          <p:cNvSpPr/>
          <p:nvPr/>
        </p:nvSpPr>
        <p:spPr>
          <a:xfrm>
            <a:off x="383590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⚡ 힘 만들기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3590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7F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77774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3590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출력 (Output)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46354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63540" y="960120"/>
            <a:ext cx="45720" cy="868680"/>
          </a:xfrm>
          <a:prstGeom prst="rect">
            <a:avLst/>
          </a:prstGeom>
          <a:solidFill>
            <a:srgbClr val="8250DF"/>
          </a:solidFill>
          <a:ln/>
        </p:spPr>
      </p:sp>
      <p:sp>
        <p:nvSpPr>
          <p:cNvPr id="28" name="Text 26"/>
          <p:cNvSpPr/>
          <p:nvPr/>
        </p:nvSpPr>
        <p:spPr>
          <a:xfrm>
            <a:off x="557326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🔗 힘 전달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7326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250D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51510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7326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전달 (Transfer)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20090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00900" y="960120"/>
            <a:ext cx="45720" cy="868680"/>
          </a:xfrm>
          <a:prstGeom prst="rect">
            <a:avLst/>
          </a:prstGeom>
          <a:solidFill>
            <a:srgbClr val="CF222E"/>
          </a:solidFill>
          <a:ln/>
        </p:spPr>
      </p:sp>
      <p:sp>
        <p:nvSpPr>
          <p:cNvPr id="34" name="Text 32"/>
          <p:cNvSpPr/>
          <p:nvPr/>
        </p:nvSpPr>
        <p:spPr>
          <a:xfrm>
            <a:off x="731062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💧 힘 보존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1062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63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825246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1062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누수 관리 (역 ELI)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51460" y="1920240"/>
            <a:ext cx="8641080" cy="274320"/>
          </a:xfrm>
          <a:prstGeom prst="rect">
            <a:avLst/>
          </a:prstGeom>
          <a:solidFill>
            <a:srgbClr val="F6F8FA"/>
          </a:solidFill>
          <a:ln w="5080">
            <a:solidFill>
              <a:srgbClr val="D0D7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194767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부상위험: </a:t>
            </a:r>
            <a:pPr indent="0" marL="0">
              <a:buNone/>
            </a:pPr>
            <a:r>
              <a:rPr lang="en-US" sz="1000" dirty="0">
                <a:solidFill>
                  <a:srgbClr val="1A7F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낮음  |  </a:t>
            </a:r>
            <a:pPr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메카닉 효율 (AE): </a:t>
            </a:r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● 적정  (+2.9 km/h)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22860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관절 분절 시퀀스 (피크 회전속도)</a:t>
            </a:r>
            <a:endParaRPr lang="en-US" sz="1050" dirty="0"/>
          </a:p>
        </p:txBody>
      </p:sp>
      <p:graphicFrame>
        <p:nvGraphicFramePr>
          <p:cNvPr id="41" name="Chart 0" descr=""/>
          <p:cNvGraphicFramePr/>
          <p:nvPr/>
        </p:nvGraphicFramePr>
        <p:xfrm>
          <a:off x="365760" y="2542032"/>
          <a:ext cx="420624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2" name="Shape 39"/>
          <p:cNvSpPr/>
          <p:nvPr/>
        </p:nvSpPr>
        <p:spPr>
          <a:xfrm>
            <a:off x="365760" y="4023360"/>
            <a:ext cx="4206240" cy="1005840"/>
          </a:xfrm>
          <a:prstGeom prst="rect">
            <a:avLst/>
          </a:prstGeom>
          <a:solidFill>
            <a:srgbClr val="FAFBFC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57200" y="4069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📊 자동 진단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457200" y="42611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균형 — 체력·메카닉 동시 발달 권장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57200" y="46268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💡 두 영역 병행 훈련.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2423160" y="4114800"/>
            <a:ext cx="0" cy="868680"/>
          </a:xfrm>
          <a:prstGeom prst="line">
            <a:avLst/>
          </a:prstGeom>
          <a:noFill/>
          <a:ln w="6350">
            <a:solidFill>
              <a:srgbClr val="D0D7DE"/>
            </a:solidFill>
            <a:prstDash val="dash"/>
          </a:ln>
        </p:spPr>
      </p:sp>
      <p:sp>
        <p:nvSpPr>
          <p:cNvPr id="47" name="Text 44"/>
          <p:cNvSpPr/>
          <p:nvPr/>
        </p:nvSpPr>
        <p:spPr>
          <a:xfrm>
            <a:off x="2514600" y="40690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C4C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💪 체력 5 변수 (본인 ▼ vs Velo Group)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2514600" y="4242816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CMJ JH</a:t>
            </a:r>
            <a:endParaRPr lang="en-US" sz="750" dirty="0"/>
          </a:p>
        </p:txBody>
      </p:sp>
      <p:sp>
        <p:nvSpPr>
          <p:cNvPr id="49" name="Shape 46"/>
          <p:cNvSpPr/>
          <p:nvPr/>
        </p:nvSpPr>
        <p:spPr>
          <a:xfrm>
            <a:off x="3108960" y="4283964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3383280" y="4283964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3657600" y="4283964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3931920" y="4283964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3801527" y="4265676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251960" y="4242816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41.3 cm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2514600" y="4389120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CMJ PP</a:t>
            </a:r>
            <a:endParaRPr lang="en-US" sz="750" dirty="0"/>
          </a:p>
        </p:txBody>
      </p:sp>
      <p:sp>
        <p:nvSpPr>
          <p:cNvPr id="56" name="Shape 53"/>
          <p:cNvSpPr/>
          <p:nvPr/>
        </p:nvSpPr>
        <p:spPr>
          <a:xfrm>
            <a:off x="3108960" y="4430268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3383280" y="4430268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3657600" y="4430268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3931920" y="4430268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4183380" y="4411980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4251960" y="4389120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40.1 W/kg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2514600" y="4535424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IMTP</a:t>
            </a:r>
            <a:endParaRPr 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3108960" y="4576572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3383280" y="4576572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3657600" y="4576572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3931920" y="4576572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67" name="Shape 64"/>
          <p:cNvSpPr/>
          <p:nvPr/>
        </p:nvSpPr>
        <p:spPr>
          <a:xfrm>
            <a:off x="3679922" y="4558284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4251960" y="4535424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27.2 N/kg</a:t>
            </a:r>
            <a:endParaRPr lang="en-US" sz="750" dirty="0"/>
          </a:p>
        </p:txBody>
      </p:sp>
      <p:sp>
        <p:nvSpPr>
          <p:cNvPr id="69" name="Text 66"/>
          <p:cNvSpPr/>
          <p:nvPr/>
        </p:nvSpPr>
        <p:spPr>
          <a:xfrm>
            <a:off x="2514600" y="4681728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Hop RSI</a:t>
            </a:r>
            <a:endParaRPr lang="en-US" sz="750" dirty="0"/>
          </a:p>
        </p:txBody>
      </p:sp>
      <p:sp>
        <p:nvSpPr>
          <p:cNvPr id="70" name="Shape 67"/>
          <p:cNvSpPr/>
          <p:nvPr/>
        </p:nvSpPr>
        <p:spPr>
          <a:xfrm>
            <a:off x="3108960" y="4722876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71" name="Shape 68"/>
          <p:cNvSpPr/>
          <p:nvPr/>
        </p:nvSpPr>
        <p:spPr>
          <a:xfrm>
            <a:off x="3383280" y="4722876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72" name="Shape 69"/>
          <p:cNvSpPr/>
          <p:nvPr/>
        </p:nvSpPr>
        <p:spPr>
          <a:xfrm>
            <a:off x="3657600" y="4722876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73" name="Shape 70"/>
          <p:cNvSpPr/>
          <p:nvPr/>
        </p:nvSpPr>
        <p:spPr>
          <a:xfrm>
            <a:off x="3931920" y="4722876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74" name="Shape 71"/>
          <p:cNvSpPr/>
          <p:nvPr/>
        </p:nvSpPr>
        <p:spPr>
          <a:xfrm>
            <a:off x="3393338" y="4704588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4251960" y="4681728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1.9</a:t>
            </a:r>
            <a:endParaRPr lang="en-US" sz="750" dirty="0"/>
          </a:p>
        </p:txBody>
      </p:sp>
      <p:sp>
        <p:nvSpPr>
          <p:cNvPr id="76" name="Text 73"/>
          <p:cNvSpPr/>
          <p:nvPr/>
        </p:nvSpPr>
        <p:spPr>
          <a:xfrm>
            <a:off x="2514600" y="4828032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Grip</a:t>
            </a:r>
            <a:endParaRPr lang="en-US" sz="750" dirty="0"/>
          </a:p>
        </p:txBody>
      </p:sp>
      <p:sp>
        <p:nvSpPr>
          <p:cNvPr id="77" name="Shape 74"/>
          <p:cNvSpPr/>
          <p:nvPr/>
        </p:nvSpPr>
        <p:spPr>
          <a:xfrm>
            <a:off x="3108960" y="4869180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78" name="Shape 75"/>
          <p:cNvSpPr/>
          <p:nvPr/>
        </p:nvSpPr>
        <p:spPr>
          <a:xfrm>
            <a:off x="3383280" y="4869180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79" name="Shape 76"/>
          <p:cNvSpPr/>
          <p:nvPr/>
        </p:nvSpPr>
        <p:spPr>
          <a:xfrm>
            <a:off x="3657600" y="4869180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80" name="Shape 77"/>
          <p:cNvSpPr/>
          <p:nvPr/>
        </p:nvSpPr>
        <p:spPr>
          <a:xfrm>
            <a:off x="3931920" y="4869180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81" name="Shape 78"/>
          <p:cNvSpPr/>
          <p:nvPr/>
        </p:nvSpPr>
        <p:spPr>
          <a:xfrm>
            <a:off x="3525012" y="4850892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4251960" y="4828032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55.0 kg</a:t>
            </a:r>
            <a:endParaRPr lang="en-US" sz="750" dirty="0"/>
          </a:p>
        </p:txBody>
      </p:sp>
      <p:sp>
        <p:nvSpPr>
          <p:cNvPr id="83" name="Text 80"/>
          <p:cNvSpPr/>
          <p:nvPr/>
        </p:nvSpPr>
        <p:spPr>
          <a:xfrm>
            <a:off x="4754880" y="22860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💧 누수 인과 분석 (Top 3) — Per 1 km/h</a:t>
            </a:r>
            <a:endParaRPr lang="en-US" sz="1050" dirty="0"/>
          </a:p>
        </p:txBody>
      </p:sp>
      <p:sp>
        <p:nvSpPr>
          <p:cNvPr id="84" name="Shape 81"/>
          <p:cNvSpPr/>
          <p:nvPr/>
        </p:nvSpPr>
        <p:spPr>
          <a:xfrm>
            <a:off x="4754880" y="2542032"/>
            <a:ext cx="365760" cy="685800"/>
          </a:xfrm>
          <a:prstGeom prst="rect">
            <a:avLst/>
          </a:prstGeom>
          <a:solidFill>
            <a:srgbClr val="CF222E"/>
          </a:solidFill>
          <a:ln/>
        </p:spPr>
      </p:sp>
      <p:sp>
        <p:nvSpPr>
          <p:cNvPr id="85" name="Text 82"/>
          <p:cNvSpPr/>
          <p:nvPr/>
        </p:nvSpPr>
        <p:spPr>
          <a:xfrm>
            <a:off x="4754880" y="2706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800" dirty="0"/>
          </a:p>
        </p:txBody>
      </p:sp>
      <p:sp>
        <p:nvSpPr>
          <p:cNvPr id="86" name="Shape 83"/>
          <p:cNvSpPr/>
          <p:nvPr/>
        </p:nvSpPr>
        <p:spPr>
          <a:xfrm>
            <a:off x="5120640" y="254203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5212080" y="258775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분절 가속 순서 결함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골반→몸통→팔 시퀀스 어긋남  ·  손실 -1.6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분절 가속 타이밍 훈련 (medicine ball 회전)</a:t>
            </a:r>
            <a:endParaRPr lang="en-US" sz="1100" dirty="0"/>
          </a:p>
        </p:txBody>
      </p:sp>
      <p:sp>
        <p:nvSpPr>
          <p:cNvPr id="88" name="Shape 85"/>
          <p:cNvSpPr/>
          <p:nvPr/>
        </p:nvSpPr>
        <p:spPr>
          <a:xfrm>
            <a:off x="4754880" y="3319272"/>
            <a:ext cx="365760" cy="685800"/>
          </a:xfrm>
          <a:prstGeom prst="rect">
            <a:avLst/>
          </a:prstGeom>
          <a:solidFill>
            <a:srgbClr val="BF8700"/>
          </a:solidFill>
          <a:ln/>
        </p:spPr>
      </p:sp>
      <p:sp>
        <p:nvSpPr>
          <p:cNvPr id="89" name="Text 86"/>
          <p:cNvSpPr/>
          <p:nvPr/>
        </p:nvSpPr>
        <p:spPr>
          <a:xfrm>
            <a:off x="4754880" y="3483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800" dirty="0"/>
          </a:p>
        </p:txBody>
      </p:sp>
      <p:sp>
        <p:nvSpPr>
          <p:cNvPr id="90" name="Shape 87"/>
          <p:cNvSpPr/>
          <p:nvPr/>
        </p:nvSpPr>
        <p:spPr>
          <a:xfrm>
            <a:off x="5120640" y="331927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5212080" y="336499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Pelvis braking 부족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골반 감속 부족  ·  손실 -1.1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Pelvis brake — 단일하지 RFE 스플릿 스쿼트, 디셀러레이션 드릴</a:t>
            </a:r>
            <a:endParaRPr lang="en-US" sz="1100" dirty="0"/>
          </a:p>
        </p:txBody>
      </p:sp>
      <p:sp>
        <p:nvSpPr>
          <p:cNvPr id="92" name="Shape 89"/>
          <p:cNvSpPr/>
          <p:nvPr/>
        </p:nvSpPr>
        <p:spPr>
          <a:xfrm>
            <a:off x="4754880" y="4096512"/>
            <a:ext cx="36576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3" name="Text 90"/>
          <p:cNvSpPr/>
          <p:nvPr/>
        </p:nvSpPr>
        <p:spPr>
          <a:xfrm>
            <a:off x="4754880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800" dirty="0"/>
          </a:p>
        </p:txBody>
      </p:sp>
      <p:sp>
        <p:nvSpPr>
          <p:cNvPr id="94" name="Shape 91"/>
          <p:cNvSpPr/>
          <p:nvPr/>
        </p:nvSpPr>
        <p:spPr>
          <a:xfrm>
            <a:off x="5120640" y="409651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5212080" y="414223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Lead knee collapse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앞발 받쳐주기 약함  ·  손실 -0.6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Lead leg 강화 — 단일하지 박스점프, 제자리 깊은 스쿼트</a:t>
            </a:r>
            <a:endParaRPr lang="en-US" sz="1100" dirty="0"/>
          </a:p>
        </p:txBody>
      </p:sp>
      <p:sp>
        <p:nvSpPr>
          <p:cNvPr id="96" name="Shape 93"/>
          <p:cNvSpPr/>
          <p:nvPr/>
        </p:nvSpPr>
        <p:spPr>
          <a:xfrm>
            <a:off x="365760" y="4823460"/>
            <a:ext cx="8412480" cy="0"/>
          </a:xfrm>
          <a:prstGeom prst="line">
            <a:avLst/>
          </a:prstGeom>
          <a:noFill/>
          <a:ln w="6350">
            <a:solidFill>
              <a:srgbClr val="D0D7DE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365760" y="48691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상동고 투구 리포트 · 1차 측정 (2026-05-15)</a:t>
            </a:r>
            <a:endParaRPr lang="en-US" sz="800" dirty="0"/>
          </a:p>
        </p:txBody>
      </p:sp>
      <p:sp>
        <p:nvSpPr>
          <p:cNvPr id="98" name="Text 95"/>
          <p:cNvSpPr/>
          <p:nvPr/>
        </p:nvSpPr>
        <p:spPr>
          <a:xfrm>
            <a:off x="365760" y="48691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국민대 BBL · analytics v2.1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P08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1645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선수08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우투 · 177cm · 73kg · 1차 (2026-05-15)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0" y="182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종합 71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0" y="502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" y="960120"/>
            <a:ext cx="45720" cy="868680"/>
          </a:xfrm>
          <a:prstGeom prst="rect">
            <a:avLst/>
          </a:prstGeom>
          <a:solidFill>
            <a:srgbClr val="0969DA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측정 구속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118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118.1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0302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km/h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118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미달 그룹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98882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88820" y="960120"/>
            <a:ext cx="45720" cy="868680"/>
          </a:xfrm>
          <a:prstGeom prst="rect">
            <a:avLst/>
          </a:prstGeom>
          <a:solidFill>
            <a:srgbClr val="BC4C00"/>
          </a:solidFill>
          <a:ln/>
        </p:spPr>
      </p:sp>
      <p:sp>
        <p:nvSpPr>
          <p:cNvPr id="16" name="Text 14"/>
          <p:cNvSpPr/>
          <p:nvPr/>
        </p:nvSpPr>
        <p:spPr>
          <a:xfrm>
            <a:off x="209854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체력 Ceiling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9854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C4C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136.8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04038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km/h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9854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Predicted Velo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72618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26180" y="960120"/>
            <a:ext cx="45720" cy="868680"/>
          </a:xfrm>
          <a:prstGeom prst="rect">
            <a:avLst/>
          </a:prstGeom>
          <a:solidFill>
            <a:srgbClr val="1A7F37"/>
          </a:solidFill>
          <a:ln/>
        </p:spPr>
      </p:sp>
      <p:sp>
        <p:nvSpPr>
          <p:cNvPr id="22" name="Text 20"/>
          <p:cNvSpPr/>
          <p:nvPr/>
        </p:nvSpPr>
        <p:spPr>
          <a:xfrm>
            <a:off x="383590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⚡ 힘 만들기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3590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7F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77774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3590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출력 (Output)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46354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63540" y="960120"/>
            <a:ext cx="45720" cy="868680"/>
          </a:xfrm>
          <a:prstGeom prst="rect">
            <a:avLst/>
          </a:prstGeom>
          <a:solidFill>
            <a:srgbClr val="8250DF"/>
          </a:solidFill>
          <a:ln/>
        </p:spPr>
      </p:sp>
      <p:sp>
        <p:nvSpPr>
          <p:cNvPr id="28" name="Text 26"/>
          <p:cNvSpPr/>
          <p:nvPr/>
        </p:nvSpPr>
        <p:spPr>
          <a:xfrm>
            <a:off x="557326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🔗 힘 전달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7326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250D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51510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7326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전달 (Transfer)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20090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00900" y="960120"/>
            <a:ext cx="45720" cy="868680"/>
          </a:xfrm>
          <a:prstGeom prst="rect">
            <a:avLst/>
          </a:prstGeom>
          <a:solidFill>
            <a:srgbClr val="CF222E"/>
          </a:solidFill>
          <a:ln/>
        </p:spPr>
      </p:sp>
      <p:sp>
        <p:nvSpPr>
          <p:cNvPr id="34" name="Text 32"/>
          <p:cNvSpPr/>
          <p:nvPr/>
        </p:nvSpPr>
        <p:spPr>
          <a:xfrm>
            <a:off x="731062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💧 힘 보존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1062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60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825246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1062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누수 관리 (역 ELI)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51460" y="1920240"/>
            <a:ext cx="8641080" cy="274320"/>
          </a:xfrm>
          <a:prstGeom prst="rect">
            <a:avLst/>
          </a:prstGeom>
          <a:solidFill>
            <a:srgbClr val="F6F8FA"/>
          </a:solidFill>
          <a:ln w="5080">
            <a:solidFill>
              <a:srgbClr val="D0D7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194767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부상위험: </a:t>
            </a:r>
            <a:pPr indent="0" marL="0">
              <a:buNone/>
            </a:pPr>
            <a:r>
              <a:rPr lang="en-US" sz="1000" dirty="0">
                <a:solidFill>
                  <a:srgbClr val="1A7F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낮음  |  </a:t>
            </a:r>
            <a:pPr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메카닉 효율 (AE): </a:t>
            </a:r>
            <a:pPr indent="0" marL="0">
              <a:buNone/>
            </a:pPr>
            <a:r>
              <a:rPr lang="en-US" sz="100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⚠ 메카닉 발달 여지  (-18.7 km/h)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22860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관절 분절 시퀀스 (피크 회전속도)</a:t>
            </a:r>
            <a:endParaRPr lang="en-US" sz="1050" dirty="0"/>
          </a:p>
        </p:txBody>
      </p:sp>
      <p:graphicFrame>
        <p:nvGraphicFramePr>
          <p:cNvPr id="41" name="Chart 0" descr=""/>
          <p:cNvGraphicFramePr/>
          <p:nvPr/>
        </p:nvGraphicFramePr>
        <p:xfrm>
          <a:off x="365760" y="2542032"/>
          <a:ext cx="420624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2" name="Shape 39"/>
          <p:cNvSpPr/>
          <p:nvPr/>
        </p:nvSpPr>
        <p:spPr>
          <a:xfrm>
            <a:off x="365760" y="4023360"/>
            <a:ext cx="4206240" cy="1005840"/>
          </a:xfrm>
          <a:prstGeom prst="rect">
            <a:avLst/>
          </a:prstGeom>
          <a:solidFill>
            <a:srgbClr val="FAFBFC"/>
          </a:solidFill>
          <a:ln w="19050">
            <a:solidFill>
              <a:srgbClr val="CF222E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57200" y="4069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📊 자동 진단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457200" y="42611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메카닉 비효율로 체력 잠재력 미발현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57200" y="46268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💡 18.7 km/h 만큼 메카닉 교정 잠재력. ELI 인과 chain Top 3 즉시 적용.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2423160" y="4114800"/>
            <a:ext cx="0" cy="868680"/>
          </a:xfrm>
          <a:prstGeom prst="line">
            <a:avLst/>
          </a:prstGeom>
          <a:noFill/>
          <a:ln w="6350">
            <a:solidFill>
              <a:srgbClr val="D0D7DE"/>
            </a:solidFill>
            <a:prstDash val="dash"/>
          </a:ln>
        </p:spPr>
      </p:sp>
      <p:sp>
        <p:nvSpPr>
          <p:cNvPr id="47" name="Text 44"/>
          <p:cNvSpPr/>
          <p:nvPr/>
        </p:nvSpPr>
        <p:spPr>
          <a:xfrm>
            <a:off x="2514600" y="40690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C4C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💪 체력 5 변수 (본인 ▼ vs Velo Group)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2514600" y="4242816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CMJ JH</a:t>
            </a:r>
            <a:endParaRPr lang="en-US" sz="750" dirty="0"/>
          </a:p>
        </p:txBody>
      </p:sp>
      <p:sp>
        <p:nvSpPr>
          <p:cNvPr id="49" name="Shape 46"/>
          <p:cNvSpPr/>
          <p:nvPr/>
        </p:nvSpPr>
        <p:spPr>
          <a:xfrm>
            <a:off x="3108960" y="4283964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3383280" y="4283964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3657600" y="4283964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3931920" y="4283964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3805916" y="4265676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251960" y="4242816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41.4 cm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2514600" y="4389120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CMJ PP</a:t>
            </a:r>
            <a:endParaRPr lang="en-US" sz="750" dirty="0"/>
          </a:p>
        </p:txBody>
      </p:sp>
      <p:sp>
        <p:nvSpPr>
          <p:cNvPr id="56" name="Shape 53"/>
          <p:cNvSpPr/>
          <p:nvPr/>
        </p:nvSpPr>
        <p:spPr>
          <a:xfrm>
            <a:off x="3108960" y="4430268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3383280" y="4430268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3657600" y="4430268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3931920" y="4430268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4183380" y="4411980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4251960" y="4389120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40.2 W/kg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2514600" y="4535424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IMTP</a:t>
            </a:r>
            <a:endParaRPr 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3108960" y="4576572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3383280" y="4576572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3657600" y="4576572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3931920" y="4576572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67" name="Shape 64"/>
          <p:cNvSpPr/>
          <p:nvPr/>
        </p:nvSpPr>
        <p:spPr>
          <a:xfrm>
            <a:off x="3686377" y="4558284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4251960" y="4535424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27.3 N/kg</a:t>
            </a:r>
            <a:endParaRPr lang="en-US" sz="750" dirty="0"/>
          </a:p>
        </p:txBody>
      </p:sp>
      <p:sp>
        <p:nvSpPr>
          <p:cNvPr id="69" name="Text 66"/>
          <p:cNvSpPr/>
          <p:nvPr/>
        </p:nvSpPr>
        <p:spPr>
          <a:xfrm>
            <a:off x="2514600" y="4681728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Hop RSI</a:t>
            </a:r>
            <a:endParaRPr lang="en-US" sz="750" dirty="0"/>
          </a:p>
        </p:txBody>
      </p:sp>
      <p:sp>
        <p:nvSpPr>
          <p:cNvPr id="70" name="Shape 67"/>
          <p:cNvSpPr/>
          <p:nvPr/>
        </p:nvSpPr>
        <p:spPr>
          <a:xfrm>
            <a:off x="3108960" y="4722876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71" name="Shape 68"/>
          <p:cNvSpPr/>
          <p:nvPr/>
        </p:nvSpPr>
        <p:spPr>
          <a:xfrm>
            <a:off x="3383280" y="4722876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72" name="Shape 69"/>
          <p:cNvSpPr/>
          <p:nvPr/>
        </p:nvSpPr>
        <p:spPr>
          <a:xfrm>
            <a:off x="3657600" y="4722876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73" name="Shape 70"/>
          <p:cNvSpPr/>
          <p:nvPr/>
        </p:nvSpPr>
        <p:spPr>
          <a:xfrm>
            <a:off x="3931920" y="4722876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74" name="Shape 71"/>
          <p:cNvSpPr/>
          <p:nvPr/>
        </p:nvSpPr>
        <p:spPr>
          <a:xfrm>
            <a:off x="3400654" y="4704588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4251960" y="4681728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1.9</a:t>
            </a:r>
            <a:endParaRPr lang="en-US" sz="750" dirty="0"/>
          </a:p>
        </p:txBody>
      </p:sp>
      <p:sp>
        <p:nvSpPr>
          <p:cNvPr id="76" name="Text 73"/>
          <p:cNvSpPr/>
          <p:nvPr/>
        </p:nvSpPr>
        <p:spPr>
          <a:xfrm>
            <a:off x="2514600" y="4828032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Grip</a:t>
            </a:r>
            <a:endParaRPr lang="en-US" sz="750" dirty="0"/>
          </a:p>
        </p:txBody>
      </p:sp>
      <p:sp>
        <p:nvSpPr>
          <p:cNvPr id="77" name="Shape 74"/>
          <p:cNvSpPr/>
          <p:nvPr/>
        </p:nvSpPr>
        <p:spPr>
          <a:xfrm>
            <a:off x="3108960" y="4869180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78" name="Shape 75"/>
          <p:cNvSpPr/>
          <p:nvPr/>
        </p:nvSpPr>
        <p:spPr>
          <a:xfrm>
            <a:off x="3383280" y="4869180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79" name="Shape 76"/>
          <p:cNvSpPr/>
          <p:nvPr/>
        </p:nvSpPr>
        <p:spPr>
          <a:xfrm>
            <a:off x="3657600" y="4869180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80" name="Shape 77"/>
          <p:cNvSpPr/>
          <p:nvPr/>
        </p:nvSpPr>
        <p:spPr>
          <a:xfrm>
            <a:off x="3931920" y="4869180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81" name="Shape 78"/>
          <p:cNvSpPr/>
          <p:nvPr/>
        </p:nvSpPr>
        <p:spPr>
          <a:xfrm>
            <a:off x="3525012" y="4850892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4251960" y="4828032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55.0 kg</a:t>
            </a:r>
            <a:endParaRPr lang="en-US" sz="750" dirty="0"/>
          </a:p>
        </p:txBody>
      </p:sp>
      <p:sp>
        <p:nvSpPr>
          <p:cNvPr id="83" name="Text 80"/>
          <p:cNvSpPr/>
          <p:nvPr/>
        </p:nvSpPr>
        <p:spPr>
          <a:xfrm>
            <a:off x="4754880" y="22860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💧 누수 인과 분석 (Top 3) — Per 1 km/h</a:t>
            </a:r>
            <a:endParaRPr lang="en-US" sz="1050" dirty="0"/>
          </a:p>
        </p:txBody>
      </p:sp>
      <p:sp>
        <p:nvSpPr>
          <p:cNvPr id="84" name="Shape 81"/>
          <p:cNvSpPr/>
          <p:nvPr/>
        </p:nvSpPr>
        <p:spPr>
          <a:xfrm>
            <a:off x="4754880" y="2542032"/>
            <a:ext cx="365760" cy="685800"/>
          </a:xfrm>
          <a:prstGeom prst="rect">
            <a:avLst/>
          </a:prstGeom>
          <a:solidFill>
            <a:srgbClr val="CF222E"/>
          </a:solidFill>
          <a:ln/>
        </p:spPr>
      </p:sp>
      <p:sp>
        <p:nvSpPr>
          <p:cNvPr id="85" name="Text 82"/>
          <p:cNvSpPr/>
          <p:nvPr/>
        </p:nvSpPr>
        <p:spPr>
          <a:xfrm>
            <a:off x="4754880" y="2706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800" dirty="0"/>
          </a:p>
        </p:txBody>
      </p:sp>
      <p:sp>
        <p:nvSpPr>
          <p:cNvPr id="86" name="Shape 83"/>
          <p:cNvSpPr/>
          <p:nvPr/>
        </p:nvSpPr>
        <p:spPr>
          <a:xfrm>
            <a:off x="5120640" y="254203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5212080" y="258775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분절 가속 순서 결함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골반→몸통→팔 시퀀스 어긋남  ·  손실 -1.1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분절 가속 타이밍 훈련 (medicine ball 회전)</a:t>
            </a:r>
            <a:endParaRPr lang="en-US" sz="1100" dirty="0"/>
          </a:p>
        </p:txBody>
      </p:sp>
      <p:sp>
        <p:nvSpPr>
          <p:cNvPr id="88" name="Shape 85"/>
          <p:cNvSpPr/>
          <p:nvPr/>
        </p:nvSpPr>
        <p:spPr>
          <a:xfrm>
            <a:off x="4754880" y="3319272"/>
            <a:ext cx="365760" cy="685800"/>
          </a:xfrm>
          <a:prstGeom prst="rect">
            <a:avLst/>
          </a:prstGeom>
          <a:solidFill>
            <a:srgbClr val="BF8700"/>
          </a:solidFill>
          <a:ln/>
        </p:spPr>
      </p:sp>
      <p:sp>
        <p:nvSpPr>
          <p:cNvPr id="89" name="Text 86"/>
          <p:cNvSpPr/>
          <p:nvPr/>
        </p:nvSpPr>
        <p:spPr>
          <a:xfrm>
            <a:off x="4754880" y="3483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800" dirty="0"/>
          </a:p>
        </p:txBody>
      </p:sp>
      <p:sp>
        <p:nvSpPr>
          <p:cNvPr id="90" name="Shape 87"/>
          <p:cNvSpPr/>
          <p:nvPr/>
        </p:nvSpPr>
        <p:spPr>
          <a:xfrm>
            <a:off x="5120640" y="331927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5212080" y="336499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골반-상체 분리 미달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X-factor 부족  ·  손실 -0.9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X-factor 증대 — hip-shoulder 분리 stretch</a:t>
            </a:r>
            <a:endParaRPr lang="en-US" sz="1100" dirty="0"/>
          </a:p>
        </p:txBody>
      </p:sp>
      <p:sp>
        <p:nvSpPr>
          <p:cNvPr id="92" name="Shape 89"/>
          <p:cNvSpPr/>
          <p:nvPr/>
        </p:nvSpPr>
        <p:spPr>
          <a:xfrm>
            <a:off x="4754880" y="4096512"/>
            <a:ext cx="36576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3" name="Text 90"/>
          <p:cNvSpPr/>
          <p:nvPr/>
        </p:nvSpPr>
        <p:spPr>
          <a:xfrm>
            <a:off x="4754880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800" dirty="0"/>
          </a:p>
        </p:txBody>
      </p:sp>
      <p:sp>
        <p:nvSpPr>
          <p:cNvPr id="94" name="Shape 91"/>
          <p:cNvSpPr/>
          <p:nvPr/>
        </p:nvSpPr>
        <p:spPr>
          <a:xfrm>
            <a:off x="5120640" y="409651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5212080" y="414223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Lead knee collapse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앞발 받쳐주기 약함  ·  손실 -0.9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Lead leg 강화 — 단일하지 박스점프, 제자리 깊은 스쿼트</a:t>
            </a:r>
            <a:endParaRPr lang="en-US" sz="1100" dirty="0"/>
          </a:p>
        </p:txBody>
      </p:sp>
      <p:sp>
        <p:nvSpPr>
          <p:cNvPr id="96" name="Shape 93"/>
          <p:cNvSpPr/>
          <p:nvPr/>
        </p:nvSpPr>
        <p:spPr>
          <a:xfrm>
            <a:off x="365760" y="4823460"/>
            <a:ext cx="8412480" cy="0"/>
          </a:xfrm>
          <a:prstGeom prst="line">
            <a:avLst/>
          </a:prstGeom>
          <a:noFill/>
          <a:ln w="6350">
            <a:solidFill>
              <a:srgbClr val="D0D7DE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365760" y="48691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상동고 투구 리포트 · 1차 측정 (2026-05-15)</a:t>
            </a:r>
            <a:endParaRPr lang="en-US" sz="800" dirty="0"/>
          </a:p>
        </p:txBody>
      </p:sp>
      <p:sp>
        <p:nvSpPr>
          <p:cNvPr id="98" name="Text 95"/>
          <p:cNvSpPr/>
          <p:nvPr/>
        </p:nvSpPr>
        <p:spPr>
          <a:xfrm>
            <a:off x="365760" y="48691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국민대 BBL · analytics v2.1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P09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1645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선수09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우투 · 181cm · 79kg · 1차 (2026-05-15)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0" y="182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종합 78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0" y="502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" y="960120"/>
            <a:ext cx="45720" cy="868680"/>
          </a:xfrm>
          <a:prstGeom prst="rect">
            <a:avLst/>
          </a:prstGeom>
          <a:solidFill>
            <a:srgbClr val="0969DA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측정 구속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118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124.2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0302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km/h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118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미달 그룹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98882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88820" y="960120"/>
            <a:ext cx="45720" cy="868680"/>
          </a:xfrm>
          <a:prstGeom prst="rect">
            <a:avLst/>
          </a:prstGeom>
          <a:solidFill>
            <a:srgbClr val="BC4C00"/>
          </a:solidFill>
          <a:ln/>
        </p:spPr>
      </p:sp>
      <p:sp>
        <p:nvSpPr>
          <p:cNvPr id="16" name="Text 14"/>
          <p:cNvSpPr/>
          <p:nvPr/>
        </p:nvSpPr>
        <p:spPr>
          <a:xfrm>
            <a:off x="209854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체력 Ceiling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9854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C4C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138.5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04038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km/h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9854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Predicted Velo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72618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26180" y="960120"/>
            <a:ext cx="45720" cy="868680"/>
          </a:xfrm>
          <a:prstGeom prst="rect">
            <a:avLst/>
          </a:prstGeom>
          <a:solidFill>
            <a:srgbClr val="1A7F37"/>
          </a:solidFill>
          <a:ln/>
        </p:spPr>
      </p:sp>
      <p:sp>
        <p:nvSpPr>
          <p:cNvPr id="22" name="Text 20"/>
          <p:cNvSpPr/>
          <p:nvPr/>
        </p:nvSpPr>
        <p:spPr>
          <a:xfrm>
            <a:off x="383590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⚡ 힘 만들기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3590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7F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77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77774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3590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출력 (Output)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46354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63540" y="960120"/>
            <a:ext cx="45720" cy="868680"/>
          </a:xfrm>
          <a:prstGeom prst="rect">
            <a:avLst/>
          </a:prstGeom>
          <a:solidFill>
            <a:srgbClr val="8250DF"/>
          </a:solidFill>
          <a:ln/>
        </p:spPr>
      </p:sp>
      <p:sp>
        <p:nvSpPr>
          <p:cNvPr id="28" name="Text 26"/>
          <p:cNvSpPr/>
          <p:nvPr/>
        </p:nvSpPr>
        <p:spPr>
          <a:xfrm>
            <a:off x="557326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🔗 힘 전달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7326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250D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73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51510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7326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전달 (Transfer)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20090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00900" y="960120"/>
            <a:ext cx="45720" cy="868680"/>
          </a:xfrm>
          <a:prstGeom prst="rect">
            <a:avLst/>
          </a:prstGeom>
          <a:solidFill>
            <a:srgbClr val="CF222E"/>
          </a:solidFill>
          <a:ln/>
        </p:spPr>
      </p:sp>
      <p:sp>
        <p:nvSpPr>
          <p:cNvPr id="34" name="Text 32"/>
          <p:cNvSpPr/>
          <p:nvPr/>
        </p:nvSpPr>
        <p:spPr>
          <a:xfrm>
            <a:off x="731062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💧 힘 보존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1062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70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825246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1062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누수 관리 (역 ELI)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51460" y="1920240"/>
            <a:ext cx="8641080" cy="274320"/>
          </a:xfrm>
          <a:prstGeom prst="rect">
            <a:avLst/>
          </a:prstGeom>
          <a:solidFill>
            <a:srgbClr val="F6F8FA"/>
          </a:solidFill>
          <a:ln w="5080">
            <a:solidFill>
              <a:srgbClr val="D0D7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194767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부상위험: </a:t>
            </a:r>
            <a:pPr indent="0" marL="0">
              <a:buNone/>
            </a:pPr>
            <a:r>
              <a:rPr lang="en-US" sz="1000" dirty="0">
                <a:solidFill>
                  <a:srgbClr val="1A7F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낮음  |  </a:t>
            </a:r>
            <a:pPr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메카닉 효율 (AE): </a:t>
            </a:r>
            <a:pPr indent="0" marL="0">
              <a:buNone/>
            </a:pPr>
            <a:r>
              <a:rPr lang="en-US" sz="100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⚠ 메카닉 발달 여지  (-14.3 km/h)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22860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관절 분절 시퀀스 (피크 회전속도)</a:t>
            </a:r>
            <a:endParaRPr lang="en-US" sz="1050" dirty="0"/>
          </a:p>
        </p:txBody>
      </p:sp>
      <p:graphicFrame>
        <p:nvGraphicFramePr>
          <p:cNvPr id="41" name="Chart 0" descr=""/>
          <p:cNvGraphicFramePr/>
          <p:nvPr/>
        </p:nvGraphicFramePr>
        <p:xfrm>
          <a:off x="365760" y="2542032"/>
          <a:ext cx="420624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2" name="Shape 39"/>
          <p:cNvSpPr/>
          <p:nvPr/>
        </p:nvSpPr>
        <p:spPr>
          <a:xfrm>
            <a:off x="365760" y="4023360"/>
            <a:ext cx="4206240" cy="1005840"/>
          </a:xfrm>
          <a:prstGeom prst="rect">
            <a:avLst/>
          </a:prstGeom>
          <a:solidFill>
            <a:srgbClr val="FAFBFC"/>
          </a:solidFill>
          <a:ln w="19050">
            <a:solidFill>
              <a:srgbClr val="CF222E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57200" y="4069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📊 자동 진단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457200" y="42611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메카닉 비효율로 체력 잠재력 미발현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57200" y="46268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💡 14.3 km/h 만큼 메카닉 교정 잠재력. ELI 인과 chain Top 3 즉시 적용.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2423160" y="4114800"/>
            <a:ext cx="0" cy="868680"/>
          </a:xfrm>
          <a:prstGeom prst="line">
            <a:avLst/>
          </a:prstGeom>
          <a:noFill/>
          <a:ln w="6350">
            <a:solidFill>
              <a:srgbClr val="D0D7DE"/>
            </a:solidFill>
            <a:prstDash val="dash"/>
          </a:ln>
        </p:spPr>
      </p:sp>
      <p:sp>
        <p:nvSpPr>
          <p:cNvPr id="47" name="Text 44"/>
          <p:cNvSpPr/>
          <p:nvPr/>
        </p:nvSpPr>
        <p:spPr>
          <a:xfrm>
            <a:off x="2514600" y="40690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C4C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💪 체력 5 변수 (본인 ▼ vs Velo Group)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2514600" y="4242816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CMJ JH</a:t>
            </a:r>
            <a:endParaRPr lang="en-US" sz="750" dirty="0"/>
          </a:p>
        </p:txBody>
      </p:sp>
      <p:sp>
        <p:nvSpPr>
          <p:cNvPr id="49" name="Shape 46"/>
          <p:cNvSpPr/>
          <p:nvPr/>
        </p:nvSpPr>
        <p:spPr>
          <a:xfrm>
            <a:off x="3108960" y="4283964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3383280" y="4283964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3657600" y="4283964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3931920" y="4283964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4007815" y="4265676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251960" y="4242816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46.0 cm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2514600" y="4389120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CMJ PP</a:t>
            </a:r>
            <a:endParaRPr lang="en-US" sz="750" dirty="0"/>
          </a:p>
        </p:txBody>
      </p:sp>
      <p:sp>
        <p:nvSpPr>
          <p:cNvPr id="56" name="Shape 53"/>
          <p:cNvSpPr/>
          <p:nvPr/>
        </p:nvSpPr>
        <p:spPr>
          <a:xfrm>
            <a:off x="3108960" y="4430268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3383280" y="4430268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3657600" y="4430268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3931920" y="4430268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4183380" y="4411980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4251960" y="4389120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44.4 W/kg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2514600" y="4535424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IMTP</a:t>
            </a:r>
            <a:endParaRPr 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3108960" y="4576572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3383280" y="4576572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3657600" y="4576572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3931920" y="4576572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67" name="Shape 64"/>
          <p:cNvSpPr/>
          <p:nvPr/>
        </p:nvSpPr>
        <p:spPr>
          <a:xfrm>
            <a:off x="3847741" y="4558284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4251960" y="4535424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29.8 N/kg</a:t>
            </a:r>
            <a:endParaRPr lang="en-US" sz="750" dirty="0"/>
          </a:p>
        </p:txBody>
      </p:sp>
      <p:sp>
        <p:nvSpPr>
          <p:cNvPr id="69" name="Text 66"/>
          <p:cNvSpPr/>
          <p:nvPr/>
        </p:nvSpPr>
        <p:spPr>
          <a:xfrm>
            <a:off x="2514600" y="4681728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Hop RSI</a:t>
            </a:r>
            <a:endParaRPr lang="en-US" sz="750" dirty="0"/>
          </a:p>
        </p:txBody>
      </p:sp>
      <p:sp>
        <p:nvSpPr>
          <p:cNvPr id="70" name="Shape 67"/>
          <p:cNvSpPr/>
          <p:nvPr/>
        </p:nvSpPr>
        <p:spPr>
          <a:xfrm>
            <a:off x="3108960" y="4722876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71" name="Shape 68"/>
          <p:cNvSpPr/>
          <p:nvPr/>
        </p:nvSpPr>
        <p:spPr>
          <a:xfrm>
            <a:off x="3383280" y="4722876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72" name="Shape 69"/>
          <p:cNvSpPr/>
          <p:nvPr/>
        </p:nvSpPr>
        <p:spPr>
          <a:xfrm>
            <a:off x="3657600" y="4722876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73" name="Shape 70"/>
          <p:cNvSpPr/>
          <p:nvPr/>
        </p:nvSpPr>
        <p:spPr>
          <a:xfrm>
            <a:off x="3931920" y="4722876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74" name="Shape 71"/>
          <p:cNvSpPr/>
          <p:nvPr/>
        </p:nvSpPr>
        <p:spPr>
          <a:xfrm>
            <a:off x="3583534" y="4704588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4251960" y="4681728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2.2</a:t>
            </a:r>
            <a:endParaRPr lang="en-US" sz="750" dirty="0"/>
          </a:p>
        </p:txBody>
      </p:sp>
      <p:sp>
        <p:nvSpPr>
          <p:cNvPr id="76" name="Text 73"/>
          <p:cNvSpPr/>
          <p:nvPr/>
        </p:nvSpPr>
        <p:spPr>
          <a:xfrm>
            <a:off x="2514600" y="4828032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Grip</a:t>
            </a:r>
            <a:endParaRPr lang="en-US" sz="750" dirty="0"/>
          </a:p>
        </p:txBody>
      </p:sp>
      <p:sp>
        <p:nvSpPr>
          <p:cNvPr id="77" name="Shape 74"/>
          <p:cNvSpPr/>
          <p:nvPr/>
        </p:nvSpPr>
        <p:spPr>
          <a:xfrm>
            <a:off x="3108960" y="4869180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78" name="Shape 75"/>
          <p:cNvSpPr/>
          <p:nvPr/>
        </p:nvSpPr>
        <p:spPr>
          <a:xfrm>
            <a:off x="3383280" y="4869180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79" name="Shape 76"/>
          <p:cNvSpPr/>
          <p:nvPr/>
        </p:nvSpPr>
        <p:spPr>
          <a:xfrm>
            <a:off x="3657600" y="4869180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80" name="Shape 77"/>
          <p:cNvSpPr/>
          <p:nvPr/>
        </p:nvSpPr>
        <p:spPr>
          <a:xfrm>
            <a:off x="3931920" y="4869180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81" name="Shape 78"/>
          <p:cNvSpPr/>
          <p:nvPr/>
        </p:nvSpPr>
        <p:spPr>
          <a:xfrm>
            <a:off x="3525012" y="4850892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4251960" y="4828032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55.0 kg</a:t>
            </a:r>
            <a:endParaRPr lang="en-US" sz="750" dirty="0"/>
          </a:p>
        </p:txBody>
      </p:sp>
      <p:sp>
        <p:nvSpPr>
          <p:cNvPr id="83" name="Text 80"/>
          <p:cNvSpPr/>
          <p:nvPr/>
        </p:nvSpPr>
        <p:spPr>
          <a:xfrm>
            <a:off x="4754880" y="22860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💧 누수 인과 분석 (Top 3) — Per 1 km/h</a:t>
            </a:r>
            <a:endParaRPr lang="en-US" sz="1050" dirty="0"/>
          </a:p>
        </p:txBody>
      </p:sp>
      <p:sp>
        <p:nvSpPr>
          <p:cNvPr id="84" name="Shape 81"/>
          <p:cNvSpPr/>
          <p:nvPr/>
        </p:nvSpPr>
        <p:spPr>
          <a:xfrm>
            <a:off x="4754880" y="2542032"/>
            <a:ext cx="365760" cy="685800"/>
          </a:xfrm>
          <a:prstGeom prst="rect">
            <a:avLst/>
          </a:prstGeom>
          <a:solidFill>
            <a:srgbClr val="CF222E"/>
          </a:solidFill>
          <a:ln/>
        </p:spPr>
      </p:sp>
      <p:sp>
        <p:nvSpPr>
          <p:cNvPr id="85" name="Text 82"/>
          <p:cNvSpPr/>
          <p:nvPr/>
        </p:nvSpPr>
        <p:spPr>
          <a:xfrm>
            <a:off x="4754880" y="2706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800" dirty="0"/>
          </a:p>
        </p:txBody>
      </p:sp>
      <p:sp>
        <p:nvSpPr>
          <p:cNvPr id="86" name="Shape 83"/>
          <p:cNvSpPr/>
          <p:nvPr/>
        </p:nvSpPr>
        <p:spPr>
          <a:xfrm>
            <a:off x="5120640" y="254203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5212080" y="258775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Lead knee collapse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앞발 받쳐주기 약함  ·  손실 -1.2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Lead leg 강화 — 단일하지 박스점프, 제자리 깊은 스쿼트</a:t>
            </a:r>
            <a:endParaRPr lang="en-US" sz="1100" dirty="0"/>
          </a:p>
        </p:txBody>
      </p:sp>
      <p:sp>
        <p:nvSpPr>
          <p:cNvPr id="88" name="Shape 85"/>
          <p:cNvSpPr/>
          <p:nvPr/>
        </p:nvSpPr>
        <p:spPr>
          <a:xfrm>
            <a:off x="4754880" y="3319272"/>
            <a:ext cx="365760" cy="685800"/>
          </a:xfrm>
          <a:prstGeom prst="rect">
            <a:avLst/>
          </a:prstGeom>
          <a:solidFill>
            <a:srgbClr val="BF8700"/>
          </a:solidFill>
          <a:ln/>
        </p:spPr>
      </p:sp>
      <p:sp>
        <p:nvSpPr>
          <p:cNvPr id="89" name="Text 86"/>
          <p:cNvSpPr/>
          <p:nvPr/>
        </p:nvSpPr>
        <p:spPr>
          <a:xfrm>
            <a:off x="4754880" y="3483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800" dirty="0"/>
          </a:p>
        </p:txBody>
      </p:sp>
      <p:sp>
        <p:nvSpPr>
          <p:cNvPr id="90" name="Shape 87"/>
          <p:cNvSpPr/>
          <p:nvPr/>
        </p:nvSpPr>
        <p:spPr>
          <a:xfrm>
            <a:off x="5120640" y="331927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5212080" y="336499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Pelvis braking 부족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골반 감속 부족  ·  손실 -0.8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Pelvis brake — 단일하지 RFE 스플릿 스쿼트, 디셀러레이션 드릴</a:t>
            </a:r>
            <a:endParaRPr lang="en-US" sz="1100" dirty="0"/>
          </a:p>
        </p:txBody>
      </p:sp>
      <p:sp>
        <p:nvSpPr>
          <p:cNvPr id="92" name="Shape 89"/>
          <p:cNvSpPr/>
          <p:nvPr/>
        </p:nvSpPr>
        <p:spPr>
          <a:xfrm>
            <a:off x="4754880" y="4096512"/>
            <a:ext cx="36576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3" name="Text 90"/>
          <p:cNvSpPr/>
          <p:nvPr/>
        </p:nvSpPr>
        <p:spPr>
          <a:xfrm>
            <a:off x="4754880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800" dirty="0"/>
          </a:p>
        </p:txBody>
      </p:sp>
      <p:sp>
        <p:nvSpPr>
          <p:cNvPr id="94" name="Shape 91"/>
          <p:cNvSpPr/>
          <p:nvPr/>
        </p:nvSpPr>
        <p:spPr>
          <a:xfrm>
            <a:off x="5120640" y="409651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5212080" y="414223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분절 가속 순서 결함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골반→몸통→팔 시퀀스 어긋남  ·  손실 -0.6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분절 가속 타이밍 훈련 (medicine ball 회전)</a:t>
            </a:r>
            <a:endParaRPr lang="en-US" sz="1100" dirty="0"/>
          </a:p>
        </p:txBody>
      </p:sp>
      <p:sp>
        <p:nvSpPr>
          <p:cNvPr id="96" name="Shape 93"/>
          <p:cNvSpPr/>
          <p:nvPr/>
        </p:nvSpPr>
        <p:spPr>
          <a:xfrm>
            <a:off x="365760" y="4823460"/>
            <a:ext cx="8412480" cy="0"/>
          </a:xfrm>
          <a:prstGeom prst="line">
            <a:avLst/>
          </a:prstGeom>
          <a:noFill/>
          <a:ln w="6350">
            <a:solidFill>
              <a:srgbClr val="D0D7DE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365760" y="48691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상동고 투구 리포트 · 1차 측정 (2026-05-15)</a:t>
            </a:r>
            <a:endParaRPr lang="en-US" sz="800" dirty="0"/>
          </a:p>
        </p:txBody>
      </p:sp>
      <p:sp>
        <p:nvSpPr>
          <p:cNvPr id="98" name="Text 95"/>
          <p:cNvSpPr/>
          <p:nvPr/>
        </p:nvSpPr>
        <p:spPr>
          <a:xfrm>
            <a:off x="365760" y="48691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국민대 BBL · analytics v2.1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P10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1645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선수10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좌투 · 175cm · 71kg · 1차 (2026-05-15)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0" y="182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종합 51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0" y="502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" y="960120"/>
            <a:ext cx="45720" cy="868680"/>
          </a:xfrm>
          <a:prstGeom prst="rect">
            <a:avLst/>
          </a:prstGeom>
          <a:solidFill>
            <a:srgbClr val="0969DA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측정 구속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118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130.4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0302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km/h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118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평균 그룹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98882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88820" y="960120"/>
            <a:ext cx="45720" cy="868680"/>
          </a:xfrm>
          <a:prstGeom prst="rect">
            <a:avLst/>
          </a:prstGeom>
          <a:solidFill>
            <a:srgbClr val="BC4C00"/>
          </a:solidFill>
          <a:ln/>
        </p:spPr>
      </p:sp>
      <p:sp>
        <p:nvSpPr>
          <p:cNvPr id="16" name="Text 14"/>
          <p:cNvSpPr/>
          <p:nvPr/>
        </p:nvSpPr>
        <p:spPr>
          <a:xfrm>
            <a:off x="209854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체력 Ceiling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9854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C4C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133.7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04038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km/h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9854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Predicted Velo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72618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26180" y="960120"/>
            <a:ext cx="45720" cy="868680"/>
          </a:xfrm>
          <a:prstGeom prst="rect">
            <a:avLst/>
          </a:prstGeom>
          <a:solidFill>
            <a:srgbClr val="1A7F37"/>
          </a:solidFill>
          <a:ln/>
        </p:spPr>
      </p:sp>
      <p:sp>
        <p:nvSpPr>
          <p:cNvPr id="22" name="Text 20"/>
          <p:cNvSpPr/>
          <p:nvPr/>
        </p:nvSpPr>
        <p:spPr>
          <a:xfrm>
            <a:off x="383590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⚡ 힘 만들기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3590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7F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48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77774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3590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출력 (Output)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46354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63540" y="960120"/>
            <a:ext cx="45720" cy="868680"/>
          </a:xfrm>
          <a:prstGeom prst="rect">
            <a:avLst/>
          </a:prstGeom>
          <a:solidFill>
            <a:srgbClr val="8250DF"/>
          </a:solidFill>
          <a:ln/>
        </p:spPr>
      </p:sp>
      <p:sp>
        <p:nvSpPr>
          <p:cNvPr id="28" name="Text 26"/>
          <p:cNvSpPr/>
          <p:nvPr/>
        </p:nvSpPr>
        <p:spPr>
          <a:xfrm>
            <a:off x="557326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🔗 힘 전달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7326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250D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46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51510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7326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전달 (Transfer)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20090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00900" y="960120"/>
            <a:ext cx="45720" cy="868680"/>
          </a:xfrm>
          <a:prstGeom prst="rect">
            <a:avLst/>
          </a:prstGeom>
          <a:solidFill>
            <a:srgbClr val="CF222E"/>
          </a:solidFill>
          <a:ln/>
        </p:spPr>
      </p:sp>
      <p:sp>
        <p:nvSpPr>
          <p:cNvPr id="34" name="Text 32"/>
          <p:cNvSpPr/>
          <p:nvPr/>
        </p:nvSpPr>
        <p:spPr>
          <a:xfrm>
            <a:off x="731062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💧 힘 보존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1062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60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825246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1062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누수 관리 (역 ELI)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51460" y="1920240"/>
            <a:ext cx="8641080" cy="274320"/>
          </a:xfrm>
          <a:prstGeom prst="rect">
            <a:avLst/>
          </a:prstGeom>
          <a:solidFill>
            <a:srgbClr val="F6F8FA"/>
          </a:solidFill>
          <a:ln w="5080">
            <a:solidFill>
              <a:srgbClr val="D0D7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194767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부상위험: </a:t>
            </a:r>
            <a:pPr indent="0" marL="0">
              <a:buNone/>
            </a:pPr>
            <a:r>
              <a:rPr lang="en-US" sz="1000" dirty="0">
                <a:solidFill>
                  <a:srgbClr val="1A7F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낮음  |  </a:t>
            </a:r>
            <a:pPr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메카닉 효율 (AE): </a:t>
            </a:r>
            <a:pPr indent="0" marL="0">
              <a:buNone/>
            </a:pPr>
            <a:r>
              <a:rPr lang="en-US" sz="100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⚠ 메카닉 발달 여지  (-3.3 km/h)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22860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관절 분절 시퀀스 (피크 회전속도)</a:t>
            </a:r>
            <a:endParaRPr lang="en-US" sz="1050" dirty="0"/>
          </a:p>
        </p:txBody>
      </p:sp>
      <p:graphicFrame>
        <p:nvGraphicFramePr>
          <p:cNvPr id="41" name="Chart 0" descr=""/>
          <p:cNvGraphicFramePr/>
          <p:nvPr/>
        </p:nvGraphicFramePr>
        <p:xfrm>
          <a:off x="365760" y="2542032"/>
          <a:ext cx="420624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2" name="Shape 39"/>
          <p:cNvSpPr/>
          <p:nvPr/>
        </p:nvSpPr>
        <p:spPr>
          <a:xfrm>
            <a:off x="365760" y="4023360"/>
            <a:ext cx="4206240" cy="1005840"/>
          </a:xfrm>
          <a:prstGeom prst="rect">
            <a:avLst/>
          </a:prstGeom>
          <a:solidFill>
            <a:srgbClr val="FAFBFC"/>
          </a:solidFill>
          <a:ln w="19050">
            <a:solidFill>
              <a:srgbClr val="CF222E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57200" y="4069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📊 자동 진단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457200" y="42611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메카닉 비효율로 체력 잠재력 미발현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57200" y="46268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💡 3.3 km/h 만큼 메카닉 교정 잠재력. ELI 인과 chain Top 3 즉시 적용.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2423160" y="4114800"/>
            <a:ext cx="0" cy="868680"/>
          </a:xfrm>
          <a:prstGeom prst="line">
            <a:avLst/>
          </a:prstGeom>
          <a:noFill/>
          <a:ln w="6350">
            <a:solidFill>
              <a:srgbClr val="D0D7DE"/>
            </a:solidFill>
            <a:prstDash val="dash"/>
          </a:ln>
        </p:spPr>
      </p:sp>
      <p:sp>
        <p:nvSpPr>
          <p:cNvPr id="47" name="Text 44"/>
          <p:cNvSpPr/>
          <p:nvPr/>
        </p:nvSpPr>
        <p:spPr>
          <a:xfrm>
            <a:off x="2514600" y="40690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C4C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💪 체력 5 변수 (본인 ▼ vs Velo Group)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2514600" y="4242816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CMJ JH</a:t>
            </a:r>
            <a:endParaRPr lang="en-US" sz="750" dirty="0"/>
          </a:p>
        </p:txBody>
      </p:sp>
      <p:sp>
        <p:nvSpPr>
          <p:cNvPr id="49" name="Shape 46"/>
          <p:cNvSpPr/>
          <p:nvPr/>
        </p:nvSpPr>
        <p:spPr>
          <a:xfrm>
            <a:off x="3108960" y="4283964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3383280" y="4283964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3657600" y="4283964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3931920" y="4283964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3722522" y="4265676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251960" y="4242816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39.5 cm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2514600" y="4389120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CMJ PP</a:t>
            </a:r>
            <a:endParaRPr lang="en-US" sz="750" dirty="0"/>
          </a:p>
        </p:txBody>
      </p:sp>
      <p:sp>
        <p:nvSpPr>
          <p:cNvPr id="56" name="Shape 53"/>
          <p:cNvSpPr/>
          <p:nvPr/>
        </p:nvSpPr>
        <p:spPr>
          <a:xfrm>
            <a:off x="3108960" y="4430268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3383280" y="4430268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3657600" y="4430268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3931920" y="4430268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4183380" y="4411980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4251960" y="4389120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38.5 W/kg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2514600" y="4535424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IMTP</a:t>
            </a:r>
            <a:endParaRPr 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3108960" y="4576572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3383280" y="4576572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3657600" y="4576572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3931920" y="4576572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67" name="Shape 64"/>
          <p:cNvSpPr/>
          <p:nvPr/>
        </p:nvSpPr>
        <p:spPr>
          <a:xfrm>
            <a:off x="3621831" y="4558284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4251960" y="4535424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26.3 N/kg</a:t>
            </a:r>
            <a:endParaRPr lang="en-US" sz="750" dirty="0"/>
          </a:p>
        </p:txBody>
      </p:sp>
      <p:sp>
        <p:nvSpPr>
          <p:cNvPr id="69" name="Text 66"/>
          <p:cNvSpPr/>
          <p:nvPr/>
        </p:nvSpPr>
        <p:spPr>
          <a:xfrm>
            <a:off x="2514600" y="4681728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Hop RSI</a:t>
            </a:r>
            <a:endParaRPr lang="en-US" sz="750" dirty="0"/>
          </a:p>
        </p:txBody>
      </p:sp>
      <p:sp>
        <p:nvSpPr>
          <p:cNvPr id="70" name="Shape 67"/>
          <p:cNvSpPr/>
          <p:nvPr/>
        </p:nvSpPr>
        <p:spPr>
          <a:xfrm>
            <a:off x="3108960" y="4722876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71" name="Shape 68"/>
          <p:cNvSpPr/>
          <p:nvPr/>
        </p:nvSpPr>
        <p:spPr>
          <a:xfrm>
            <a:off x="3383280" y="4722876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72" name="Shape 69"/>
          <p:cNvSpPr/>
          <p:nvPr/>
        </p:nvSpPr>
        <p:spPr>
          <a:xfrm>
            <a:off x="3657600" y="4722876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73" name="Shape 70"/>
          <p:cNvSpPr/>
          <p:nvPr/>
        </p:nvSpPr>
        <p:spPr>
          <a:xfrm>
            <a:off x="3931920" y="4722876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74" name="Shape 71"/>
          <p:cNvSpPr/>
          <p:nvPr/>
        </p:nvSpPr>
        <p:spPr>
          <a:xfrm>
            <a:off x="3327502" y="4704588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4251960" y="4681728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1.8</a:t>
            </a:r>
            <a:endParaRPr lang="en-US" sz="750" dirty="0"/>
          </a:p>
        </p:txBody>
      </p:sp>
      <p:sp>
        <p:nvSpPr>
          <p:cNvPr id="76" name="Text 73"/>
          <p:cNvSpPr/>
          <p:nvPr/>
        </p:nvSpPr>
        <p:spPr>
          <a:xfrm>
            <a:off x="2514600" y="4828032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Grip</a:t>
            </a:r>
            <a:endParaRPr lang="en-US" sz="750" dirty="0"/>
          </a:p>
        </p:txBody>
      </p:sp>
      <p:sp>
        <p:nvSpPr>
          <p:cNvPr id="77" name="Shape 74"/>
          <p:cNvSpPr/>
          <p:nvPr/>
        </p:nvSpPr>
        <p:spPr>
          <a:xfrm>
            <a:off x="3108960" y="4869180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78" name="Shape 75"/>
          <p:cNvSpPr/>
          <p:nvPr/>
        </p:nvSpPr>
        <p:spPr>
          <a:xfrm>
            <a:off x="3383280" y="4869180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79" name="Shape 76"/>
          <p:cNvSpPr/>
          <p:nvPr/>
        </p:nvSpPr>
        <p:spPr>
          <a:xfrm>
            <a:off x="3657600" y="4869180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80" name="Shape 77"/>
          <p:cNvSpPr/>
          <p:nvPr/>
        </p:nvSpPr>
        <p:spPr>
          <a:xfrm>
            <a:off x="3931920" y="4869180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81" name="Shape 78"/>
          <p:cNvSpPr/>
          <p:nvPr/>
        </p:nvSpPr>
        <p:spPr>
          <a:xfrm>
            <a:off x="3525012" y="4850892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4251960" y="4828032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55.0 kg</a:t>
            </a:r>
            <a:endParaRPr lang="en-US" sz="750" dirty="0"/>
          </a:p>
        </p:txBody>
      </p:sp>
      <p:sp>
        <p:nvSpPr>
          <p:cNvPr id="83" name="Text 80"/>
          <p:cNvSpPr/>
          <p:nvPr/>
        </p:nvSpPr>
        <p:spPr>
          <a:xfrm>
            <a:off x="4754880" y="22860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💧 누수 인과 분석 (Top 3) — Per 1 km/h</a:t>
            </a:r>
            <a:endParaRPr lang="en-US" sz="1050" dirty="0"/>
          </a:p>
        </p:txBody>
      </p:sp>
      <p:sp>
        <p:nvSpPr>
          <p:cNvPr id="84" name="Shape 81"/>
          <p:cNvSpPr/>
          <p:nvPr/>
        </p:nvSpPr>
        <p:spPr>
          <a:xfrm>
            <a:off x="4754880" y="2542032"/>
            <a:ext cx="365760" cy="685800"/>
          </a:xfrm>
          <a:prstGeom prst="rect">
            <a:avLst/>
          </a:prstGeom>
          <a:solidFill>
            <a:srgbClr val="CF222E"/>
          </a:solidFill>
          <a:ln/>
        </p:spPr>
      </p:sp>
      <p:sp>
        <p:nvSpPr>
          <p:cNvPr id="85" name="Text 82"/>
          <p:cNvSpPr/>
          <p:nvPr/>
        </p:nvSpPr>
        <p:spPr>
          <a:xfrm>
            <a:off x="4754880" y="2706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800" dirty="0"/>
          </a:p>
        </p:txBody>
      </p:sp>
      <p:sp>
        <p:nvSpPr>
          <p:cNvPr id="86" name="Shape 83"/>
          <p:cNvSpPr/>
          <p:nvPr/>
        </p:nvSpPr>
        <p:spPr>
          <a:xfrm>
            <a:off x="5120640" y="254203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5212080" y="258775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Lead knee collapse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앞발 받쳐주기 약함  ·  손실 -1.6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Lead leg 강화 — 단일하지 박스점프, 제자리 깊은 스쿼트</a:t>
            </a:r>
            <a:endParaRPr lang="en-US" sz="1100" dirty="0"/>
          </a:p>
        </p:txBody>
      </p:sp>
      <p:sp>
        <p:nvSpPr>
          <p:cNvPr id="88" name="Shape 85"/>
          <p:cNvSpPr/>
          <p:nvPr/>
        </p:nvSpPr>
        <p:spPr>
          <a:xfrm>
            <a:off x="4754880" y="3319272"/>
            <a:ext cx="365760" cy="685800"/>
          </a:xfrm>
          <a:prstGeom prst="rect">
            <a:avLst/>
          </a:prstGeom>
          <a:solidFill>
            <a:srgbClr val="BF8700"/>
          </a:solidFill>
          <a:ln/>
        </p:spPr>
      </p:sp>
      <p:sp>
        <p:nvSpPr>
          <p:cNvPr id="89" name="Text 86"/>
          <p:cNvSpPr/>
          <p:nvPr/>
        </p:nvSpPr>
        <p:spPr>
          <a:xfrm>
            <a:off x="4754880" y="3483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800" dirty="0"/>
          </a:p>
        </p:txBody>
      </p:sp>
      <p:sp>
        <p:nvSpPr>
          <p:cNvPr id="90" name="Shape 87"/>
          <p:cNvSpPr/>
          <p:nvPr/>
        </p:nvSpPr>
        <p:spPr>
          <a:xfrm>
            <a:off x="5120640" y="331927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5212080" y="336499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분절 가속 순서 결함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골반→몸통→팔 시퀀스 어긋남  ·  손실 -1.4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분절 가속 타이밍 훈련 (medicine ball 회전)</a:t>
            </a:r>
            <a:endParaRPr lang="en-US" sz="1100" dirty="0"/>
          </a:p>
        </p:txBody>
      </p:sp>
      <p:sp>
        <p:nvSpPr>
          <p:cNvPr id="92" name="Shape 89"/>
          <p:cNvSpPr/>
          <p:nvPr/>
        </p:nvSpPr>
        <p:spPr>
          <a:xfrm>
            <a:off x="4754880" y="4096512"/>
            <a:ext cx="36576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3" name="Text 90"/>
          <p:cNvSpPr/>
          <p:nvPr/>
        </p:nvSpPr>
        <p:spPr>
          <a:xfrm>
            <a:off x="4754880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800" dirty="0"/>
          </a:p>
        </p:txBody>
      </p:sp>
      <p:sp>
        <p:nvSpPr>
          <p:cNvPr id="94" name="Shape 91"/>
          <p:cNvSpPr/>
          <p:nvPr/>
        </p:nvSpPr>
        <p:spPr>
          <a:xfrm>
            <a:off x="5120640" y="409651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5212080" y="414223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Pelvis braking 부족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골반 감속 부족  ·  손실 -0.6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Pelvis brake — 단일하지 RFE 스플릿 스쿼트, 디셀러레이션 드릴</a:t>
            </a:r>
            <a:endParaRPr lang="en-US" sz="1100" dirty="0"/>
          </a:p>
        </p:txBody>
      </p:sp>
      <p:sp>
        <p:nvSpPr>
          <p:cNvPr id="96" name="Shape 93"/>
          <p:cNvSpPr/>
          <p:nvPr/>
        </p:nvSpPr>
        <p:spPr>
          <a:xfrm>
            <a:off x="365760" y="4823460"/>
            <a:ext cx="8412480" cy="0"/>
          </a:xfrm>
          <a:prstGeom prst="line">
            <a:avLst/>
          </a:prstGeom>
          <a:noFill/>
          <a:ln w="6350">
            <a:solidFill>
              <a:srgbClr val="D0D7DE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365760" y="48691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상동고 투구 리포트 · 1차 측정 (2026-05-15)</a:t>
            </a:r>
            <a:endParaRPr lang="en-US" sz="800" dirty="0"/>
          </a:p>
        </p:txBody>
      </p:sp>
      <p:sp>
        <p:nvSpPr>
          <p:cNvPr id="98" name="Text 95"/>
          <p:cNvSpPr/>
          <p:nvPr/>
        </p:nvSpPr>
        <p:spPr>
          <a:xfrm>
            <a:off x="365760" y="48691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국민대 BBL · analytics v2.1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P11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1645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선수11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우투 · 183cm · 81kg · 1차 (2026-05-15)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0" y="182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종합 58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0" y="502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" y="960120"/>
            <a:ext cx="45720" cy="868680"/>
          </a:xfrm>
          <a:prstGeom prst="rect">
            <a:avLst/>
          </a:prstGeom>
          <a:solidFill>
            <a:srgbClr val="0969DA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측정 구속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118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132.5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0302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km/h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118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평균 그룹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98882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88820" y="960120"/>
            <a:ext cx="45720" cy="868680"/>
          </a:xfrm>
          <a:prstGeom prst="rect">
            <a:avLst/>
          </a:prstGeom>
          <a:solidFill>
            <a:srgbClr val="BC4C00"/>
          </a:solidFill>
          <a:ln/>
        </p:spPr>
      </p:sp>
      <p:sp>
        <p:nvSpPr>
          <p:cNvPr id="16" name="Text 14"/>
          <p:cNvSpPr/>
          <p:nvPr/>
        </p:nvSpPr>
        <p:spPr>
          <a:xfrm>
            <a:off x="209854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체력 Ceiling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9854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C4C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136.2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04038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km/h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9854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Predicted Velo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72618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26180" y="960120"/>
            <a:ext cx="45720" cy="868680"/>
          </a:xfrm>
          <a:prstGeom prst="rect">
            <a:avLst/>
          </a:prstGeom>
          <a:solidFill>
            <a:srgbClr val="1A7F37"/>
          </a:solidFill>
          <a:ln/>
        </p:spPr>
      </p:sp>
      <p:sp>
        <p:nvSpPr>
          <p:cNvPr id="22" name="Text 20"/>
          <p:cNvSpPr/>
          <p:nvPr/>
        </p:nvSpPr>
        <p:spPr>
          <a:xfrm>
            <a:off x="383590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⚡ 힘 만들기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3590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7F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77774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3590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출력 (Output)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46354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63540" y="960120"/>
            <a:ext cx="45720" cy="868680"/>
          </a:xfrm>
          <a:prstGeom prst="rect">
            <a:avLst/>
          </a:prstGeom>
          <a:solidFill>
            <a:srgbClr val="8250DF"/>
          </a:solidFill>
          <a:ln/>
        </p:spPr>
      </p:sp>
      <p:sp>
        <p:nvSpPr>
          <p:cNvPr id="28" name="Text 26"/>
          <p:cNvSpPr/>
          <p:nvPr/>
        </p:nvSpPr>
        <p:spPr>
          <a:xfrm>
            <a:off x="557326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🔗 힘 전달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7326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250D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51510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7326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전달 (Transfer)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20090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00900" y="960120"/>
            <a:ext cx="45720" cy="868680"/>
          </a:xfrm>
          <a:prstGeom prst="rect">
            <a:avLst/>
          </a:prstGeom>
          <a:solidFill>
            <a:srgbClr val="CF222E"/>
          </a:solidFill>
          <a:ln/>
        </p:spPr>
      </p:sp>
      <p:sp>
        <p:nvSpPr>
          <p:cNvPr id="34" name="Text 32"/>
          <p:cNvSpPr/>
          <p:nvPr/>
        </p:nvSpPr>
        <p:spPr>
          <a:xfrm>
            <a:off x="731062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💧 힘 보존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1062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61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825246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1062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누수 관리 (역 ELI)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51460" y="1920240"/>
            <a:ext cx="8641080" cy="274320"/>
          </a:xfrm>
          <a:prstGeom prst="rect">
            <a:avLst/>
          </a:prstGeom>
          <a:solidFill>
            <a:srgbClr val="F6F8FA"/>
          </a:solidFill>
          <a:ln w="5080">
            <a:solidFill>
              <a:srgbClr val="D0D7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194767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부상위험: </a:t>
            </a:r>
            <a:pPr indent="0" marL="0">
              <a:buNone/>
            </a:pPr>
            <a:r>
              <a:rPr lang="en-US" sz="1000" dirty="0">
                <a:solidFill>
                  <a:srgbClr val="1A7F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낮음  |  </a:t>
            </a:r>
            <a:pPr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메카닉 효율 (AE): </a:t>
            </a:r>
            <a:pPr indent="0" marL="0">
              <a:buNone/>
            </a:pPr>
            <a:r>
              <a:rPr lang="en-US" sz="100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⚠ 메카닉 발달 여지  (-3.7 km/h)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22860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관절 분절 시퀀스 (피크 회전속도)</a:t>
            </a:r>
            <a:endParaRPr lang="en-US" sz="1050" dirty="0"/>
          </a:p>
        </p:txBody>
      </p:sp>
      <p:graphicFrame>
        <p:nvGraphicFramePr>
          <p:cNvPr id="41" name="Chart 0" descr=""/>
          <p:cNvGraphicFramePr/>
          <p:nvPr/>
        </p:nvGraphicFramePr>
        <p:xfrm>
          <a:off x="365760" y="2542032"/>
          <a:ext cx="420624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2" name="Shape 39"/>
          <p:cNvSpPr/>
          <p:nvPr/>
        </p:nvSpPr>
        <p:spPr>
          <a:xfrm>
            <a:off x="365760" y="4023360"/>
            <a:ext cx="4206240" cy="1005840"/>
          </a:xfrm>
          <a:prstGeom prst="rect">
            <a:avLst/>
          </a:prstGeom>
          <a:solidFill>
            <a:srgbClr val="FAFBFC"/>
          </a:solidFill>
          <a:ln w="19050">
            <a:solidFill>
              <a:srgbClr val="CF222E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57200" y="4069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📊 자동 진단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457200" y="42611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메카닉 비효율로 체력 잠재력 미발현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57200" y="46268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💡 3.7 km/h 만큼 메카닉 교정 잠재력. ELI 인과 chain Top 3 즉시 적용.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2423160" y="4114800"/>
            <a:ext cx="0" cy="868680"/>
          </a:xfrm>
          <a:prstGeom prst="line">
            <a:avLst/>
          </a:prstGeom>
          <a:noFill/>
          <a:ln w="6350">
            <a:solidFill>
              <a:srgbClr val="D0D7DE"/>
            </a:solidFill>
            <a:prstDash val="dash"/>
          </a:ln>
        </p:spPr>
      </p:sp>
      <p:sp>
        <p:nvSpPr>
          <p:cNvPr id="47" name="Text 44"/>
          <p:cNvSpPr/>
          <p:nvPr/>
        </p:nvSpPr>
        <p:spPr>
          <a:xfrm>
            <a:off x="2514600" y="40690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C4C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💪 체력 5 변수 (본인 ▼ vs Velo Group)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2514600" y="4242816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CMJ JH</a:t>
            </a:r>
            <a:endParaRPr lang="en-US" sz="750" dirty="0"/>
          </a:p>
        </p:txBody>
      </p:sp>
      <p:sp>
        <p:nvSpPr>
          <p:cNvPr id="49" name="Shape 46"/>
          <p:cNvSpPr/>
          <p:nvPr/>
        </p:nvSpPr>
        <p:spPr>
          <a:xfrm>
            <a:off x="3108960" y="4283964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3383280" y="4283964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3657600" y="4283964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3931920" y="4283964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3731301" y="4265676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251960" y="4242816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39.7 cm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2514600" y="4389120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CMJ PP</a:t>
            </a:r>
            <a:endParaRPr lang="en-US" sz="750" dirty="0"/>
          </a:p>
        </p:txBody>
      </p:sp>
      <p:sp>
        <p:nvSpPr>
          <p:cNvPr id="56" name="Shape 53"/>
          <p:cNvSpPr/>
          <p:nvPr/>
        </p:nvSpPr>
        <p:spPr>
          <a:xfrm>
            <a:off x="3108960" y="4430268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3383280" y="4430268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3657600" y="4430268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3931920" y="4430268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4183380" y="4411980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4251960" y="4389120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38.6 W/kg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2514600" y="4535424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IMTP</a:t>
            </a:r>
            <a:endParaRPr 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3108960" y="4576572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3383280" y="4576572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3657600" y="4576572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3931920" y="4576572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67" name="Shape 64"/>
          <p:cNvSpPr/>
          <p:nvPr/>
        </p:nvSpPr>
        <p:spPr>
          <a:xfrm>
            <a:off x="3628285" y="4558284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4251960" y="4535424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26.4 N/kg</a:t>
            </a:r>
            <a:endParaRPr lang="en-US" sz="750" dirty="0"/>
          </a:p>
        </p:txBody>
      </p:sp>
      <p:sp>
        <p:nvSpPr>
          <p:cNvPr id="69" name="Text 66"/>
          <p:cNvSpPr/>
          <p:nvPr/>
        </p:nvSpPr>
        <p:spPr>
          <a:xfrm>
            <a:off x="2514600" y="4681728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Hop RSI</a:t>
            </a:r>
            <a:endParaRPr lang="en-US" sz="750" dirty="0"/>
          </a:p>
        </p:txBody>
      </p:sp>
      <p:sp>
        <p:nvSpPr>
          <p:cNvPr id="70" name="Shape 67"/>
          <p:cNvSpPr/>
          <p:nvPr/>
        </p:nvSpPr>
        <p:spPr>
          <a:xfrm>
            <a:off x="3108960" y="4722876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71" name="Shape 68"/>
          <p:cNvSpPr/>
          <p:nvPr/>
        </p:nvSpPr>
        <p:spPr>
          <a:xfrm>
            <a:off x="3383280" y="4722876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72" name="Shape 69"/>
          <p:cNvSpPr/>
          <p:nvPr/>
        </p:nvSpPr>
        <p:spPr>
          <a:xfrm>
            <a:off x="3657600" y="4722876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73" name="Shape 70"/>
          <p:cNvSpPr/>
          <p:nvPr/>
        </p:nvSpPr>
        <p:spPr>
          <a:xfrm>
            <a:off x="3931920" y="4722876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74" name="Shape 71"/>
          <p:cNvSpPr/>
          <p:nvPr/>
        </p:nvSpPr>
        <p:spPr>
          <a:xfrm>
            <a:off x="3334817" y="4704588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4251960" y="4681728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1.8</a:t>
            </a:r>
            <a:endParaRPr lang="en-US" sz="750" dirty="0"/>
          </a:p>
        </p:txBody>
      </p:sp>
      <p:sp>
        <p:nvSpPr>
          <p:cNvPr id="76" name="Text 73"/>
          <p:cNvSpPr/>
          <p:nvPr/>
        </p:nvSpPr>
        <p:spPr>
          <a:xfrm>
            <a:off x="2514600" y="4828032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Grip</a:t>
            </a:r>
            <a:endParaRPr lang="en-US" sz="750" dirty="0"/>
          </a:p>
        </p:txBody>
      </p:sp>
      <p:sp>
        <p:nvSpPr>
          <p:cNvPr id="77" name="Shape 74"/>
          <p:cNvSpPr/>
          <p:nvPr/>
        </p:nvSpPr>
        <p:spPr>
          <a:xfrm>
            <a:off x="3108960" y="4869180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78" name="Shape 75"/>
          <p:cNvSpPr/>
          <p:nvPr/>
        </p:nvSpPr>
        <p:spPr>
          <a:xfrm>
            <a:off x="3383280" y="4869180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79" name="Shape 76"/>
          <p:cNvSpPr/>
          <p:nvPr/>
        </p:nvSpPr>
        <p:spPr>
          <a:xfrm>
            <a:off x="3657600" y="4869180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80" name="Shape 77"/>
          <p:cNvSpPr/>
          <p:nvPr/>
        </p:nvSpPr>
        <p:spPr>
          <a:xfrm>
            <a:off x="3931920" y="4869180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81" name="Shape 78"/>
          <p:cNvSpPr/>
          <p:nvPr/>
        </p:nvSpPr>
        <p:spPr>
          <a:xfrm>
            <a:off x="3525012" y="4850892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4251960" y="4828032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55.0 kg</a:t>
            </a:r>
            <a:endParaRPr lang="en-US" sz="750" dirty="0"/>
          </a:p>
        </p:txBody>
      </p:sp>
      <p:sp>
        <p:nvSpPr>
          <p:cNvPr id="83" name="Text 80"/>
          <p:cNvSpPr/>
          <p:nvPr/>
        </p:nvSpPr>
        <p:spPr>
          <a:xfrm>
            <a:off x="4754880" y="22860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💧 누수 인과 분석 (Top 3) — Per 1 km/h</a:t>
            </a:r>
            <a:endParaRPr lang="en-US" sz="1050" dirty="0"/>
          </a:p>
        </p:txBody>
      </p:sp>
      <p:sp>
        <p:nvSpPr>
          <p:cNvPr id="84" name="Shape 81"/>
          <p:cNvSpPr/>
          <p:nvPr/>
        </p:nvSpPr>
        <p:spPr>
          <a:xfrm>
            <a:off x="4754880" y="2542032"/>
            <a:ext cx="365760" cy="685800"/>
          </a:xfrm>
          <a:prstGeom prst="rect">
            <a:avLst/>
          </a:prstGeom>
          <a:solidFill>
            <a:srgbClr val="CF222E"/>
          </a:solidFill>
          <a:ln/>
        </p:spPr>
      </p:sp>
      <p:sp>
        <p:nvSpPr>
          <p:cNvPr id="85" name="Text 82"/>
          <p:cNvSpPr/>
          <p:nvPr/>
        </p:nvSpPr>
        <p:spPr>
          <a:xfrm>
            <a:off x="4754880" y="2706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800" dirty="0"/>
          </a:p>
        </p:txBody>
      </p:sp>
      <p:sp>
        <p:nvSpPr>
          <p:cNvPr id="86" name="Shape 83"/>
          <p:cNvSpPr/>
          <p:nvPr/>
        </p:nvSpPr>
        <p:spPr>
          <a:xfrm>
            <a:off x="5120640" y="254203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5212080" y="258775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Lead knee collapse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앞발 받쳐주기 약함  ·  손실 -1.8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Lead leg 강화 — 단일하지 박스점프, 제자리 깊은 스쿼트</a:t>
            </a:r>
            <a:endParaRPr lang="en-US" sz="1100" dirty="0"/>
          </a:p>
        </p:txBody>
      </p:sp>
      <p:sp>
        <p:nvSpPr>
          <p:cNvPr id="88" name="Shape 85"/>
          <p:cNvSpPr/>
          <p:nvPr/>
        </p:nvSpPr>
        <p:spPr>
          <a:xfrm>
            <a:off x="4754880" y="3319272"/>
            <a:ext cx="365760" cy="685800"/>
          </a:xfrm>
          <a:prstGeom prst="rect">
            <a:avLst/>
          </a:prstGeom>
          <a:solidFill>
            <a:srgbClr val="BF8700"/>
          </a:solidFill>
          <a:ln/>
        </p:spPr>
      </p:sp>
      <p:sp>
        <p:nvSpPr>
          <p:cNvPr id="89" name="Text 86"/>
          <p:cNvSpPr/>
          <p:nvPr/>
        </p:nvSpPr>
        <p:spPr>
          <a:xfrm>
            <a:off x="4754880" y="3483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800" dirty="0"/>
          </a:p>
        </p:txBody>
      </p:sp>
      <p:sp>
        <p:nvSpPr>
          <p:cNvPr id="90" name="Shape 87"/>
          <p:cNvSpPr/>
          <p:nvPr/>
        </p:nvSpPr>
        <p:spPr>
          <a:xfrm>
            <a:off x="5120640" y="331927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5212080" y="336499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골반-상체 분리 미달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X-factor 부족  ·  손실 -0.8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X-factor 증대 — hip-shoulder 분리 stretch</a:t>
            </a:r>
            <a:endParaRPr lang="en-US" sz="1100" dirty="0"/>
          </a:p>
        </p:txBody>
      </p:sp>
      <p:sp>
        <p:nvSpPr>
          <p:cNvPr id="92" name="Shape 89"/>
          <p:cNvSpPr/>
          <p:nvPr/>
        </p:nvSpPr>
        <p:spPr>
          <a:xfrm>
            <a:off x="4754880" y="4096512"/>
            <a:ext cx="36576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3" name="Text 90"/>
          <p:cNvSpPr/>
          <p:nvPr/>
        </p:nvSpPr>
        <p:spPr>
          <a:xfrm>
            <a:off x="4754880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800" dirty="0"/>
          </a:p>
        </p:txBody>
      </p:sp>
      <p:sp>
        <p:nvSpPr>
          <p:cNvPr id="94" name="Shape 91"/>
          <p:cNvSpPr/>
          <p:nvPr/>
        </p:nvSpPr>
        <p:spPr>
          <a:xfrm>
            <a:off x="5120640" y="409651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5212080" y="414223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분절 가속 순서 결함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골반→몸통→팔 시퀀스 어긋남  ·  손실 -0.9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분절 가속 타이밍 훈련 (medicine ball 회전)</a:t>
            </a:r>
            <a:endParaRPr lang="en-US" sz="1100" dirty="0"/>
          </a:p>
        </p:txBody>
      </p:sp>
      <p:sp>
        <p:nvSpPr>
          <p:cNvPr id="96" name="Shape 93"/>
          <p:cNvSpPr/>
          <p:nvPr/>
        </p:nvSpPr>
        <p:spPr>
          <a:xfrm>
            <a:off x="365760" y="4823460"/>
            <a:ext cx="8412480" cy="0"/>
          </a:xfrm>
          <a:prstGeom prst="line">
            <a:avLst/>
          </a:prstGeom>
          <a:noFill/>
          <a:ln w="6350">
            <a:solidFill>
              <a:srgbClr val="D0D7DE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365760" y="48691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상동고 투구 리포트 · 1차 측정 (2026-05-15)</a:t>
            </a:r>
            <a:endParaRPr lang="en-US" sz="800" dirty="0"/>
          </a:p>
        </p:txBody>
      </p:sp>
      <p:sp>
        <p:nvSpPr>
          <p:cNvPr id="98" name="Text 95"/>
          <p:cNvSpPr/>
          <p:nvPr/>
        </p:nvSpPr>
        <p:spPr>
          <a:xfrm>
            <a:off x="365760" y="48691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국민대 BBL · analytics v2.1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P12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1645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선수12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우투 · 178cm · 74kg · 1차 (2026-05-15)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0" y="182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종합 65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0" y="502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" y="960120"/>
            <a:ext cx="45720" cy="868680"/>
          </a:xfrm>
          <a:prstGeom prst="rect">
            <a:avLst/>
          </a:prstGeom>
          <a:solidFill>
            <a:srgbClr val="0969DA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측정 구속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118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138.6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0302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km/h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118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Elite 그룹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98882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88820" y="960120"/>
            <a:ext cx="45720" cy="868680"/>
          </a:xfrm>
          <a:prstGeom prst="rect">
            <a:avLst/>
          </a:prstGeom>
          <a:solidFill>
            <a:srgbClr val="BC4C00"/>
          </a:solidFill>
          <a:ln/>
        </p:spPr>
      </p:sp>
      <p:sp>
        <p:nvSpPr>
          <p:cNvPr id="16" name="Text 14"/>
          <p:cNvSpPr/>
          <p:nvPr/>
        </p:nvSpPr>
        <p:spPr>
          <a:xfrm>
            <a:off x="209854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체력 Ceiling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9854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C4C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136.0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04038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km/h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9854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Predicted Velo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72618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26180" y="960120"/>
            <a:ext cx="45720" cy="868680"/>
          </a:xfrm>
          <a:prstGeom prst="rect">
            <a:avLst/>
          </a:prstGeom>
          <a:solidFill>
            <a:srgbClr val="1A7F37"/>
          </a:solidFill>
          <a:ln/>
        </p:spPr>
      </p:sp>
      <p:sp>
        <p:nvSpPr>
          <p:cNvPr id="22" name="Text 20"/>
          <p:cNvSpPr/>
          <p:nvPr/>
        </p:nvSpPr>
        <p:spPr>
          <a:xfrm>
            <a:off x="383590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⚡ 힘 만들기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3590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7F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60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77774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3590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출력 (Output)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46354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63540" y="960120"/>
            <a:ext cx="45720" cy="868680"/>
          </a:xfrm>
          <a:prstGeom prst="rect">
            <a:avLst/>
          </a:prstGeom>
          <a:solidFill>
            <a:srgbClr val="8250DF"/>
          </a:solidFill>
          <a:ln/>
        </p:spPr>
      </p:sp>
      <p:sp>
        <p:nvSpPr>
          <p:cNvPr id="28" name="Text 26"/>
          <p:cNvSpPr/>
          <p:nvPr/>
        </p:nvSpPr>
        <p:spPr>
          <a:xfrm>
            <a:off x="557326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🔗 힘 전달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7326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250D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60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51510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7326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전달 (Transfer)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20090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00900" y="960120"/>
            <a:ext cx="45720" cy="868680"/>
          </a:xfrm>
          <a:prstGeom prst="rect">
            <a:avLst/>
          </a:prstGeom>
          <a:solidFill>
            <a:srgbClr val="CF222E"/>
          </a:solidFill>
          <a:ln/>
        </p:spPr>
      </p:sp>
      <p:sp>
        <p:nvSpPr>
          <p:cNvPr id="34" name="Text 32"/>
          <p:cNvSpPr/>
          <p:nvPr/>
        </p:nvSpPr>
        <p:spPr>
          <a:xfrm>
            <a:off x="731062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💧 힘 보존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1062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74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825246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1062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누수 관리 (역 ELI)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51460" y="1920240"/>
            <a:ext cx="8641080" cy="274320"/>
          </a:xfrm>
          <a:prstGeom prst="rect">
            <a:avLst/>
          </a:prstGeom>
          <a:solidFill>
            <a:srgbClr val="F6F8FA"/>
          </a:solidFill>
          <a:ln w="5080">
            <a:solidFill>
              <a:srgbClr val="D0D7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194767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부상위험: </a:t>
            </a:r>
            <a:pPr indent="0" marL="0">
              <a:buNone/>
            </a:pPr>
            <a:r>
              <a:rPr lang="en-US" sz="1000" dirty="0">
                <a:solidFill>
                  <a:srgbClr val="1A7F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낮음  |  </a:t>
            </a:r>
            <a:pPr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메카닉 효율 (AE): </a:t>
            </a:r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● 적정  (+2.6 km/h)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22860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관절 분절 시퀀스 (피크 회전속도)</a:t>
            </a:r>
            <a:endParaRPr lang="en-US" sz="1050" dirty="0"/>
          </a:p>
        </p:txBody>
      </p:sp>
      <p:graphicFrame>
        <p:nvGraphicFramePr>
          <p:cNvPr id="41" name="Chart 0" descr=""/>
          <p:cNvGraphicFramePr/>
          <p:nvPr/>
        </p:nvGraphicFramePr>
        <p:xfrm>
          <a:off x="365760" y="2542032"/>
          <a:ext cx="420624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2" name="Shape 39"/>
          <p:cNvSpPr/>
          <p:nvPr/>
        </p:nvSpPr>
        <p:spPr>
          <a:xfrm>
            <a:off x="365760" y="4023360"/>
            <a:ext cx="4206240" cy="1005840"/>
          </a:xfrm>
          <a:prstGeom prst="rect">
            <a:avLst/>
          </a:prstGeom>
          <a:solidFill>
            <a:srgbClr val="FAFBFC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57200" y="4069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📊 자동 진단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457200" y="42611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균형 — 체력·메카닉 동시 발달 권장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57200" y="46268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💡 두 영역 병행 훈련.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2423160" y="4114800"/>
            <a:ext cx="0" cy="868680"/>
          </a:xfrm>
          <a:prstGeom prst="line">
            <a:avLst/>
          </a:prstGeom>
          <a:noFill/>
          <a:ln w="6350">
            <a:solidFill>
              <a:srgbClr val="D0D7DE"/>
            </a:solidFill>
            <a:prstDash val="dash"/>
          </a:ln>
        </p:spPr>
      </p:sp>
      <p:sp>
        <p:nvSpPr>
          <p:cNvPr id="47" name="Text 44"/>
          <p:cNvSpPr/>
          <p:nvPr/>
        </p:nvSpPr>
        <p:spPr>
          <a:xfrm>
            <a:off x="2514600" y="40690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C4C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💪 체력 5 변수 (본인 ▼ vs Velo Group)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2514600" y="4242816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CMJ JH</a:t>
            </a:r>
            <a:endParaRPr lang="en-US" sz="750" dirty="0"/>
          </a:p>
        </p:txBody>
      </p:sp>
      <p:sp>
        <p:nvSpPr>
          <p:cNvPr id="49" name="Shape 46"/>
          <p:cNvSpPr/>
          <p:nvPr/>
        </p:nvSpPr>
        <p:spPr>
          <a:xfrm>
            <a:off x="3108960" y="4283964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3383280" y="4283964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3657600" y="4283964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3931920" y="4283964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3928811" y="4265676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251960" y="4242816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44.2 cm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2514600" y="4389120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CMJ PP</a:t>
            </a:r>
            <a:endParaRPr lang="en-US" sz="750" dirty="0"/>
          </a:p>
        </p:txBody>
      </p:sp>
      <p:sp>
        <p:nvSpPr>
          <p:cNvPr id="56" name="Shape 53"/>
          <p:cNvSpPr/>
          <p:nvPr/>
        </p:nvSpPr>
        <p:spPr>
          <a:xfrm>
            <a:off x="3108960" y="4430268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3383280" y="4430268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3657600" y="4430268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3931920" y="4430268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4183380" y="4411980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4251960" y="4389120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42.8 W/kg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2514600" y="4535424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IMTP</a:t>
            </a:r>
            <a:endParaRPr 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3108960" y="4576572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3383280" y="4576572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3657600" y="4576572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3931920" y="4576572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67" name="Shape 64"/>
          <p:cNvSpPr/>
          <p:nvPr/>
        </p:nvSpPr>
        <p:spPr>
          <a:xfrm>
            <a:off x="3789650" y="4558284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4251960" y="4535424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28.9 N/kg</a:t>
            </a:r>
            <a:endParaRPr lang="en-US" sz="750" dirty="0"/>
          </a:p>
        </p:txBody>
      </p:sp>
      <p:sp>
        <p:nvSpPr>
          <p:cNvPr id="69" name="Text 66"/>
          <p:cNvSpPr/>
          <p:nvPr/>
        </p:nvSpPr>
        <p:spPr>
          <a:xfrm>
            <a:off x="2514600" y="4681728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Hop RSI</a:t>
            </a:r>
            <a:endParaRPr lang="en-US" sz="750" dirty="0"/>
          </a:p>
        </p:txBody>
      </p:sp>
      <p:sp>
        <p:nvSpPr>
          <p:cNvPr id="70" name="Shape 67"/>
          <p:cNvSpPr/>
          <p:nvPr/>
        </p:nvSpPr>
        <p:spPr>
          <a:xfrm>
            <a:off x="3108960" y="4722876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71" name="Shape 68"/>
          <p:cNvSpPr/>
          <p:nvPr/>
        </p:nvSpPr>
        <p:spPr>
          <a:xfrm>
            <a:off x="3383280" y="4722876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72" name="Shape 69"/>
          <p:cNvSpPr/>
          <p:nvPr/>
        </p:nvSpPr>
        <p:spPr>
          <a:xfrm>
            <a:off x="3657600" y="4722876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73" name="Shape 70"/>
          <p:cNvSpPr/>
          <p:nvPr/>
        </p:nvSpPr>
        <p:spPr>
          <a:xfrm>
            <a:off x="3931920" y="4722876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74" name="Shape 71"/>
          <p:cNvSpPr/>
          <p:nvPr/>
        </p:nvSpPr>
        <p:spPr>
          <a:xfrm>
            <a:off x="3517697" y="4704588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4251960" y="4681728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2.1</a:t>
            </a:r>
            <a:endParaRPr lang="en-US" sz="750" dirty="0"/>
          </a:p>
        </p:txBody>
      </p:sp>
      <p:sp>
        <p:nvSpPr>
          <p:cNvPr id="76" name="Text 73"/>
          <p:cNvSpPr/>
          <p:nvPr/>
        </p:nvSpPr>
        <p:spPr>
          <a:xfrm>
            <a:off x="2514600" y="4828032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Grip</a:t>
            </a:r>
            <a:endParaRPr lang="en-US" sz="750" dirty="0"/>
          </a:p>
        </p:txBody>
      </p:sp>
      <p:sp>
        <p:nvSpPr>
          <p:cNvPr id="77" name="Shape 74"/>
          <p:cNvSpPr/>
          <p:nvPr/>
        </p:nvSpPr>
        <p:spPr>
          <a:xfrm>
            <a:off x="3108960" y="4869180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78" name="Shape 75"/>
          <p:cNvSpPr/>
          <p:nvPr/>
        </p:nvSpPr>
        <p:spPr>
          <a:xfrm>
            <a:off x="3383280" y="4869180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79" name="Shape 76"/>
          <p:cNvSpPr/>
          <p:nvPr/>
        </p:nvSpPr>
        <p:spPr>
          <a:xfrm>
            <a:off x="3657600" y="4869180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80" name="Shape 77"/>
          <p:cNvSpPr/>
          <p:nvPr/>
        </p:nvSpPr>
        <p:spPr>
          <a:xfrm>
            <a:off x="3931920" y="4869180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81" name="Shape 78"/>
          <p:cNvSpPr/>
          <p:nvPr/>
        </p:nvSpPr>
        <p:spPr>
          <a:xfrm>
            <a:off x="3525012" y="4850892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4251960" y="4828032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55.0 kg</a:t>
            </a:r>
            <a:endParaRPr lang="en-US" sz="750" dirty="0"/>
          </a:p>
        </p:txBody>
      </p:sp>
      <p:sp>
        <p:nvSpPr>
          <p:cNvPr id="83" name="Text 80"/>
          <p:cNvSpPr/>
          <p:nvPr/>
        </p:nvSpPr>
        <p:spPr>
          <a:xfrm>
            <a:off x="4754880" y="22860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💧 누수 인과 분석 (Top 3) — Per 1 km/h</a:t>
            </a:r>
            <a:endParaRPr lang="en-US" sz="1050" dirty="0"/>
          </a:p>
        </p:txBody>
      </p:sp>
      <p:sp>
        <p:nvSpPr>
          <p:cNvPr id="84" name="Shape 81"/>
          <p:cNvSpPr/>
          <p:nvPr/>
        </p:nvSpPr>
        <p:spPr>
          <a:xfrm>
            <a:off x="4754880" y="2542032"/>
            <a:ext cx="365760" cy="685800"/>
          </a:xfrm>
          <a:prstGeom prst="rect">
            <a:avLst/>
          </a:prstGeom>
          <a:solidFill>
            <a:srgbClr val="CF222E"/>
          </a:solidFill>
          <a:ln/>
        </p:spPr>
      </p:sp>
      <p:sp>
        <p:nvSpPr>
          <p:cNvPr id="85" name="Text 82"/>
          <p:cNvSpPr/>
          <p:nvPr/>
        </p:nvSpPr>
        <p:spPr>
          <a:xfrm>
            <a:off x="4754880" y="2706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800" dirty="0"/>
          </a:p>
        </p:txBody>
      </p:sp>
      <p:sp>
        <p:nvSpPr>
          <p:cNvPr id="86" name="Shape 83"/>
          <p:cNvSpPr/>
          <p:nvPr/>
        </p:nvSpPr>
        <p:spPr>
          <a:xfrm>
            <a:off x="5120640" y="254203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5212080" y="258775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Lead knee collapse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앞발 받쳐주기 약함  ·  손실 -1.8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Lead leg 강화 — 단일하지 박스점프, 제자리 깊은 스쿼트</a:t>
            </a:r>
            <a:endParaRPr lang="en-US" sz="1100" dirty="0"/>
          </a:p>
        </p:txBody>
      </p:sp>
      <p:sp>
        <p:nvSpPr>
          <p:cNvPr id="88" name="Shape 85"/>
          <p:cNvSpPr/>
          <p:nvPr/>
        </p:nvSpPr>
        <p:spPr>
          <a:xfrm>
            <a:off x="4754880" y="3319272"/>
            <a:ext cx="365760" cy="685800"/>
          </a:xfrm>
          <a:prstGeom prst="rect">
            <a:avLst/>
          </a:prstGeom>
          <a:solidFill>
            <a:srgbClr val="BF8700"/>
          </a:solidFill>
          <a:ln/>
        </p:spPr>
      </p:sp>
      <p:sp>
        <p:nvSpPr>
          <p:cNvPr id="89" name="Text 86"/>
          <p:cNvSpPr/>
          <p:nvPr/>
        </p:nvSpPr>
        <p:spPr>
          <a:xfrm>
            <a:off x="4754880" y="3483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800" dirty="0"/>
          </a:p>
        </p:txBody>
      </p:sp>
      <p:sp>
        <p:nvSpPr>
          <p:cNvPr id="90" name="Shape 87"/>
          <p:cNvSpPr/>
          <p:nvPr/>
        </p:nvSpPr>
        <p:spPr>
          <a:xfrm>
            <a:off x="5120640" y="331927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5212080" y="336499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분절 가속 순서 결함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골반→몸통→팔 시퀀스 어긋남  ·  손실 -0.6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분절 가속 타이밍 훈련 (medicine ball 회전)</a:t>
            </a:r>
            <a:endParaRPr lang="en-US" sz="1100" dirty="0"/>
          </a:p>
        </p:txBody>
      </p:sp>
      <p:sp>
        <p:nvSpPr>
          <p:cNvPr id="92" name="Shape 89"/>
          <p:cNvSpPr/>
          <p:nvPr/>
        </p:nvSpPr>
        <p:spPr>
          <a:xfrm>
            <a:off x="4754880" y="4096512"/>
            <a:ext cx="36576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3" name="Text 90"/>
          <p:cNvSpPr/>
          <p:nvPr/>
        </p:nvSpPr>
        <p:spPr>
          <a:xfrm>
            <a:off x="4754880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800" dirty="0"/>
          </a:p>
        </p:txBody>
      </p:sp>
      <p:sp>
        <p:nvSpPr>
          <p:cNvPr id="94" name="Shape 91"/>
          <p:cNvSpPr/>
          <p:nvPr/>
        </p:nvSpPr>
        <p:spPr>
          <a:xfrm>
            <a:off x="5120640" y="409651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5212080" y="414223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Pelvis braking 부족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골반 감속 부족  ·  손실 -0.2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Pelvis brake — 단일하지 RFE 스플릿 스쿼트, 디셀러레이션 드릴</a:t>
            </a:r>
            <a:endParaRPr lang="en-US" sz="1100" dirty="0"/>
          </a:p>
        </p:txBody>
      </p:sp>
      <p:sp>
        <p:nvSpPr>
          <p:cNvPr id="96" name="Shape 93"/>
          <p:cNvSpPr/>
          <p:nvPr/>
        </p:nvSpPr>
        <p:spPr>
          <a:xfrm>
            <a:off x="365760" y="4823460"/>
            <a:ext cx="8412480" cy="0"/>
          </a:xfrm>
          <a:prstGeom prst="line">
            <a:avLst/>
          </a:prstGeom>
          <a:noFill/>
          <a:ln w="6350">
            <a:solidFill>
              <a:srgbClr val="D0D7DE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365760" y="48691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상동고 투구 리포트 · 1차 측정 (2026-05-15)</a:t>
            </a:r>
            <a:endParaRPr lang="en-US" sz="800" dirty="0"/>
          </a:p>
        </p:txBody>
      </p:sp>
      <p:sp>
        <p:nvSpPr>
          <p:cNvPr id="98" name="Text 95"/>
          <p:cNvSpPr/>
          <p:nvPr/>
        </p:nvSpPr>
        <p:spPr>
          <a:xfrm>
            <a:off x="365760" y="48691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국민대 BBL · analytics v2.1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P13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1645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선수13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우투 · 172cm · 68kg · 1차 (2026-05-15)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0" y="182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종합 72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0" y="502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" y="960120"/>
            <a:ext cx="45720" cy="868680"/>
          </a:xfrm>
          <a:prstGeom prst="rect">
            <a:avLst/>
          </a:prstGeom>
          <a:solidFill>
            <a:srgbClr val="0969DA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측정 구속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118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122.8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0302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km/h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118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미달 그룹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98882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88820" y="960120"/>
            <a:ext cx="45720" cy="868680"/>
          </a:xfrm>
          <a:prstGeom prst="rect">
            <a:avLst/>
          </a:prstGeom>
          <a:solidFill>
            <a:srgbClr val="BC4C00"/>
          </a:solidFill>
          <a:ln/>
        </p:spPr>
      </p:sp>
      <p:sp>
        <p:nvSpPr>
          <p:cNvPr id="16" name="Text 14"/>
          <p:cNvSpPr/>
          <p:nvPr/>
        </p:nvSpPr>
        <p:spPr>
          <a:xfrm>
            <a:off x="209854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체력 Ceiling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9854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C4C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138.8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04038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km/h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9854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Predicted Velo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72618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26180" y="960120"/>
            <a:ext cx="45720" cy="868680"/>
          </a:xfrm>
          <a:prstGeom prst="rect">
            <a:avLst/>
          </a:prstGeom>
          <a:solidFill>
            <a:srgbClr val="1A7F37"/>
          </a:solidFill>
          <a:ln/>
        </p:spPr>
      </p:sp>
      <p:sp>
        <p:nvSpPr>
          <p:cNvPr id="22" name="Text 20"/>
          <p:cNvSpPr/>
          <p:nvPr/>
        </p:nvSpPr>
        <p:spPr>
          <a:xfrm>
            <a:off x="383590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⚡ 힘 만들기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3590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7F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66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77774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3590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출력 (Output)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46354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63540" y="960120"/>
            <a:ext cx="45720" cy="868680"/>
          </a:xfrm>
          <a:prstGeom prst="rect">
            <a:avLst/>
          </a:prstGeom>
          <a:solidFill>
            <a:srgbClr val="8250DF"/>
          </a:solidFill>
          <a:ln/>
        </p:spPr>
      </p:sp>
      <p:sp>
        <p:nvSpPr>
          <p:cNvPr id="28" name="Text 26"/>
          <p:cNvSpPr/>
          <p:nvPr/>
        </p:nvSpPr>
        <p:spPr>
          <a:xfrm>
            <a:off x="557326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🔗 힘 전달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7326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250D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69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51510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7326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전달 (Transfer)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20090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00900" y="960120"/>
            <a:ext cx="45720" cy="868680"/>
          </a:xfrm>
          <a:prstGeom prst="rect">
            <a:avLst/>
          </a:prstGeom>
          <a:solidFill>
            <a:srgbClr val="CF222E"/>
          </a:solidFill>
          <a:ln/>
        </p:spPr>
      </p:sp>
      <p:sp>
        <p:nvSpPr>
          <p:cNvPr id="34" name="Text 32"/>
          <p:cNvSpPr/>
          <p:nvPr/>
        </p:nvSpPr>
        <p:spPr>
          <a:xfrm>
            <a:off x="731062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💧 힘 보존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1062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84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825246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1062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누수 관리 (역 ELI)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51460" y="1920240"/>
            <a:ext cx="8641080" cy="274320"/>
          </a:xfrm>
          <a:prstGeom prst="rect">
            <a:avLst/>
          </a:prstGeom>
          <a:solidFill>
            <a:srgbClr val="F6F8FA"/>
          </a:solidFill>
          <a:ln w="5080">
            <a:solidFill>
              <a:srgbClr val="D0D7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194767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부상위험: </a:t>
            </a:r>
            <a:pPr indent="0" marL="0">
              <a:buNone/>
            </a:pPr>
            <a:r>
              <a:rPr lang="en-US" sz="1000" dirty="0">
                <a:solidFill>
                  <a:srgbClr val="1A7F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낮음  |  </a:t>
            </a:r>
            <a:pPr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메카닉 효율 (AE): </a:t>
            </a:r>
            <a:pPr indent="0" marL="0">
              <a:buNone/>
            </a:pPr>
            <a:r>
              <a:rPr lang="en-US" sz="100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⚠ 메카닉 발달 여지  (-16 km/h)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22860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관절 분절 시퀀스 (피크 회전속도)</a:t>
            </a:r>
            <a:endParaRPr lang="en-US" sz="1050" dirty="0"/>
          </a:p>
        </p:txBody>
      </p:sp>
      <p:graphicFrame>
        <p:nvGraphicFramePr>
          <p:cNvPr id="41" name="Chart 0" descr=""/>
          <p:cNvGraphicFramePr/>
          <p:nvPr/>
        </p:nvGraphicFramePr>
        <p:xfrm>
          <a:off x="365760" y="2542032"/>
          <a:ext cx="420624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2" name="Shape 39"/>
          <p:cNvSpPr/>
          <p:nvPr/>
        </p:nvSpPr>
        <p:spPr>
          <a:xfrm>
            <a:off x="365760" y="4023360"/>
            <a:ext cx="4206240" cy="1005840"/>
          </a:xfrm>
          <a:prstGeom prst="rect">
            <a:avLst/>
          </a:prstGeom>
          <a:solidFill>
            <a:srgbClr val="FAFBFC"/>
          </a:solidFill>
          <a:ln w="19050">
            <a:solidFill>
              <a:srgbClr val="CF222E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57200" y="4069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📊 자동 진단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457200" y="42611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메카닉 비효율로 체력 잠재력 미발현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57200" y="46268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💡 16 km/h 만큼 메카닉 교정 잠재력. ELI 인과 chain Top 3 즉시 적용.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2423160" y="4114800"/>
            <a:ext cx="0" cy="868680"/>
          </a:xfrm>
          <a:prstGeom prst="line">
            <a:avLst/>
          </a:prstGeom>
          <a:noFill/>
          <a:ln w="6350">
            <a:solidFill>
              <a:srgbClr val="D0D7DE"/>
            </a:solidFill>
            <a:prstDash val="dash"/>
          </a:ln>
        </p:spPr>
      </p:sp>
      <p:sp>
        <p:nvSpPr>
          <p:cNvPr id="47" name="Text 44"/>
          <p:cNvSpPr/>
          <p:nvPr/>
        </p:nvSpPr>
        <p:spPr>
          <a:xfrm>
            <a:off x="2514600" y="40690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C4C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💪 체력 5 변수 (본인 ▼ vs Velo Group)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2514600" y="4242816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CMJ JH</a:t>
            </a:r>
            <a:endParaRPr lang="en-US" sz="750" dirty="0"/>
          </a:p>
        </p:txBody>
      </p:sp>
      <p:sp>
        <p:nvSpPr>
          <p:cNvPr id="49" name="Shape 46"/>
          <p:cNvSpPr/>
          <p:nvPr/>
        </p:nvSpPr>
        <p:spPr>
          <a:xfrm>
            <a:off x="3108960" y="4283964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3383280" y="4283964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3657600" y="4283964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3931920" y="4283964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4130711" y="4265676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251960" y="4242816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48.8 cm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2514600" y="4389120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CMJ PP</a:t>
            </a:r>
            <a:endParaRPr lang="en-US" sz="750" dirty="0"/>
          </a:p>
        </p:txBody>
      </p:sp>
      <p:sp>
        <p:nvSpPr>
          <p:cNvPr id="56" name="Shape 53"/>
          <p:cNvSpPr/>
          <p:nvPr/>
        </p:nvSpPr>
        <p:spPr>
          <a:xfrm>
            <a:off x="3108960" y="4430268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3383280" y="4430268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3657600" y="4430268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3931920" y="4430268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4183380" y="4411980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4251960" y="4389120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46.9 W/kg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2514600" y="4535424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IMTP</a:t>
            </a:r>
            <a:endParaRPr 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3108960" y="4576572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3383280" y="4576572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3657600" y="4576572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3931920" y="4576572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67" name="Shape 64"/>
          <p:cNvSpPr/>
          <p:nvPr/>
        </p:nvSpPr>
        <p:spPr>
          <a:xfrm>
            <a:off x="3944560" y="4558284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4251960" y="4535424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31.3 N/kg</a:t>
            </a:r>
            <a:endParaRPr lang="en-US" sz="750" dirty="0"/>
          </a:p>
        </p:txBody>
      </p:sp>
      <p:sp>
        <p:nvSpPr>
          <p:cNvPr id="69" name="Text 66"/>
          <p:cNvSpPr/>
          <p:nvPr/>
        </p:nvSpPr>
        <p:spPr>
          <a:xfrm>
            <a:off x="2514600" y="4681728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Hop RSI</a:t>
            </a:r>
            <a:endParaRPr lang="en-US" sz="750" dirty="0"/>
          </a:p>
        </p:txBody>
      </p:sp>
      <p:sp>
        <p:nvSpPr>
          <p:cNvPr id="70" name="Shape 67"/>
          <p:cNvSpPr/>
          <p:nvPr/>
        </p:nvSpPr>
        <p:spPr>
          <a:xfrm>
            <a:off x="3108960" y="4722876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71" name="Shape 68"/>
          <p:cNvSpPr/>
          <p:nvPr/>
        </p:nvSpPr>
        <p:spPr>
          <a:xfrm>
            <a:off x="3383280" y="4722876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72" name="Shape 69"/>
          <p:cNvSpPr/>
          <p:nvPr/>
        </p:nvSpPr>
        <p:spPr>
          <a:xfrm>
            <a:off x="3657600" y="4722876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73" name="Shape 70"/>
          <p:cNvSpPr/>
          <p:nvPr/>
        </p:nvSpPr>
        <p:spPr>
          <a:xfrm>
            <a:off x="3931920" y="4722876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74" name="Shape 71"/>
          <p:cNvSpPr/>
          <p:nvPr/>
        </p:nvSpPr>
        <p:spPr>
          <a:xfrm>
            <a:off x="3693262" y="4704588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4251960" y="4681728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2.3</a:t>
            </a:r>
            <a:endParaRPr lang="en-US" sz="750" dirty="0"/>
          </a:p>
        </p:txBody>
      </p:sp>
      <p:sp>
        <p:nvSpPr>
          <p:cNvPr id="76" name="Text 73"/>
          <p:cNvSpPr/>
          <p:nvPr/>
        </p:nvSpPr>
        <p:spPr>
          <a:xfrm>
            <a:off x="2514600" y="4828032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Grip</a:t>
            </a:r>
            <a:endParaRPr lang="en-US" sz="750" dirty="0"/>
          </a:p>
        </p:txBody>
      </p:sp>
      <p:sp>
        <p:nvSpPr>
          <p:cNvPr id="77" name="Shape 74"/>
          <p:cNvSpPr/>
          <p:nvPr/>
        </p:nvSpPr>
        <p:spPr>
          <a:xfrm>
            <a:off x="3108960" y="4869180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78" name="Shape 75"/>
          <p:cNvSpPr/>
          <p:nvPr/>
        </p:nvSpPr>
        <p:spPr>
          <a:xfrm>
            <a:off x="3383280" y="4869180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79" name="Shape 76"/>
          <p:cNvSpPr/>
          <p:nvPr/>
        </p:nvSpPr>
        <p:spPr>
          <a:xfrm>
            <a:off x="3657600" y="4869180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80" name="Shape 77"/>
          <p:cNvSpPr/>
          <p:nvPr/>
        </p:nvSpPr>
        <p:spPr>
          <a:xfrm>
            <a:off x="3931920" y="4869180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81" name="Shape 78"/>
          <p:cNvSpPr/>
          <p:nvPr/>
        </p:nvSpPr>
        <p:spPr>
          <a:xfrm>
            <a:off x="3525012" y="4850892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4251960" y="4828032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55.0 kg</a:t>
            </a:r>
            <a:endParaRPr lang="en-US" sz="750" dirty="0"/>
          </a:p>
        </p:txBody>
      </p:sp>
      <p:sp>
        <p:nvSpPr>
          <p:cNvPr id="83" name="Text 80"/>
          <p:cNvSpPr/>
          <p:nvPr/>
        </p:nvSpPr>
        <p:spPr>
          <a:xfrm>
            <a:off x="4754880" y="22860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💧 누수 인과 분석 (Top 3) — Per 1 km/h</a:t>
            </a:r>
            <a:endParaRPr lang="en-US" sz="1050" dirty="0"/>
          </a:p>
        </p:txBody>
      </p:sp>
      <p:sp>
        <p:nvSpPr>
          <p:cNvPr id="84" name="Shape 81"/>
          <p:cNvSpPr/>
          <p:nvPr/>
        </p:nvSpPr>
        <p:spPr>
          <a:xfrm>
            <a:off x="4754880" y="2542032"/>
            <a:ext cx="365760" cy="685800"/>
          </a:xfrm>
          <a:prstGeom prst="rect">
            <a:avLst/>
          </a:prstGeom>
          <a:solidFill>
            <a:srgbClr val="CF222E"/>
          </a:solidFill>
          <a:ln/>
        </p:spPr>
      </p:sp>
      <p:sp>
        <p:nvSpPr>
          <p:cNvPr id="85" name="Text 82"/>
          <p:cNvSpPr/>
          <p:nvPr/>
        </p:nvSpPr>
        <p:spPr>
          <a:xfrm>
            <a:off x="4754880" y="2706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800" dirty="0"/>
          </a:p>
        </p:txBody>
      </p:sp>
      <p:sp>
        <p:nvSpPr>
          <p:cNvPr id="86" name="Shape 83"/>
          <p:cNvSpPr/>
          <p:nvPr/>
        </p:nvSpPr>
        <p:spPr>
          <a:xfrm>
            <a:off x="5120640" y="254203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5212080" y="258775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분절 가속 순서 결함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골반→몸통→팔 시퀀스 어긋남  ·  손실 -1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분절 가속 타이밍 훈련 (medicine ball 회전)</a:t>
            </a:r>
            <a:endParaRPr lang="en-US" sz="1100" dirty="0"/>
          </a:p>
        </p:txBody>
      </p:sp>
      <p:sp>
        <p:nvSpPr>
          <p:cNvPr id="88" name="Shape 85"/>
          <p:cNvSpPr/>
          <p:nvPr/>
        </p:nvSpPr>
        <p:spPr>
          <a:xfrm>
            <a:off x="4754880" y="3319272"/>
            <a:ext cx="365760" cy="685800"/>
          </a:xfrm>
          <a:prstGeom prst="rect">
            <a:avLst/>
          </a:prstGeom>
          <a:solidFill>
            <a:srgbClr val="BF8700"/>
          </a:solidFill>
          <a:ln/>
        </p:spPr>
      </p:sp>
      <p:sp>
        <p:nvSpPr>
          <p:cNvPr id="89" name="Text 86"/>
          <p:cNvSpPr/>
          <p:nvPr/>
        </p:nvSpPr>
        <p:spPr>
          <a:xfrm>
            <a:off x="4754880" y="3483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800" dirty="0"/>
          </a:p>
        </p:txBody>
      </p:sp>
      <p:sp>
        <p:nvSpPr>
          <p:cNvPr id="90" name="Shape 87"/>
          <p:cNvSpPr/>
          <p:nvPr/>
        </p:nvSpPr>
        <p:spPr>
          <a:xfrm>
            <a:off x="5120640" y="331927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5212080" y="336499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골반-상체 분리 미달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X-factor 부족  ·  손실 -0.3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X-factor 증대 — hip-shoulder 분리 stretch</a:t>
            </a:r>
            <a:endParaRPr lang="en-US" sz="1100" dirty="0"/>
          </a:p>
        </p:txBody>
      </p:sp>
      <p:sp>
        <p:nvSpPr>
          <p:cNvPr id="92" name="Shape 89"/>
          <p:cNvSpPr/>
          <p:nvPr/>
        </p:nvSpPr>
        <p:spPr>
          <a:xfrm>
            <a:off x="4754880" y="4096512"/>
            <a:ext cx="36576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3" name="Text 90"/>
          <p:cNvSpPr/>
          <p:nvPr/>
        </p:nvSpPr>
        <p:spPr>
          <a:xfrm>
            <a:off x="4754880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800" dirty="0"/>
          </a:p>
        </p:txBody>
      </p:sp>
      <p:sp>
        <p:nvSpPr>
          <p:cNvPr id="94" name="Shape 91"/>
          <p:cNvSpPr/>
          <p:nvPr/>
        </p:nvSpPr>
        <p:spPr>
          <a:xfrm>
            <a:off x="5120640" y="409651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5212080" y="414223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FC 시 트렁크 기울기 부적절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앞발 착지 시 몸통 자세 불량  ·  손실 -0.1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Trunk control — anti-rotation core (palloff press)</a:t>
            </a:r>
            <a:endParaRPr lang="en-US" sz="1100" dirty="0"/>
          </a:p>
        </p:txBody>
      </p:sp>
      <p:sp>
        <p:nvSpPr>
          <p:cNvPr id="96" name="Shape 93"/>
          <p:cNvSpPr/>
          <p:nvPr/>
        </p:nvSpPr>
        <p:spPr>
          <a:xfrm>
            <a:off x="365760" y="4823460"/>
            <a:ext cx="8412480" cy="0"/>
          </a:xfrm>
          <a:prstGeom prst="line">
            <a:avLst/>
          </a:prstGeom>
          <a:noFill/>
          <a:ln w="6350">
            <a:solidFill>
              <a:srgbClr val="D0D7DE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365760" y="48691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상동고 투구 리포트 · 1차 측정 (2026-05-15)</a:t>
            </a:r>
            <a:endParaRPr lang="en-US" sz="800" dirty="0"/>
          </a:p>
        </p:txBody>
      </p:sp>
      <p:sp>
        <p:nvSpPr>
          <p:cNvPr id="98" name="Text 95"/>
          <p:cNvSpPr/>
          <p:nvPr/>
        </p:nvSpPr>
        <p:spPr>
          <a:xfrm>
            <a:off x="365760" y="48691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국민대 BBL · analytics v2.1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P14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1645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선수14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우투 · 180cm · 77kg · 1차 (2026-05-15)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0" y="182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종합 79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0" y="502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" y="960120"/>
            <a:ext cx="45720" cy="868680"/>
          </a:xfrm>
          <a:prstGeom prst="rect">
            <a:avLst/>
          </a:prstGeom>
          <a:solidFill>
            <a:srgbClr val="0969DA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측정 구속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118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124.9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0302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km/h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118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미달 그룹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98882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88820" y="960120"/>
            <a:ext cx="45720" cy="868680"/>
          </a:xfrm>
          <a:prstGeom prst="rect">
            <a:avLst/>
          </a:prstGeom>
          <a:solidFill>
            <a:srgbClr val="BC4C00"/>
          </a:solidFill>
          <a:ln/>
        </p:spPr>
      </p:sp>
      <p:sp>
        <p:nvSpPr>
          <p:cNvPr id="16" name="Text 14"/>
          <p:cNvSpPr/>
          <p:nvPr/>
        </p:nvSpPr>
        <p:spPr>
          <a:xfrm>
            <a:off x="209854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체력 Ceiling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9854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C4C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137.8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04038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km/h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9854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Predicted Velo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72618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26180" y="960120"/>
            <a:ext cx="45720" cy="868680"/>
          </a:xfrm>
          <a:prstGeom prst="rect">
            <a:avLst/>
          </a:prstGeom>
          <a:solidFill>
            <a:srgbClr val="1A7F37"/>
          </a:solidFill>
          <a:ln/>
        </p:spPr>
      </p:sp>
      <p:sp>
        <p:nvSpPr>
          <p:cNvPr id="22" name="Text 20"/>
          <p:cNvSpPr/>
          <p:nvPr/>
        </p:nvSpPr>
        <p:spPr>
          <a:xfrm>
            <a:off x="383590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⚡ 힘 만들기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3590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7F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80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77774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3590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출력 (Output)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46354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63540" y="960120"/>
            <a:ext cx="45720" cy="868680"/>
          </a:xfrm>
          <a:prstGeom prst="rect">
            <a:avLst/>
          </a:prstGeom>
          <a:solidFill>
            <a:srgbClr val="8250DF"/>
          </a:solidFill>
          <a:ln/>
        </p:spPr>
      </p:sp>
      <p:sp>
        <p:nvSpPr>
          <p:cNvPr id="28" name="Text 26"/>
          <p:cNvSpPr/>
          <p:nvPr/>
        </p:nvSpPr>
        <p:spPr>
          <a:xfrm>
            <a:off x="557326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🔗 힘 전달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7326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250D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77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51510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7326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전달 (Transfer)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20090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00900" y="960120"/>
            <a:ext cx="45720" cy="868680"/>
          </a:xfrm>
          <a:prstGeom prst="rect">
            <a:avLst/>
          </a:prstGeom>
          <a:solidFill>
            <a:srgbClr val="CF222E"/>
          </a:solidFill>
          <a:ln/>
        </p:spPr>
      </p:sp>
      <p:sp>
        <p:nvSpPr>
          <p:cNvPr id="34" name="Text 32"/>
          <p:cNvSpPr/>
          <p:nvPr/>
        </p:nvSpPr>
        <p:spPr>
          <a:xfrm>
            <a:off x="731062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💧 힘 보존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1062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71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825246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1062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누수 관리 (역 ELI)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51460" y="1920240"/>
            <a:ext cx="8641080" cy="274320"/>
          </a:xfrm>
          <a:prstGeom prst="rect">
            <a:avLst/>
          </a:prstGeom>
          <a:solidFill>
            <a:srgbClr val="F6F8FA"/>
          </a:solidFill>
          <a:ln w="5080">
            <a:solidFill>
              <a:srgbClr val="D0D7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194767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부상위험: </a:t>
            </a:r>
            <a:pPr indent="0" marL="0">
              <a:buNone/>
            </a:pPr>
            <a:r>
              <a:rPr lang="en-US" sz="1000" dirty="0">
                <a:solidFill>
                  <a:srgbClr val="1A7F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낮음  |  </a:t>
            </a:r>
            <a:pPr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메카닉 효율 (AE): </a:t>
            </a:r>
            <a:pPr indent="0" marL="0">
              <a:buNone/>
            </a:pPr>
            <a:r>
              <a:rPr lang="en-US" sz="100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⚠ 메카닉 발달 여지  (-12.9 km/h)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22860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관절 분절 시퀀스 (피크 회전속도)</a:t>
            </a:r>
            <a:endParaRPr lang="en-US" sz="1050" dirty="0"/>
          </a:p>
        </p:txBody>
      </p:sp>
      <p:graphicFrame>
        <p:nvGraphicFramePr>
          <p:cNvPr id="41" name="Chart 0" descr=""/>
          <p:cNvGraphicFramePr/>
          <p:nvPr/>
        </p:nvGraphicFramePr>
        <p:xfrm>
          <a:off x="365760" y="2542032"/>
          <a:ext cx="420624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2" name="Shape 39"/>
          <p:cNvSpPr/>
          <p:nvPr/>
        </p:nvSpPr>
        <p:spPr>
          <a:xfrm>
            <a:off x="365760" y="4023360"/>
            <a:ext cx="4206240" cy="1005840"/>
          </a:xfrm>
          <a:prstGeom prst="rect">
            <a:avLst/>
          </a:prstGeom>
          <a:solidFill>
            <a:srgbClr val="FAFBFC"/>
          </a:solidFill>
          <a:ln w="19050">
            <a:solidFill>
              <a:srgbClr val="CF222E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57200" y="4069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📊 자동 진단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457200" y="42611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메카닉 비효율로 체력 잠재력 미발현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57200" y="46268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💡 12.9 km/h 만큼 메카닉 교정 잠재력. ELI 인과 chain Top 3 즉시 적용.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2423160" y="4114800"/>
            <a:ext cx="0" cy="868680"/>
          </a:xfrm>
          <a:prstGeom prst="line">
            <a:avLst/>
          </a:prstGeom>
          <a:noFill/>
          <a:ln w="6350">
            <a:solidFill>
              <a:srgbClr val="D0D7DE"/>
            </a:solidFill>
            <a:prstDash val="dash"/>
          </a:ln>
        </p:spPr>
      </p:sp>
      <p:sp>
        <p:nvSpPr>
          <p:cNvPr id="47" name="Text 44"/>
          <p:cNvSpPr/>
          <p:nvPr/>
        </p:nvSpPr>
        <p:spPr>
          <a:xfrm>
            <a:off x="2514600" y="40690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C4C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💪 체력 5 변수 (본인 ▼ vs Velo Group)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2514600" y="4242816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CMJ JH</a:t>
            </a:r>
            <a:endParaRPr lang="en-US" sz="750" dirty="0"/>
          </a:p>
        </p:txBody>
      </p:sp>
      <p:sp>
        <p:nvSpPr>
          <p:cNvPr id="49" name="Shape 46"/>
          <p:cNvSpPr/>
          <p:nvPr/>
        </p:nvSpPr>
        <p:spPr>
          <a:xfrm>
            <a:off x="3108960" y="4283964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3383280" y="4283964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3657600" y="4283964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3931920" y="4283964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3652296" y="4265676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251960" y="4242816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37.9 cm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2514600" y="4389120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CMJ PP</a:t>
            </a:r>
            <a:endParaRPr lang="en-US" sz="750" dirty="0"/>
          </a:p>
        </p:txBody>
      </p:sp>
      <p:sp>
        <p:nvSpPr>
          <p:cNvPr id="56" name="Shape 53"/>
          <p:cNvSpPr/>
          <p:nvPr/>
        </p:nvSpPr>
        <p:spPr>
          <a:xfrm>
            <a:off x="3108960" y="4430268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3383280" y="4430268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3657600" y="4430268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3931920" y="4430268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4183380" y="4411980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4251960" y="4389120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37.0 W/kg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2514600" y="4535424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IMTP</a:t>
            </a:r>
            <a:endParaRPr 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3108960" y="4576572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3383280" y="4576572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3657600" y="4576572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3931920" y="4576572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67" name="Shape 64"/>
          <p:cNvSpPr/>
          <p:nvPr/>
        </p:nvSpPr>
        <p:spPr>
          <a:xfrm>
            <a:off x="3563740" y="4558284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4251960" y="4535424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25.4 N/kg</a:t>
            </a:r>
            <a:endParaRPr lang="en-US" sz="750" dirty="0"/>
          </a:p>
        </p:txBody>
      </p:sp>
      <p:sp>
        <p:nvSpPr>
          <p:cNvPr id="69" name="Text 66"/>
          <p:cNvSpPr/>
          <p:nvPr/>
        </p:nvSpPr>
        <p:spPr>
          <a:xfrm>
            <a:off x="2514600" y="4681728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Hop RSI</a:t>
            </a:r>
            <a:endParaRPr lang="en-US" sz="750" dirty="0"/>
          </a:p>
        </p:txBody>
      </p:sp>
      <p:sp>
        <p:nvSpPr>
          <p:cNvPr id="70" name="Shape 67"/>
          <p:cNvSpPr/>
          <p:nvPr/>
        </p:nvSpPr>
        <p:spPr>
          <a:xfrm>
            <a:off x="3108960" y="4722876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71" name="Shape 68"/>
          <p:cNvSpPr/>
          <p:nvPr/>
        </p:nvSpPr>
        <p:spPr>
          <a:xfrm>
            <a:off x="3383280" y="4722876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72" name="Shape 69"/>
          <p:cNvSpPr/>
          <p:nvPr/>
        </p:nvSpPr>
        <p:spPr>
          <a:xfrm>
            <a:off x="3657600" y="4722876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73" name="Shape 70"/>
          <p:cNvSpPr/>
          <p:nvPr/>
        </p:nvSpPr>
        <p:spPr>
          <a:xfrm>
            <a:off x="3931920" y="4722876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74" name="Shape 71"/>
          <p:cNvSpPr/>
          <p:nvPr/>
        </p:nvSpPr>
        <p:spPr>
          <a:xfrm>
            <a:off x="3261665" y="4704588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4251960" y="4681728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1.7</a:t>
            </a:r>
            <a:endParaRPr lang="en-US" sz="750" dirty="0"/>
          </a:p>
        </p:txBody>
      </p:sp>
      <p:sp>
        <p:nvSpPr>
          <p:cNvPr id="76" name="Text 73"/>
          <p:cNvSpPr/>
          <p:nvPr/>
        </p:nvSpPr>
        <p:spPr>
          <a:xfrm>
            <a:off x="2514600" y="4828032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Grip</a:t>
            </a:r>
            <a:endParaRPr lang="en-US" sz="750" dirty="0"/>
          </a:p>
        </p:txBody>
      </p:sp>
      <p:sp>
        <p:nvSpPr>
          <p:cNvPr id="77" name="Shape 74"/>
          <p:cNvSpPr/>
          <p:nvPr/>
        </p:nvSpPr>
        <p:spPr>
          <a:xfrm>
            <a:off x="3108960" y="4869180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78" name="Shape 75"/>
          <p:cNvSpPr/>
          <p:nvPr/>
        </p:nvSpPr>
        <p:spPr>
          <a:xfrm>
            <a:off x="3383280" y="4869180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79" name="Shape 76"/>
          <p:cNvSpPr/>
          <p:nvPr/>
        </p:nvSpPr>
        <p:spPr>
          <a:xfrm>
            <a:off x="3657600" y="4869180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80" name="Shape 77"/>
          <p:cNvSpPr/>
          <p:nvPr/>
        </p:nvSpPr>
        <p:spPr>
          <a:xfrm>
            <a:off x="3931920" y="4869180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81" name="Shape 78"/>
          <p:cNvSpPr/>
          <p:nvPr/>
        </p:nvSpPr>
        <p:spPr>
          <a:xfrm>
            <a:off x="3525012" y="4850892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4251960" y="4828032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55.0 kg</a:t>
            </a:r>
            <a:endParaRPr lang="en-US" sz="750" dirty="0"/>
          </a:p>
        </p:txBody>
      </p:sp>
      <p:sp>
        <p:nvSpPr>
          <p:cNvPr id="83" name="Text 80"/>
          <p:cNvSpPr/>
          <p:nvPr/>
        </p:nvSpPr>
        <p:spPr>
          <a:xfrm>
            <a:off x="4754880" y="22860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💧 누수 인과 분석 (Top 3) — Per 1 km/h</a:t>
            </a:r>
            <a:endParaRPr lang="en-US" sz="1050" dirty="0"/>
          </a:p>
        </p:txBody>
      </p:sp>
      <p:sp>
        <p:nvSpPr>
          <p:cNvPr id="84" name="Shape 81"/>
          <p:cNvSpPr/>
          <p:nvPr/>
        </p:nvSpPr>
        <p:spPr>
          <a:xfrm>
            <a:off x="4754880" y="2542032"/>
            <a:ext cx="365760" cy="685800"/>
          </a:xfrm>
          <a:prstGeom prst="rect">
            <a:avLst/>
          </a:prstGeom>
          <a:solidFill>
            <a:srgbClr val="CF222E"/>
          </a:solidFill>
          <a:ln/>
        </p:spPr>
      </p:sp>
      <p:sp>
        <p:nvSpPr>
          <p:cNvPr id="85" name="Text 82"/>
          <p:cNvSpPr/>
          <p:nvPr/>
        </p:nvSpPr>
        <p:spPr>
          <a:xfrm>
            <a:off x="4754880" y="2706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800" dirty="0"/>
          </a:p>
        </p:txBody>
      </p:sp>
      <p:sp>
        <p:nvSpPr>
          <p:cNvPr id="86" name="Shape 83"/>
          <p:cNvSpPr/>
          <p:nvPr/>
        </p:nvSpPr>
        <p:spPr>
          <a:xfrm>
            <a:off x="5120640" y="254203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5212080" y="258775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분절 가속 순서 결함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골반→몸통→팔 시퀀스 어긋남  ·  손실 -1.8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분절 가속 타이밍 훈련 (medicine ball 회전)</a:t>
            </a:r>
            <a:endParaRPr lang="en-US" sz="1100" dirty="0"/>
          </a:p>
        </p:txBody>
      </p:sp>
      <p:sp>
        <p:nvSpPr>
          <p:cNvPr id="88" name="Shape 85"/>
          <p:cNvSpPr/>
          <p:nvPr/>
        </p:nvSpPr>
        <p:spPr>
          <a:xfrm>
            <a:off x="4754880" y="3319272"/>
            <a:ext cx="365760" cy="685800"/>
          </a:xfrm>
          <a:prstGeom prst="rect">
            <a:avLst/>
          </a:prstGeom>
          <a:solidFill>
            <a:srgbClr val="BF8700"/>
          </a:solidFill>
          <a:ln/>
        </p:spPr>
      </p:sp>
      <p:sp>
        <p:nvSpPr>
          <p:cNvPr id="89" name="Text 86"/>
          <p:cNvSpPr/>
          <p:nvPr/>
        </p:nvSpPr>
        <p:spPr>
          <a:xfrm>
            <a:off x="4754880" y="3483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800" dirty="0"/>
          </a:p>
        </p:txBody>
      </p:sp>
      <p:sp>
        <p:nvSpPr>
          <p:cNvPr id="90" name="Shape 87"/>
          <p:cNvSpPr/>
          <p:nvPr/>
        </p:nvSpPr>
        <p:spPr>
          <a:xfrm>
            <a:off x="5120640" y="331927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5212080" y="336499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골반-상체 분리 미달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X-factor 부족  ·  손실 -0.7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X-factor 증대 — hip-shoulder 분리 stretch</a:t>
            </a:r>
            <a:endParaRPr lang="en-US" sz="1100" dirty="0"/>
          </a:p>
        </p:txBody>
      </p:sp>
      <p:sp>
        <p:nvSpPr>
          <p:cNvPr id="92" name="Shape 89"/>
          <p:cNvSpPr/>
          <p:nvPr/>
        </p:nvSpPr>
        <p:spPr>
          <a:xfrm>
            <a:off x="4754880" y="4096512"/>
            <a:ext cx="36576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3" name="Text 90"/>
          <p:cNvSpPr/>
          <p:nvPr/>
        </p:nvSpPr>
        <p:spPr>
          <a:xfrm>
            <a:off x="4754880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800" dirty="0"/>
          </a:p>
        </p:txBody>
      </p:sp>
      <p:sp>
        <p:nvSpPr>
          <p:cNvPr id="94" name="Shape 91"/>
          <p:cNvSpPr/>
          <p:nvPr/>
        </p:nvSpPr>
        <p:spPr>
          <a:xfrm>
            <a:off x="5120640" y="409651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5212080" y="414223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Shoulder ER 부적절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어깨 ER 부족 / 과도  ·  손실 -0.3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Shoulder ER ROM — sleeper stretch + cuff 강화</a:t>
            </a:r>
            <a:endParaRPr lang="en-US" sz="1100" dirty="0"/>
          </a:p>
        </p:txBody>
      </p:sp>
      <p:sp>
        <p:nvSpPr>
          <p:cNvPr id="96" name="Shape 93"/>
          <p:cNvSpPr/>
          <p:nvPr/>
        </p:nvSpPr>
        <p:spPr>
          <a:xfrm>
            <a:off x="365760" y="4823460"/>
            <a:ext cx="8412480" cy="0"/>
          </a:xfrm>
          <a:prstGeom prst="line">
            <a:avLst/>
          </a:prstGeom>
          <a:noFill/>
          <a:ln w="6350">
            <a:solidFill>
              <a:srgbClr val="D0D7DE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365760" y="48691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상동고 투구 리포트 · 1차 측정 (2026-05-15)</a:t>
            </a:r>
            <a:endParaRPr lang="en-US" sz="800" dirty="0"/>
          </a:p>
        </p:txBody>
      </p:sp>
      <p:sp>
        <p:nvSpPr>
          <p:cNvPr id="98" name="Text 95"/>
          <p:cNvSpPr/>
          <p:nvPr/>
        </p:nvSpPr>
        <p:spPr>
          <a:xfrm>
            <a:off x="365760" y="48691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국민대 BBL · analytics v2.1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P15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1645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선수15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좌투 · 185cm · 84kg · 1차 (2026-05-15)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0" y="182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종합 51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0" y="502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" y="960120"/>
            <a:ext cx="45720" cy="868680"/>
          </a:xfrm>
          <a:prstGeom prst="rect">
            <a:avLst/>
          </a:prstGeom>
          <a:solidFill>
            <a:srgbClr val="0969DA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측정 구속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118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131.0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0302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km/h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118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평균 그룹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98882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88820" y="960120"/>
            <a:ext cx="45720" cy="868680"/>
          </a:xfrm>
          <a:prstGeom prst="rect">
            <a:avLst/>
          </a:prstGeom>
          <a:solidFill>
            <a:srgbClr val="BC4C00"/>
          </a:solidFill>
          <a:ln/>
        </p:spPr>
      </p:sp>
      <p:sp>
        <p:nvSpPr>
          <p:cNvPr id="16" name="Text 14"/>
          <p:cNvSpPr/>
          <p:nvPr/>
        </p:nvSpPr>
        <p:spPr>
          <a:xfrm>
            <a:off x="209854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체력 Ceiling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9854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C4C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139.7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04038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km/h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9854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Predicted Velo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72618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26180" y="960120"/>
            <a:ext cx="45720" cy="868680"/>
          </a:xfrm>
          <a:prstGeom prst="rect">
            <a:avLst/>
          </a:prstGeom>
          <a:solidFill>
            <a:srgbClr val="1A7F37"/>
          </a:solidFill>
          <a:ln/>
        </p:spPr>
      </p:sp>
      <p:sp>
        <p:nvSpPr>
          <p:cNvPr id="22" name="Text 20"/>
          <p:cNvSpPr/>
          <p:nvPr/>
        </p:nvSpPr>
        <p:spPr>
          <a:xfrm>
            <a:off x="383590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⚡ 힘 만들기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3590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7F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51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77774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3590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출력 (Output)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46354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63540" y="960120"/>
            <a:ext cx="45720" cy="868680"/>
          </a:xfrm>
          <a:prstGeom prst="rect">
            <a:avLst/>
          </a:prstGeom>
          <a:solidFill>
            <a:srgbClr val="8250DF"/>
          </a:solidFill>
          <a:ln/>
        </p:spPr>
      </p:sp>
      <p:sp>
        <p:nvSpPr>
          <p:cNvPr id="28" name="Text 26"/>
          <p:cNvSpPr/>
          <p:nvPr/>
        </p:nvSpPr>
        <p:spPr>
          <a:xfrm>
            <a:off x="557326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🔗 힘 전달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7326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250D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50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51510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7326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전달 (Transfer)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20090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00900" y="960120"/>
            <a:ext cx="45720" cy="868680"/>
          </a:xfrm>
          <a:prstGeom prst="rect">
            <a:avLst/>
          </a:prstGeom>
          <a:solidFill>
            <a:srgbClr val="CF222E"/>
          </a:solidFill>
          <a:ln/>
        </p:spPr>
      </p:sp>
      <p:sp>
        <p:nvSpPr>
          <p:cNvPr id="34" name="Text 32"/>
          <p:cNvSpPr/>
          <p:nvPr/>
        </p:nvSpPr>
        <p:spPr>
          <a:xfrm>
            <a:off x="731062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💧 힘 보존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1062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55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825246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1062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누수 관리 (역 ELI)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51460" y="1920240"/>
            <a:ext cx="8641080" cy="274320"/>
          </a:xfrm>
          <a:prstGeom prst="rect">
            <a:avLst/>
          </a:prstGeom>
          <a:solidFill>
            <a:srgbClr val="F6F8FA"/>
          </a:solidFill>
          <a:ln w="5080">
            <a:solidFill>
              <a:srgbClr val="D0D7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194767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부상위험: </a:t>
            </a:r>
            <a:pPr indent="0" marL="0">
              <a:buNone/>
            </a:pPr>
            <a:r>
              <a:rPr lang="en-US" sz="1000" dirty="0">
                <a:solidFill>
                  <a:srgbClr val="1A7F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낮음  |  </a:t>
            </a:r>
            <a:pPr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메카닉 효율 (AE): </a:t>
            </a:r>
            <a:pPr indent="0" marL="0">
              <a:buNone/>
            </a:pPr>
            <a:r>
              <a:rPr lang="en-US" sz="100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⚠ 메카닉 발달 여지  (-8.7 km/h)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22860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관절 분절 시퀀스 (피크 회전속도)</a:t>
            </a:r>
            <a:endParaRPr lang="en-US" sz="1050" dirty="0"/>
          </a:p>
        </p:txBody>
      </p:sp>
      <p:graphicFrame>
        <p:nvGraphicFramePr>
          <p:cNvPr id="41" name="Chart 0" descr=""/>
          <p:cNvGraphicFramePr/>
          <p:nvPr/>
        </p:nvGraphicFramePr>
        <p:xfrm>
          <a:off x="365760" y="2542032"/>
          <a:ext cx="420624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2" name="Shape 39"/>
          <p:cNvSpPr/>
          <p:nvPr/>
        </p:nvSpPr>
        <p:spPr>
          <a:xfrm>
            <a:off x="365760" y="4023360"/>
            <a:ext cx="4206240" cy="1005840"/>
          </a:xfrm>
          <a:prstGeom prst="rect">
            <a:avLst/>
          </a:prstGeom>
          <a:solidFill>
            <a:srgbClr val="FAFBFC"/>
          </a:solidFill>
          <a:ln w="19050">
            <a:solidFill>
              <a:srgbClr val="CF222E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57200" y="4069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📊 자동 진단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457200" y="42611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메카닉 비효율로 체력 잠재력 미발현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57200" y="46268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💡 8.7 km/h 만큼 메카닉 교정 잠재력. ELI 인과 chain Top 3 즉시 적용.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2423160" y="4114800"/>
            <a:ext cx="0" cy="868680"/>
          </a:xfrm>
          <a:prstGeom prst="line">
            <a:avLst/>
          </a:prstGeom>
          <a:noFill/>
          <a:ln w="6350">
            <a:solidFill>
              <a:srgbClr val="D0D7DE"/>
            </a:solidFill>
            <a:prstDash val="dash"/>
          </a:ln>
        </p:spPr>
      </p:sp>
      <p:sp>
        <p:nvSpPr>
          <p:cNvPr id="47" name="Text 44"/>
          <p:cNvSpPr/>
          <p:nvPr/>
        </p:nvSpPr>
        <p:spPr>
          <a:xfrm>
            <a:off x="2514600" y="40690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C4C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💪 체력 5 변수 (본인 ▼ vs Velo Group)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2514600" y="4242816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CMJ JH</a:t>
            </a:r>
            <a:endParaRPr lang="en-US" sz="750" dirty="0"/>
          </a:p>
        </p:txBody>
      </p:sp>
      <p:sp>
        <p:nvSpPr>
          <p:cNvPr id="49" name="Shape 46"/>
          <p:cNvSpPr/>
          <p:nvPr/>
        </p:nvSpPr>
        <p:spPr>
          <a:xfrm>
            <a:off x="3108960" y="4283964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3383280" y="4283964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3657600" y="4283964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3931920" y="4283964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3854196" y="4265676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251960" y="4242816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42.5 cm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2514600" y="4389120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CMJ PP</a:t>
            </a:r>
            <a:endParaRPr lang="en-US" sz="750" dirty="0"/>
          </a:p>
        </p:txBody>
      </p:sp>
      <p:sp>
        <p:nvSpPr>
          <p:cNvPr id="56" name="Shape 53"/>
          <p:cNvSpPr/>
          <p:nvPr/>
        </p:nvSpPr>
        <p:spPr>
          <a:xfrm>
            <a:off x="3108960" y="4430268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3383280" y="4430268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3657600" y="4430268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3931920" y="4430268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4183380" y="4411980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4251960" y="4389120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41.2 W/kg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2514600" y="4535424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IMTP</a:t>
            </a:r>
            <a:endParaRPr 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3108960" y="4576572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3383280" y="4576572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3657600" y="4576572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3931920" y="4576572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67" name="Shape 64"/>
          <p:cNvSpPr/>
          <p:nvPr/>
        </p:nvSpPr>
        <p:spPr>
          <a:xfrm>
            <a:off x="3725104" y="4558284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4251960" y="4535424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27.9 N/kg</a:t>
            </a:r>
            <a:endParaRPr lang="en-US" sz="750" dirty="0"/>
          </a:p>
        </p:txBody>
      </p:sp>
      <p:sp>
        <p:nvSpPr>
          <p:cNvPr id="69" name="Text 66"/>
          <p:cNvSpPr/>
          <p:nvPr/>
        </p:nvSpPr>
        <p:spPr>
          <a:xfrm>
            <a:off x="2514600" y="4681728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Hop RSI</a:t>
            </a:r>
            <a:endParaRPr lang="en-US" sz="750" dirty="0"/>
          </a:p>
        </p:txBody>
      </p:sp>
      <p:sp>
        <p:nvSpPr>
          <p:cNvPr id="70" name="Shape 67"/>
          <p:cNvSpPr/>
          <p:nvPr/>
        </p:nvSpPr>
        <p:spPr>
          <a:xfrm>
            <a:off x="3108960" y="4722876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71" name="Shape 68"/>
          <p:cNvSpPr/>
          <p:nvPr/>
        </p:nvSpPr>
        <p:spPr>
          <a:xfrm>
            <a:off x="3383280" y="4722876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72" name="Shape 69"/>
          <p:cNvSpPr/>
          <p:nvPr/>
        </p:nvSpPr>
        <p:spPr>
          <a:xfrm>
            <a:off x="3657600" y="4722876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73" name="Shape 70"/>
          <p:cNvSpPr/>
          <p:nvPr/>
        </p:nvSpPr>
        <p:spPr>
          <a:xfrm>
            <a:off x="3931920" y="4722876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74" name="Shape 71"/>
          <p:cNvSpPr/>
          <p:nvPr/>
        </p:nvSpPr>
        <p:spPr>
          <a:xfrm>
            <a:off x="3444545" y="4704588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4251960" y="4681728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2.0</a:t>
            </a:r>
            <a:endParaRPr lang="en-US" sz="750" dirty="0"/>
          </a:p>
        </p:txBody>
      </p:sp>
      <p:sp>
        <p:nvSpPr>
          <p:cNvPr id="76" name="Text 73"/>
          <p:cNvSpPr/>
          <p:nvPr/>
        </p:nvSpPr>
        <p:spPr>
          <a:xfrm>
            <a:off x="2514600" y="4828032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Grip</a:t>
            </a:r>
            <a:endParaRPr lang="en-US" sz="750" dirty="0"/>
          </a:p>
        </p:txBody>
      </p:sp>
      <p:sp>
        <p:nvSpPr>
          <p:cNvPr id="77" name="Shape 74"/>
          <p:cNvSpPr/>
          <p:nvPr/>
        </p:nvSpPr>
        <p:spPr>
          <a:xfrm>
            <a:off x="3108960" y="4869180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78" name="Shape 75"/>
          <p:cNvSpPr/>
          <p:nvPr/>
        </p:nvSpPr>
        <p:spPr>
          <a:xfrm>
            <a:off x="3383280" y="4869180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79" name="Shape 76"/>
          <p:cNvSpPr/>
          <p:nvPr/>
        </p:nvSpPr>
        <p:spPr>
          <a:xfrm>
            <a:off x="3657600" y="4869180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80" name="Shape 77"/>
          <p:cNvSpPr/>
          <p:nvPr/>
        </p:nvSpPr>
        <p:spPr>
          <a:xfrm>
            <a:off x="3931920" y="4869180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81" name="Shape 78"/>
          <p:cNvSpPr/>
          <p:nvPr/>
        </p:nvSpPr>
        <p:spPr>
          <a:xfrm>
            <a:off x="3525012" y="4850892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4251960" y="4828032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55.0 kg</a:t>
            </a:r>
            <a:endParaRPr lang="en-US" sz="750" dirty="0"/>
          </a:p>
        </p:txBody>
      </p:sp>
      <p:sp>
        <p:nvSpPr>
          <p:cNvPr id="83" name="Text 80"/>
          <p:cNvSpPr/>
          <p:nvPr/>
        </p:nvSpPr>
        <p:spPr>
          <a:xfrm>
            <a:off x="4754880" y="22860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💧 누수 인과 분석 (Top 3) — Per 1 km/h</a:t>
            </a:r>
            <a:endParaRPr lang="en-US" sz="1050" dirty="0"/>
          </a:p>
        </p:txBody>
      </p:sp>
      <p:sp>
        <p:nvSpPr>
          <p:cNvPr id="84" name="Shape 81"/>
          <p:cNvSpPr/>
          <p:nvPr/>
        </p:nvSpPr>
        <p:spPr>
          <a:xfrm>
            <a:off x="4754880" y="2542032"/>
            <a:ext cx="365760" cy="685800"/>
          </a:xfrm>
          <a:prstGeom prst="rect">
            <a:avLst/>
          </a:prstGeom>
          <a:solidFill>
            <a:srgbClr val="CF222E"/>
          </a:solidFill>
          <a:ln/>
        </p:spPr>
      </p:sp>
      <p:sp>
        <p:nvSpPr>
          <p:cNvPr id="85" name="Text 82"/>
          <p:cNvSpPr/>
          <p:nvPr/>
        </p:nvSpPr>
        <p:spPr>
          <a:xfrm>
            <a:off x="4754880" y="2706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800" dirty="0"/>
          </a:p>
        </p:txBody>
      </p:sp>
      <p:sp>
        <p:nvSpPr>
          <p:cNvPr id="86" name="Shape 83"/>
          <p:cNvSpPr/>
          <p:nvPr/>
        </p:nvSpPr>
        <p:spPr>
          <a:xfrm>
            <a:off x="5120640" y="254203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5212080" y="258775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Pelvis braking 부족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골반 감속 부족  ·  손실 -1.9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Pelvis brake — 단일하지 RFE 스플릿 스쿼트, 디셀러레이션 드릴</a:t>
            </a:r>
            <a:endParaRPr lang="en-US" sz="1100" dirty="0"/>
          </a:p>
        </p:txBody>
      </p:sp>
      <p:sp>
        <p:nvSpPr>
          <p:cNvPr id="88" name="Shape 85"/>
          <p:cNvSpPr/>
          <p:nvPr/>
        </p:nvSpPr>
        <p:spPr>
          <a:xfrm>
            <a:off x="4754880" y="3319272"/>
            <a:ext cx="365760" cy="685800"/>
          </a:xfrm>
          <a:prstGeom prst="rect">
            <a:avLst/>
          </a:prstGeom>
          <a:solidFill>
            <a:srgbClr val="BF8700"/>
          </a:solidFill>
          <a:ln/>
        </p:spPr>
      </p:sp>
      <p:sp>
        <p:nvSpPr>
          <p:cNvPr id="89" name="Text 86"/>
          <p:cNvSpPr/>
          <p:nvPr/>
        </p:nvSpPr>
        <p:spPr>
          <a:xfrm>
            <a:off x="4754880" y="3483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800" dirty="0"/>
          </a:p>
        </p:txBody>
      </p:sp>
      <p:sp>
        <p:nvSpPr>
          <p:cNvPr id="90" name="Shape 87"/>
          <p:cNvSpPr/>
          <p:nvPr/>
        </p:nvSpPr>
        <p:spPr>
          <a:xfrm>
            <a:off x="5120640" y="331927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5212080" y="336499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골반-상체 분리 미달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X-factor 부족  ·  손실 -1.2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X-factor 증대 — hip-shoulder 분리 stretch</a:t>
            </a:r>
            <a:endParaRPr lang="en-US" sz="1100" dirty="0"/>
          </a:p>
        </p:txBody>
      </p:sp>
      <p:sp>
        <p:nvSpPr>
          <p:cNvPr id="92" name="Shape 89"/>
          <p:cNvSpPr/>
          <p:nvPr/>
        </p:nvSpPr>
        <p:spPr>
          <a:xfrm>
            <a:off x="4754880" y="4096512"/>
            <a:ext cx="36576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3" name="Text 90"/>
          <p:cNvSpPr/>
          <p:nvPr/>
        </p:nvSpPr>
        <p:spPr>
          <a:xfrm>
            <a:off x="4754880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800" dirty="0"/>
          </a:p>
        </p:txBody>
      </p:sp>
      <p:sp>
        <p:nvSpPr>
          <p:cNvPr id="94" name="Shape 91"/>
          <p:cNvSpPr/>
          <p:nvPr/>
        </p:nvSpPr>
        <p:spPr>
          <a:xfrm>
            <a:off x="5120640" y="409651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5212080" y="414223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분절 가속 순서 결함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골반→몸통→팔 시퀀스 어긋남  ·  손실 -1.3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분절 가속 타이밍 훈련 (medicine ball 회전)</a:t>
            </a:r>
            <a:endParaRPr lang="en-US" sz="1100" dirty="0"/>
          </a:p>
        </p:txBody>
      </p:sp>
      <p:sp>
        <p:nvSpPr>
          <p:cNvPr id="96" name="Shape 93"/>
          <p:cNvSpPr/>
          <p:nvPr/>
        </p:nvSpPr>
        <p:spPr>
          <a:xfrm>
            <a:off x="365760" y="4823460"/>
            <a:ext cx="8412480" cy="0"/>
          </a:xfrm>
          <a:prstGeom prst="line">
            <a:avLst/>
          </a:prstGeom>
          <a:noFill/>
          <a:ln w="6350">
            <a:solidFill>
              <a:srgbClr val="D0D7DE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365760" y="48691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상동고 투구 리포트 · 1차 측정 (2026-05-15)</a:t>
            </a:r>
            <a:endParaRPr lang="en-US" sz="800" dirty="0"/>
          </a:p>
        </p:txBody>
      </p:sp>
      <p:sp>
        <p:nvSpPr>
          <p:cNvPr id="98" name="Text 95"/>
          <p:cNvSpPr/>
          <p:nvPr/>
        </p:nvSpPr>
        <p:spPr>
          <a:xfrm>
            <a:off x="365760" y="48691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국민대 BBL · analytics v2.1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P16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1645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선수16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우투 · 178cm · 75kg · 1차 (2026-05-15)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0" y="182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종합 65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0" y="502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" y="960120"/>
            <a:ext cx="45720" cy="868680"/>
          </a:xfrm>
          <a:prstGeom prst="rect">
            <a:avLst/>
          </a:prstGeom>
          <a:solidFill>
            <a:srgbClr val="0969DA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측정 구속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118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137.2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0302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km/h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118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우수 그룹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98882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88820" y="960120"/>
            <a:ext cx="45720" cy="868680"/>
          </a:xfrm>
          <a:prstGeom prst="rect">
            <a:avLst/>
          </a:prstGeom>
          <a:solidFill>
            <a:srgbClr val="BC4C00"/>
          </a:solidFill>
          <a:ln/>
        </p:spPr>
      </p:sp>
      <p:sp>
        <p:nvSpPr>
          <p:cNvPr id="16" name="Text 14"/>
          <p:cNvSpPr/>
          <p:nvPr/>
        </p:nvSpPr>
        <p:spPr>
          <a:xfrm>
            <a:off x="209854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체력 Ceiling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9854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C4C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139.2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04038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km/h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9854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Predicted Velo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72618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26180" y="960120"/>
            <a:ext cx="45720" cy="868680"/>
          </a:xfrm>
          <a:prstGeom prst="rect">
            <a:avLst/>
          </a:prstGeom>
          <a:solidFill>
            <a:srgbClr val="1A7F37"/>
          </a:solidFill>
          <a:ln/>
        </p:spPr>
      </p:sp>
      <p:sp>
        <p:nvSpPr>
          <p:cNvPr id="22" name="Text 20"/>
          <p:cNvSpPr/>
          <p:nvPr/>
        </p:nvSpPr>
        <p:spPr>
          <a:xfrm>
            <a:off x="383590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⚡ 힘 만들기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3590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7F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57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77774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3590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출력 (Output)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46354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63540" y="960120"/>
            <a:ext cx="45720" cy="868680"/>
          </a:xfrm>
          <a:prstGeom prst="rect">
            <a:avLst/>
          </a:prstGeom>
          <a:solidFill>
            <a:srgbClr val="8250DF"/>
          </a:solidFill>
          <a:ln/>
        </p:spPr>
      </p:sp>
      <p:sp>
        <p:nvSpPr>
          <p:cNvPr id="28" name="Text 26"/>
          <p:cNvSpPr/>
          <p:nvPr/>
        </p:nvSpPr>
        <p:spPr>
          <a:xfrm>
            <a:off x="557326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🔗 힘 전달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7326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250D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58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51510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7326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전달 (Transfer)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20090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00900" y="960120"/>
            <a:ext cx="45720" cy="868680"/>
          </a:xfrm>
          <a:prstGeom prst="rect">
            <a:avLst/>
          </a:prstGeom>
          <a:solidFill>
            <a:srgbClr val="CF222E"/>
          </a:solidFill>
          <a:ln/>
        </p:spPr>
      </p:sp>
      <p:sp>
        <p:nvSpPr>
          <p:cNvPr id="34" name="Text 32"/>
          <p:cNvSpPr/>
          <p:nvPr/>
        </p:nvSpPr>
        <p:spPr>
          <a:xfrm>
            <a:off x="731062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💧 힘 보존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1062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71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825246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1062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누수 관리 (역 ELI)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51460" y="1920240"/>
            <a:ext cx="8641080" cy="274320"/>
          </a:xfrm>
          <a:prstGeom prst="rect">
            <a:avLst/>
          </a:prstGeom>
          <a:solidFill>
            <a:srgbClr val="F6F8FA"/>
          </a:solidFill>
          <a:ln w="5080">
            <a:solidFill>
              <a:srgbClr val="D0D7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194767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부상위험: </a:t>
            </a:r>
            <a:pPr indent="0" marL="0">
              <a:buNone/>
            </a:pPr>
            <a:r>
              <a:rPr lang="en-US" sz="1000" dirty="0">
                <a:solidFill>
                  <a:srgbClr val="1A7F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낮음  |  </a:t>
            </a:r>
            <a:pPr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메카닉 효율 (AE): </a:t>
            </a:r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● 적정  (-2 km/h)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22860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관절 분절 시퀀스 (피크 회전속도)</a:t>
            </a:r>
            <a:endParaRPr lang="en-US" sz="1050" dirty="0"/>
          </a:p>
        </p:txBody>
      </p:sp>
      <p:graphicFrame>
        <p:nvGraphicFramePr>
          <p:cNvPr id="41" name="Chart 0" descr=""/>
          <p:cNvGraphicFramePr/>
          <p:nvPr/>
        </p:nvGraphicFramePr>
        <p:xfrm>
          <a:off x="365760" y="2542032"/>
          <a:ext cx="420624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2" name="Shape 39"/>
          <p:cNvSpPr/>
          <p:nvPr/>
        </p:nvSpPr>
        <p:spPr>
          <a:xfrm>
            <a:off x="365760" y="4023360"/>
            <a:ext cx="4206240" cy="1005840"/>
          </a:xfrm>
          <a:prstGeom prst="rect">
            <a:avLst/>
          </a:prstGeom>
          <a:solidFill>
            <a:srgbClr val="FAFBFC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57200" y="4069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📊 자동 진단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457200" y="42611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균형 — 체력·메카닉 동시 발달 권장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57200" y="46268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💡 두 영역 병행 훈련.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2423160" y="4114800"/>
            <a:ext cx="0" cy="868680"/>
          </a:xfrm>
          <a:prstGeom prst="line">
            <a:avLst/>
          </a:prstGeom>
          <a:noFill/>
          <a:ln w="6350">
            <a:solidFill>
              <a:srgbClr val="D0D7DE"/>
            </a:solidFill>
            <a:prstDash val="dash"/>
          </a:ln>
        </p:spPr>
      </p:sp>
      <p:sp>
        <p:nvSpPr>
          <p:cNvPr id="47" name="Text 44"/>
          <p:cNvSpPr/>
          <p:nvPr/>
        </p:nvSpPr>
        <p:spPr>
          <a:xfrm>
            <a:off x="2514600" y="40690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C4C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💪 체력 5 변수 (본인 ▼ vs Velo Group)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2514600" y="4242816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CMJ JH</a:t>
            </a:r>
            <a:endParaRPr lang="en-US" sz="750" dirty="0"/>
          </a:p>
        </p:txBody>
      </p:sp>
      <p:sp>
        <p:nvSpPr>
          <p:cNvPr id="49" name="Shape 46"/>
          <p:cNvSpPr/>
          <p:nvPr/>
        </p:nvSpPr>
        <p:spPr>
          <a:xfrm>
            <a:off x="3108960" y="4283964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3383280" y="4283964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3657600" y="4283964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3931920" y="4283964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4051706" y="4265676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251960" y="4242816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47.0 cm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2514600" y="4389120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CMJ PP</a:t>
            </a:r>
            <a:endParaRPr lang="en-US" sz="750" dirty="0"/>
          </a:p>
        </p:txBody>
      </p:sp>
      <p:sp>
        <p:nvSpPr>
          <p:cNvPr id="56" name="Shape 53"/>
          <p:cNvSpPr/>
          <p:nvPr/>
        </p:nvSpPr>
        <p:spPr>
          <a:xfrm>
            <a:off x="3108960" y="4430268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3383280" y="4430268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3657600" y="4430268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3931920" y="4430268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4183380" y="4411980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4251960" y="4389120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45.3 W/kg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2514600" y="4535424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IMTP</a:t>
            </a:r>
            <a:endParaRPr 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3108960" y="4576572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3383280" y="4576572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3657600" y="4576572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3931920" y="4576572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67" name="Shape 64"/>
          <p:cNvSpPr/>
          <p:nvPr/>
        </p:nvSpPr>
        <p:spPr>
          <a:xfrm>
            <a:off x="3886469" y="4558284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4251960" y="4535424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30.4 N/kg</a:t>
            </a:r>
            <a:endParaRPr lang="en-US" sz="750" dirty="0"/>
          </a:p>
        </p:txBody>
      </p:sp>
      <p:sp>
        <p:nvSpPr>
          <p:cNvPr id="69" name="Text 66"/>
          <p:cNvSpPr/>
          <p:nvPr/>
        </p:nvSpPr>
        <p:spPr>
          <a:xfrm>
            <a:off x="2514600" y="4681728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Hop RSI</a:t>
            </a:r>
            <a:endParaRPr lang="en-US" sz="750" dirty="0"/>
          </a:p>
        </p:txBody>
      </p:sp>
      <p:sp>
        <p:nvSpPr>
          <p:cNvPr id="70" name="Shape 67"/>
          <p:cNvSpPr/>
          <p:nvPr/>
        </p:nvSpPr>
        <p:spPr>
          <a:xfrm>
            <a:off x="3108960" y="4722876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71" name="Shape 68"/>
          <p:cNvSpPr/>
          <p:nvPr/>
        </p:nvSpPr>
        <p:spPr>
          <a:xfrm>
            <a:off x="3383280" y="4722876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72" name="Shape 69"/>
          <p:cNvSpPr/>
          <p:nvPr/>
        </p:nvSpPr>
        <p:spPr>
          <a:xfrm>
            <a:off x="3657600" y="4722876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73" name="Shape 70"/>
          <p:cNvSpPr/>
          <p:nvPr/>
        </p:nvSpPr>
        <p:spPr>
          <a:xfrm>
            <a:off x="3931920" y="4722876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74" name="Shape 71"/>
          <p:cNvSpPr/>
          <p:nvPr/>
        </p:nvSpPr>
        <p:spPr>
          <a:xfrm>
            <a:off x="3627425" y="4704588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4251960" y="4681728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2.2</a:t>
            </a:r>
            <a:endParaRPr lang="en-US" sz="750" dirty="0"/>
          </a:p>
        </p:txBody>
      </p:sp>
      <p:sp>
        <p:nvSpPr>
          <p:cNvPr id="76" name="Text 73"/>
          <p:cNvSpPr/>
          <p:nvPr/>
        </p:nvSpPr>
        <p:spPr>
          <a:xfrm>
            <a:off x="2514600" y="4828032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Grip</a:t>
            </a:r>
            <a:endParaRPr lang="en-US" sz="750" dirty="0"/>
          </a:p>
        </p:txBody>
      </p:sp>
      <p:sp>
        <p:nvSpPr>
          <p:cNvPr id="77" name="Shape 74"/>
          <p:cNvSpPr/>
          <p:nvPr/>
        </p:nvSpPr>
        <p:spPr>
          <a:xfrm>
            <a:off x="3108960" y="4869180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78" name="Shape 75"/>
          <p:cNvSpPr/>
          <p:nvPr/>
        </p:nvSpPr>
        <p:spPr>
          <a:xfrm>
            <a:off x="3383280" y="4869180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79" name="Shape 76"/>
          <p:cNvSpPr/>
          <p:nvPr/>
        </p:nvSpPr>
        <p:spPr>
          <a:xfrm>
            <a:off x="3657600" y="4869180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80" name="Shape 77"/>
          <p:cNvSpPr/>
          <p:nvPr/>
        </p:nvSpPr>
        <p:spPr>
          <a:xfrm>
            <a:off x="3931920" y="4869180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81" name="Shape 78"/>
          <p:cNvSpPr/>
          <p:nvPr/>
        </p:nvSpPr>
        <p:spPr>
          <a:xfrm>
            <a:off x="3525012" y="4850892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4251960" y="4828032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55.0 kg</a:t>
            </a:r>
            <a:endParaRPr lang="en-US" sz="750" dirty="0"/>
          </a:p>
        </p:txBody>
      </p:sp>
      <p:sp>
        <p:nvSpPr>
          <p:cNvPr id="83" name="Text 80"/>
          <p:cNvSpPr/>
          <p:nvPr/>
        </p:nvSpPr>
        <p:spPr>
          <a:xfrm>
            <a:off x="4754880" y="22860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💧 누수 인과 분석 (Top 3) — Per 1 km/h</a:t>
            </a:r>
            <a:endParaRPr lang="en-US" sz="1050" dirty="0"/>
          </a:p>
        </p:txBody>
      </p:sp>
      <p:sp>
        <p:nvSpPr>
          <p:cNvPr id="84" name="Shape 81"/>
          <p:cNvSpPr/>
          <p:nvPr/>
        </p:nvSpPr>
        <p:spPr>
          <a:xfrm>
            <a:off x="4754880" y="2542032"/>
            <a:ext cx="365760" cy="685800"/>
          </a:xfrm>
          <a:prstGeom prst="rect">
            <a:avLst/>
          </a:prstGeom>
          <a:solidFill>
            <a:srgbClr val="CF222E"/>
          </a:solidFill>
          <a:ln/>
        </p:spPr>
      </p:sp>
      <p:sp>
        <p:nvSpPr>
          <p:cNvPr id="85" name="Text 82"/>
          <p:cNvSpPr/>
          <p:nvPr/>
        </p:nvSpPr>
        <p:spPr>
          <a:xfrm>
            <a:off x="4754880" y="2706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800" dirty="0"/>
          </a:p>
        </p:txBody>
      </p:sp>
      <p:sp>
        <p:nvSpPr>
          <p:cNvPr id="86" name="Shape 83"/>
          <p:cNvSpPr/>
          <p:nvPr/>
        </p:nvSpPr>
        <p:spPr>
          <a:xfrm>
            <a:off x="5120640" y="254203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5212080" y="258775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Pelvis braking 부족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골반 감속 부족  ·  손실 -1.8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Pelvis brake — 단일하지 RFE 스플릿 스쿼트, 디셀러레이션 드릴</a:t>
            </a:r>
            <a:endParaRPr lang="en-US" sz="1100" dirty="0"/>
          </a:p>
        </p:txBody>
      </p:sp>
      <p:sp>
        <p:nvSpPr>
          <p:cNvPr id="88" name="Shape 85"/>
          <p:cNvSpPr/>
          <p:nvPr/>
        </p:nvSpPr>
        <p:spPr>
          <a:xfrm>
            <a:off x="4754880" y="3319272"/>
            <a:ext cx="365760" cy="685800"/>
          </a:xfrm>
          <a:prstGeom prst="rect">
            <a:avLst/>
          </a:prstGeom>
          <a:solidFill>
            <a:srgbClr val="BF8700"/>
          </a:solidFill>
          <a:ln/>
        </p:spPr>
      </p:sp>
      <p:sp>
        <p:nvSpPr>
          <p:cNvPr id="89" name="Text 86"/>
          <p:cNvSpPr/>
          <p:nvPr/>
        </p:nvSpPr>
        <p:spPr>
          <a:xfrm>
            <a:off x="4754880" y="3483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800" dirty="0"/>
          </a:p>
        </p:txBody>
      </p:sp>
      <p:sp>
        <p:nvSpPr>
          <p:cNvPr id="90" name="Shape 87"/>
          <p:cNvSpPr/>
          <p:nvPr/>
        </p:nvSpPr>
        <p:spPr>
          <a:xfrm>
            <a:off x="5120640" y="331927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5212080" y="336499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분절 가속 순서 결함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골반→몸통→팔 시퀀스 어긋남  ·  손실 -0.8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분절 가속 타이밍 훈련 (medicine ball 회전)</a:t>
            </a:r>
            <a:endParaRPr lang="en-US" sz="1100" dirty="0"/>
          </a:p>
        </p:txBody>
      </p:sp>
      <p:sp>
        <p:nvSpPr>
          <p:cNvPr id="92" name="Shape 89"/>
          <p:cNvSpPr/>
          <p:nvPr/>
        </p:nvSpPr>
        <p:spPr>
          <a:xfrm>
            <a:off x="4754880" y="4096512"/>
            <a:ext cx="36576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3" name="Text 90"/>
          <p:cNvSpPr/>
          <p:nvPr/>
        </p:nvSpPr>
        <p:spPr>
          <a:xfrm>
            <a:off x="4754880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800" dirty="0"/>
          </a:p>
        </p:txBody>
      </p:sp>
      <p:sp>
        <p:nvSpPr>
          <p:cNvPr id="94" name="Shape 91"/>
          <p:cNvSpPr/>
          <p:nvPr/>
        </p:nvSpPr>
        <p:spPr>
          <a:xfrm>
            <a:off x="5120640" y="409651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5212080" y="414223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Lead knee collapse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앞발 받쳐주기 약함  ·  손실 -0.4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Lead leg 강화 — 단일하지 박스점프, 제자리 깊은 스쿼트</a:t>
            </a:r>
            <a:endParaRPr lang="en-US" sz="1100" dirty="0"/>
          </a:p>
        </p:txBody>
      </p:sp>
      <p:sp>
        <p:nvSpPr>
          <p:cNvPr id="96" name="Shape 93"/>
          <p:cNvSpPr/>
          <p:nvPr/>
        </p:nvSpPr>
        <p:spPr>
          <a:xfrm>
            <a:off x="365760" y="4823460"/>
            <a:ext cx="8412480" cy="0"/>
          </a:xfrm>
          <a:prstGeom prst="line">
            <a:avLst/>
          </a:prstGeom>
          <a:noFill/>
          <a:ln w="6350">
            <a:solidFill>
              <a:srgbClr val="D0D7DE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365760" y="48691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상동고 투구 리포트 · 1차 측정 (2026-05-15)</a:t>
            </a:r>
            <a:endParaRPr lang="en-US" sz="800" dirty="0"/>
          </a:p>
        </p:txBody>
      </p:sp>
      <p:sp>
        <p:nvSpPr>
          <p:cNvPr id="98" name="Text 95"/>
          <p:cNvSpPr/>
          <p:nvPr/>
        </p:nvSpPr>
        <p:spPr>
          <a:xfrm>
            <a:off x="365760" y="48691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국민대 BBL · analytics v2.1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P17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1645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선수17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우투 · 181cm · 78kg · 1차 (2026-05-15)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0" y="182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종합 72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0" y="502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" y="960120"/>
            <a:ext cx="45720" cy="868680"/>
          </a:xfrm>
          <a:prstGeom prst="rect">
            <a:avLst/>
          </a:prstGeom>
          <a:solidFill>
            <a:srgbClr val="0969DA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측정 구속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118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117.3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0302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km/h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118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미달 그룹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98882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88820" y="960120"/>
            <a:ext cx="45720" cy="868680"/>
          </a:xfrm>
          <a:prstGeom prst="rect">
            <a:avLst/>
          </a:prstGeom>
          <a:solidFill>
            <a:srgbClr val="BC4C00"/>
          </a:solidFill>
          <a:ln/>
        </p:spPr>
      </p:sp>
      <p:sp>
        <p:nvSpPr>
          <p:cNvPr id="16" name="Text 14"/>
          <p:cNvSpPr/>
          <p:nvPr/>
        </p:nvSpPr>
        <p:spPr>
          <a:xfrm>
            <a:off x="209854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체력 Ceiling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9854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C4C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137.8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04038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km/h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9854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Predicted Velo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72618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26180" y="960120"/>
            <a:ext cx="45720" cy="868680"/>
          </a:xfrm>
          <a:prstGeom prst="rect">
            <a:avLst/>
          </a:prstGeom>
          <a:solidFill>
            <a:srgbClr val="1A7F37"/>
          </a:solidFill>
          <a:ln/>
        </p:spPr>
      </p:sp>
      <p:sp>
        <p:nvSpPr>
          <p:cNvPr id="22" name="Text 20"/>
          <p:cNvSpPr/>
          <p:nvPr/>
        </p:nvSpPr>
        <p:spPr>
          <a:xfrm>
            <a:off x="383590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⚡ 힘 만들기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3590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7F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77774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3590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출력 (Output)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46354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63540" y="960120"/>
            <a:ext cx="45720" cy="868680"/>
          </a:xfrm>
          <a:prstGeom prst="rect">
            <a:avLst/>
          </a:prstGeom>
          <a:solidFill>
            <a:srgbClr val="8250DF"/>
          </a:solidFill>
          <a:ln/>
        </p:spPr>
      </p:sp>
      <p:sp>
        <p:nvSpPr>
          <p:cNvPr id="28" name="Text 26"/>
          <p:cNvSpPr/>
          <p:nvPr/>
        </p:nvSpPr>
        <p:spPr>
          <a:xfrm>
            <a:off x="557326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🔗 힘 전달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7326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250D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51510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7326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전달 (Transfer)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20090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00900" y="960120"/>
            <a:ext cx="45720" cy="868680"/>
          </a:xfrm>
          <a:prstGeom prst="rect">
            <a:avLst/>
          </a:prstGeom>
          <a:solidFill>
            <a:srgbClr val="CF222E"/>
          </a:solidFill>
          <a:ln/>
        </p:spPr>
      </p:sp>
      <p:sp>
        <p:nvSpPr>
          <p:cNvPr id="34" name="Text 32"/>
          <p:cNvSpPr/>
          <p:nvPr/>
        </p:nvSpPr>
        <p:spPr>
          <a:xfrm>
            <a:off x="731062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💧 힘 보존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1062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69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825246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1062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누수 관리 (역 ELI)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51460" y="1920240"/>
            <a:ext cx="8641080" cy="274320"/>
          </a:xfrm>
          <a:prstGeom prst="rect">
            <a:avLst/>
          </a:prstGeom>
          <a:solidFill>
            <a:srgbClr val="F6F8FA"/>
          </a:solidFill>
          <a:ln w="5080">
            <a:solidFill>
              <a:srgbClr val="D0D7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194767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부상위험: </a:t>
            </a:r>
            <a:pPr indent="0" marL="0">
              <a:buNone/>
            </a:pPr>
            <a:r>
              <a:rPr lang="en-US" sz="1000" dirty="0">
                <a:solidFill>
                  <a:srgbClr val="1A7F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낮음  |  </a:t>
            </a:r>
            <a:pPr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메카닉 효율 (AE): </a:t>
            </a:r>
            <a:pPr indent="0" marL="0">
              <a:buNone/>
            </a:pPr>
            <a:r>
              <a:rPr lang="en-US" sz="100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⚠ 메카닉 발달 여지  (-20.5 km/h)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22860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관절 분절 시퀀스 (피크 회전속도)</a:t>
            </a:r>
            <a:endParaRPr lang="en-US" sz="1050" dirty="0"/>
          </a:p>
        </p:txBody>
      </p:sp>
      <p:graphicFrame>
        <p:nvGraphicFramePr>
          <p:cNvPr id="41" name="Chart 0" descr=""/>
          <p:cNvGraphicFramePr/>
          <p:nvPr/>
        </p:nvGraphicFramePr>
        <p:xfrm>
          <a:off x="365760" y="2542032"/>
          <a:ext cx="420624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2" name="Shape 39"/>
          <p:cNvSpPr/>
          <p:nvPr/>
        </p:nvSpPr>
        <p:spPr>
          <a:xfrm>
            <a:off x="365760" y="4023360"/>
            <a:ext cx="4206240" cy="1005840"/>
          </a:xfrm>
          <a:prstGeom prst="rect">
            <a:avLst/>
          </a:prstGeom>
          <a:solidFill>
            <a:srgbClr val="FAFBFC"/>
          </a:solidFill>
          <a:ln w="19050">
            <a:solidFill>
              <a:srgbClr val="CF222E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57200" y="4069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📊 자동 진단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457200" y="42611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메카닉 비효율로 체력 잠재력 미발현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57200" y="46268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💡 20.5 km/h 만큼 메카닉 교정 잠재력. ELI 인과 chain Top 3 즉시 적용.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2423160" y="4114800"/>
            <a:ext cx="0" cy="868680"/>
          </a:xfrm>
          <a:prstGeom prst="line">
            <a:avLst/>
          </a:prstGeom>
          <a:noFill/>
          <a:ln w="6350">
            <a:solidFill>
              <a:srgbClr val="D0D7DE"/>
            </a:solidFill>
            <a:prstDash val="dash"/>
          </a:ln>
        </p:spPr>
      </p:sp>
      <p:sp>
        <p:nvSpPr>
          <p:cNvPr id="47" name="Text 44"/>
          <p:cNvSpPr/>
          <p:nvPr/>
        </p:nvSpPr>
        <p:spPr>
          <a:xfrm>
            <a:off x="2514600" y="40690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C4C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💪 체력 5 변수 (본인 ▼ vs Velo Group)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2514600" y="4242816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CMJ JH</a:t>
            </a:r>
            <a:endParaRPr lang="en-US" sz="750" dirty="0"/>
          </a:p>
        </p:txBody>
      </p:sp>
      <p:sp>
        <p:nvSpPr>
          <p:cNvPr id="49" name="Shape 46"/>
          <p:cNvSpPr/>
          <p:nvPr/>
        </p:nvSpPr>
        <p:spPr>
          <a:xfrm>
            <a:off x="3108960" y="4283964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3383280" y="4283964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3657600" y="4283964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3931920" y="4283964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3577681" y="4265676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251960" y="4242816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36.2 cm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2514600" y="4389120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CMJ PP</a:t>
            </a:r>
            <a:endParaRPr lang="en-US" sz="750" dirty="0"/>
          </a:p>
        </p:txBody>
      </p:sp>
      <p:sp>
        <p:nvSpPr>
          <p:cNvPr id="56" name="Shape 53"/>
          <p:cNvSpPr/>
          <p:nvPr/>
        </p:nvSpPr>
        <p:spPr>
          <a:xfrm>
            <a:off x="3108960" y="4430268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3383280" y="4430268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3657600" y="4430268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3931920" y="4430268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4183380" y="4411980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4251960" y="4389120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35.5 W/kg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2514600" y="4535424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IMTP</a:t>
            </a:r>
            <a:endParaRPr 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3108960" y="4576572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3383280" y="4576572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3657600" y="4576572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3931920" y="4576572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67" name="Shape 64"/>
          <p:cNvSpPr/>
          <p:nvPr/>
        </p:nvSpPr>
        <p:spPr>
          <a:xfrm>
            <a:off x="3505648" y="4558284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4251960" y="4535424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24.5 N/kg</a:t>
            </a:r>
            <a:endParaRPr lang="en-US" sz="750" dirty="0"/>
          </a:p>
        </p:txBody>
      </p:sp>
      <p:sp>
        <p:nvSpPr>
          <p:cNvPr id="69" name="Text 66"/>
          <p:cNvSpPr/>
          <p:nvPr/>
        </p:nvSpPr>
        <p:spPr>
          <a:xfrm>
            <a:off x="2514600" y="4681728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Hop RSI</a:t>
            </a:r>
            <a:endParaRPr lang="en-US" sz="750" dirty="0"/>
          </a:p>
        </p:txBody>
      </p:sp>
      <p:sp>
        <p:nvSpPr>
          <p:cNvPr id="70" name="Shape 67"/>
          <p:cNvSpPr/>
          <p:nvPr/>
        </p:nvSpPr>
        <p:spPr>
          <a:xfrm>
            <a:off x="3108960" y="4722876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71" name="Shape 68"/>
          <p:cNvSpPr/>
          <p:nvPr/>
        </p:nvSpPr>
        <p:spPr>
          <a:xfrm>
            <a:off x="3383280" y="4722876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72" name="Shape 69"/>
          <p:cNvSpPr/>
          <p:nvPr/>
        </p:nvSpPr>
        <p:spPr>
          <a:xfrm>
            <a:off x="3657600" y="4722876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73" name="Shape 70"/>
          <p:cNvSpPr/>
          <p:nvPr/>
        </p:nvSpPr>
        <p:spPr>
          <a:xfrm>
            <a:off x="3931920" y="4722876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74" name="Shape 71"/>
          <p:cNvSpPr/>
          <p:nvPr/>
        </p:nvSpPr>
        <p:spPr>
          <a:xfrm>
            <a:off x="3195828" y="4704588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4251960" y="4681728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1.6</a:t>
            </a:r>
            <a:endParaRPr lang="en-US" sz="750" dirty="0"/>
          </a:p>
        </p:txBody>
      </p:sp>
      <p:sp>
        <p:nvSpPr>
          <p:cNvPr id="76" name="Text 73"/>
          <p:cNvSpPr/>
          <p:nvPr/>
        </p:nvSpPr>
        <p:spPr>
          <a:xfrm>
            <a:off x="2514600" y="4828032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Grip</a:t>
            </a:r>
            <a:endParaRPr lang="en-US" sz="750" dirty="0"/>
          </a:p>
        </p:txBody>
      </p:sp>
      <p:sp>
        <p:nvSpPr>
          <p:cNvPr id="77" name="Shape 74"/>
          <p:cNvSpPr/>
          <p:nvPr/>
        </p:nvSpPr>
        <p:spPr>
          <a:xfrm>
            <a:off x="3108960" y="4869180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78" name="Shape 75"/>
          <p:cNvSpPr/>
          <p:nvPr/>
        </p:nvSpPr>
        <p:spPr>
          <a:xfrm>
            <a:off x="3383280" y="4869180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79" name="Shape 76"/>
          <p:cNvSpPr/>
          <p:nvPr/>
        </p:nvSpPr>
        <p:spPr>
          <a:xfrm>
            <a:off x="3657600" y="4869180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80" name="Shape 77"/>
          <p:cNvSpPr/>
          <p:nvPr/>
        </p:nvSpPr>
        <p:spPr>
          <a:xfrm>
            <a:off x="3931920" y="4869180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81" name="Shape 78"/>
          <p:cNvSpPr/>
          <p:nvPr/>
        </p:nvSpPr>
        <p:spPr>
          <a:xfrm>
            <a:off x="3525012" y="4850892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4251960" y="4828032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55.0 kg</a:t>
            </a:r>
            <a:endParaRPr lang="en-US" sz="750" dirty="0"/>
          </a:p>
        </p:txBody>
      </p:sp>
      <p:sp>
        <p:nvSpPr>
          <p:cNvPr id="83" name="Text 80"/>
          <p:cNvSpPr/>
          <p:nvPr/>
        </p:nvSpPr>
        <p:spPr>
          <a:xfrm>
            <a:off x="4754880" y="22860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💧 누수 인과 분석 (Top 3) — Per 1 km/h</a:t>
            </a:r>
            <a:endParaRPr lang="en-US" sz="1050" dirty="0"/>
          </a:p>
        </p:txBody>
      </p:sp>
      <p:sp>
        <p:nvSpPr>
          <p:cNvPr id="84" name="Shape 81"/>
          <p:cNvSpPr/>
          <p:nvPr/>
        </p:nvSpPr>
        <p:spPr>
          <a:xfrm>
            <a:off x="4754880" y="2542032"/>
            <a:ext cx="365760" cy="685800"/>
          </a:xfrm>
          <a:prstGeom prst="rect">
            <a:avLst/>
          </a:prstGeom>
          <a:solidFill>
            <a:srgbClr val="CF222E"/>
          </a:solidFill>
          <a:ln/>
        </p:spPr>
      </p:sp>
      <p:sp>
        <p:nvSpPr>
          <p:cNvPr id="85" name="Text 82"/>
          <p:cNvSpPr/>
          <p:nvPr/>
        </p:nvSpPr>
        <p:spPr>
          <a:xfrm>
            <a:off x="4754880" y="2706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800" dirty="0"/>
          </a:p>
        </p:txBody>
      </p:sp>
      <p:sp>
        <p:nvSpPr>
          <p:cNvPr id="86" name="Shape 83"/>
          <p:cNvSpPr/>
          <p:nvPr/>
        </p:nvSpPr>
        <p:spPr>
          <a:xfrm>
            <a:off x="5120640" y="254203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5212080" y="258775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Pelvis braking 부족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골반 감속 부족  ·  손실 -1.6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Pelvis brake — 단일하지 RFE 스플릿 스쿼트, 디셀러레이션 드릴</a:t>
            </a:r>
            <a:endParaRPr lang="en-US" sz="1100" dirty="0"/>
          </a:p>
        </p:txBody>
      </p:sp>
      <p:sp>
        <p:nvSpPr>
          <p:cNvPr id="88" name="Shape 85"/>
          <p:cNvSpPr/>
          <p:nvPr/>
        </p:nvSpPr>
        <p:spPr>
          <a:xfrm>
            <a:off x="4754880" y="3319272"/>
            <a:ext cx="365760" cy="685800"/>
          </a:xfrm>
          <a:prstGeom prst="rect">
            <a:avLst/>
          </a:prstGeom>
          <a:solidFill>
            <a:srgbClr val="BF8700"/>
          </a:solidFill>
          <a:ln/>
        </p:spPr>
      </p:sp>
      <p:sp>
        <p:nvSpPr>
          <p:cNvPr id="89" name="Text 86"/>
          <p:cNvSpPr/>
          <p:nvPr/>
        </p:nvSpPr>
        <p:spPr>
          <a:xfrm>
            <a:off x="4754880" y="3483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800" dirty="0"/>
          </a:p>
        </p:txBody>
      </p:sp>
      <p:sp>
        <p:nvSpPr>
          <p:cNvPr id="90" name="Shape 87"/>
          <p:cNvSpPr/>
          <p:nvPr/>
        </p:nvSpPr>
        <p:spPr>
          <a:xfrm>
            <a:off x="5120640" y="331927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5212080" y="336499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골반-상체 분리 미달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X-factor 부족  ·  손실 -0.7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X-factor 증대 — hip-shoulder 분리 stretch</a:t>
            </a:r>
            <a:endParaRPr lang="en-US" sz="1100" dirty="0"/>
          </a:p>
        </p:txBody>
      </p:sp>
      <p:sp>
        <p:nvSpPr>
          <p:cNvPr id="92" name="Shape 89"/>
          <p:cNvSpPr/>
          <p:nvPr/>
        </p:nvSpPr>
        <p:spPr>
          <a:xfrm>
            <a:off x="4754880" y="4096512"/>
            <a:ext cx="36576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3" name="Text 90"/>
          <p:cNvSpPr/>
          <p:nvPr/>
        </p:nvSpPr>
        <p:spPr>
          <a:xfrm>
            <a:off x="4754880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800" dirty="0"/>
          </a:p>
        </p:txBody>
      </p:sp>
      <p:sp>
        <p:nvSpPr>
          <p:cNvPr id="94" name="Shape 91"/>
          <p:cNvSpPr/>
          <p:nvPr/>
        </p:nvSpPr>
        <p:spPr>
          <a:xfrm>
            <a:off x="5120640" y="409651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5212080" y="414223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Lead knee collapse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앞발 받쳐주기 약함  ·  손실 -0.8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Lead leg 강화 — 단일하지 박스점프, 제자리 깊은 스쿼트</a:t>
            </a:r>
            <a:endParaRPr lang="en-US" sz="1100" dirty="0"/>
          </a:p>
        </p:txBody>
      </p:sp>
      <p:sp>
        <p:nvSpPr>
          <p:cNvPr id="96" name="Shape 93"/>
          <p:cNvSpPr/>
          <p:nvPr/>
        </p:nvSpPr>
        <p:spPr>
          <a:xfrm>
            <a:off x="365760" y="4823460"/>
            <a:ext cx="8412480" cy="0"/>
          </a:xfrm>
          <a:prstGeom prst="line">
            <a:avLst/>
          </a:prstGeom>
          <a:noFill/>
          <a:ln w="6350">
            <a:solidFill>
              <a:srgbClr val="D0D7DE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365760" y="48691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상동고 투구 리포트 · 1차 측정 (2026-05-15)</a:t>
            </a:r>
            <a:endParaRPr lang="en-US" sz="800" dirty="0"/>
          </a:p>
        </p:txBody>
      </p:sp>
      <p:sp>
        <p:nvSpPr>
          <p:cNvPr id="98" name="Text 95"/>
          <p:cNvSpPr/>
          <p:nvPr/>
        </p:nvSpPr>
        <p:spPr>
          <a:xfrm>
            <a:off x="365760" y="48691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국민대 BBL · analytics v2.1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P18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1645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선수18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우투 · 183cm · 80kg · 1차 (2026-05-15)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0" y="182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종합 79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0" y="502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" y="960120"/>
            <a:ext cx="45720" cy="868680"/>
          </a:xfrm>
          <a:prstGeom prst="rect">
            <a:avLst/>
          </a:prstGeom>
          <a:solidFill>
            <a:srgbClr val="0969DA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측정 구속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118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123.5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0302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km/h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118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미달 그룹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98882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88820" y="960120"/>
            <a:ext cx="45720" cy="868680"/>
          </a:xfrm>
          <a:prstGeom prst="rect">
            <a:avLst/>
          </a:prstGeom>
          <a:solidFill>
            <a:srgbClr val="BC4C00"/>
          </a:solidFill>
          <a:ln/>
        </p:spPr>
      </p:sp>
      <p:sp>
        <p:nvSpPr>
          <p:cNvPr id="16" name="Text 14"/>
          <p:cNvSpPr/>
          <p:nvPr/>
        </p:nvSpPr>
        <p:spPr>
          <a:xfrm>
            <a:off x="209854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체력 Ceiling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9854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C4C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137.5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04038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km/h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9854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Predicted Velo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72618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26180" y="960120"/>
            <a:ext cx="45720" cy="868680"/>
          </a:xfrm>
          <a:prstGeom prst="rect">
            <a:avLst/>
          </a:prstGeom>
          <a:solidFill>
            <a:srgbClr val="1A7F37"/>
          </a:solidFill>
          <a:ln/>
        </p:spPr>
      </p:sp>
      <p:sp>
        <p:nvSpPr>
          <p:cNvPr id="22" name="Text 20"/>
          <p:cNvSpPr/>
          <p:nvPr/>
        </p:nvSpPr>
        <p:spPr>
          <a:xfrm>
            <a:off x="383590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⚡ 힘 만들기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3590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7F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68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77774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3590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출력 (Output)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46354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63540" y="960120"/>
            <a:ext cx="45720" cy="868680"/>
          </a:xfrm>
          <a:prstGeom prst="rect">
            <a:avLst/>
          </a:prstGeom>
          <a:solidFill>
            <a:srgbClr val="8250DF"/>
          </a:solidFill>
          <a:ln/>
        </p:spPr>
      </p:sp>
      <p:sp>
        <p:nvSpPr>
          <p:cNvPr id="28" name="Text 26"/>
          <p:cNvSpPr/>
          <p:nvPr/>
        </p:nvSpPr>
        <p:spPr>
          <a:xfrm>
            <a:off x="557326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🔗 힘 전달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7326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250D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73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51510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7326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전달 (Transfer)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20090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00900" y="960120"/>
            <a:ext cx="45720" cy="868680"/>
          </a:xfrm>
          <a:prstGeom prst="rect">
            <a:avLst/>
          </a:prstGeom>
          <a:solidFill>
            <a:srgbClr val="CF222E"/>
          </a:solidFill>
          <a:ln/>
        </p:spPr>
      </p:sp>
      <p:sp>
        <p:nvSpPr>
          <p:cNvPr id="34" name="Text 32"/>
          <p:cNvSpPr/>
          <p:nvPr/>
        </p:nvSpPr>
        <p:spPr>
          <a:xfrm>
            <a:off x="731062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💧 힘 보존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1062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56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825246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1062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누수 관리 (역 ELI)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51460" y="1920240"/>
            <a:ext cx="8641080" cy="274320"/>
          </a:xfrm>
          <a:prstGeom prst="rect">
            <a:avLst/>
          </a:prstGeom>
          <a:solidFill>
            <a:srgbClr val="F6F8FA"/>
          </a:solidFill>
          <a:ln w="5080">
            <a:solidFill>
              <a:srgbClr val="D0D7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194767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부상위험: </a:t>
            </a:r>
            <a:pPr indent="0" marL="0">
              <a:buNone/>
            </a:pPr>
            <a:r>
              <a:rPr lang="en-US" sz="1000" dirty="0">
                <a:solidFill>
                  <a:srgbClr val="1A7F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낮음  |  </a:t>
            </a:r>
            <a:pPr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메카닉 효율 (AE): </a:t>
            </a:r>
            <a:pPr indent="0" marL="0">
              <a:buNone/>
            </a:pPr>
            <a:r>
              <a:rPr lang="en-US" sz="100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⚠ 메카닉 발달 여지  (-14 km/h)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22860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관절 분절 시퀀스 (피크 회전속도)</a:t>
            </a:r>
            <a:endParaRPr lang="en-US" sz="1050" dirty="0"/>
          </a:p>
        </p:txBody>
      </p:sp>
      <p:graphicFrame>
        <p:nvGraphicFramePr>
          <p:cNvPr id="41" name="Chart 0" descr=""/>
          <p:cNvGraphicFramePr/>
          <p:nvPr/>
        </p:nvGraphicFramePr>
        <p:xfrm>
          <a:off x="365760" y="2542032"/>
          <a:ext cx="420624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2" name="Shape 39"/>
          <p:cNvSpPr/>
          <p:nvPr/>
        </p:nvSpPr>
        <p:spPr>
          <a:xfrm>
            <a:off x="365760" y="4023360"/>
            <a:ext cx="4206240" cy="1005840"/>
          </a:xfrm>
          <a:prstGeom prst="rect">
            <a:avLst/>
          </a:prstGeom>
          <a:solidFill>
            <a:srgbClr val="FAFBFC"/>
          </a:solidFill>
          <a:ln w="19050">
            <a:solidFill>
              <a:srgbClr val="CF222E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57200" y="4069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📊 자동 진단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457200" y="42611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메카닉 비효율로 체력 잠재력 미발현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57200" y="46268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💡 14 km/h 만큼 메카닉 교정 잠재력. ELI 인과 chain Top 3 즉시 적용.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2423160" y="4114800"/>
            <a:ext cx="0" cy="868680"/>
          </a:xfrm>
          <a:prstGeom prst="line">
            <a:avLst/>
          </a:prstGeom>
          <a:noFill/>
          <a:ln w="6350">
            <a:solidFill>
              <a:srgbClr val="D0D7DE"/>
            </a:solidFill>
            <a:prstDash val="dash"/>
          </a:ln>
        </p:spPr>
      </p:sp>
      <p:sp>
        <p:nvSpPr>
          <p:cNvPr id="47" name="Text 44"/>
          <p:cNvSpPr/>
          <p:nvPr/>
        </p:nvSpPr>
        <p:spPr>
          <a:xfrm>
            <a:off x="2514600" y="40690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C4C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💪 체력 5 변수 (본인 ▼ vs Velo Group)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2514600" y="4242816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CMJ JH</a:t>
            </a:r>
            <a:endParaRPr lang="en-US" sz="750" dirty="0"/>
          </a:p>
        </p:txBody>
      </p:sp>
      <p:sp>
        <p:nvSpPr>
          <p:cNvPr id="49" name="Shape 46"/>
          <p:cNvSpPr/>
          <p:nvPr/>
        </p:nvSpPr>
        <p:spPr>
          <a:xfrm>
            <a:off x="3108960" y="4283964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3383280" y="4283964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3657600" y="4283964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3931920" y="4283964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3779581" y="4265676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251960" y="4242816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40.8 cm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2514600" y="4389120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CMJ PP</a:t>
            </a:r>
            <a:endParaRPr lang="en-US" sz="750" dirty="0"/>
          </a:p>
        </p:txBody>
      </p:sp>
      <p:sp>
        <p:nvSpPr>
          <p:cNvPr id="56" name="Shape 53"/>
          <p:cNvSpPr/>
          <p:nvPr/>
        </p:nvSpPr>
        <p:spPr>
          <a:xfrm>
            <a:off x="3108960" y="4430268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3383280" y="4430268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3657600" y="4430268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3931920" y="4430268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4183380" y="4411980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4251960" y="4389120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39.6 W/kg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2514600" y="4535424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IMTP</a:t>
            </a:r>
            <a:endParaRPr 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3108960" y="4576572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3383280" y="4576572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3657600" y="4576572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3931920" y="4576572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67" name="Shape 64"/>
          <p:cNvSpPr/>
          <p:nvPr/>
        </p:nvSpPr>
        <p:spPr>
          <a:xfrm>
            <a:off x="3667013" y="4558284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4251960" y="4535424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27.0 N/kg</a:t>
            </a:r>
            <a:endParaRPr lang="en-US" sz="750" dirty="0"/>
          </a:p>
        </p:txBody>
      </p:sp>
      <p:sp>
        <p:nvSpPr>
          <p:cNvPr id="69" name="Text 66"/>
          <p:cNvSpPr/>
          <p:nvPr/>
        </p:nvSpPr>
        <p:spPr>
          <a:xfrm>
            <a:off x="2514600" y="4681728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Hop RSI</a:t>
            </a:r>
            <a:endParaRPr lang="en-US" sz="750" dirty="0"/>
          </a:p>
        </p:txBody>
      </p:sp>
      <p:sp>
        <p:nvSpPr>
          <p:cNvPr id="70" name="Shape 67"/>
          <p:cNvSpPr/>
          <p:nvPr/>
        </p:nvSpPr>
        <p:spPr>
          <a:xfrm>
            <a:off x="3108960" y="4722876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71" name="Shape 68"/>
          <p:cNvSpPr/>
          <p:nvPr/>
        </p:nvSpPr>
        <p:spPr>
          <a:xfrm>
            <a:off x="3383280" y="4722876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72" name="Shape 69"/>
          <p:cNvSpPr/>
          <p:nvPr/>
        </p:nvSpPr>
        <p:spPr>
          <a:xfrm>
            <a:off x="3657600" y="4722876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73" name="Shape 70"/>
          <p:cNvSpPr/>
          <p:nvPr/>
        </p:nvSpPr>
        <p:spPr>
          <a:xfrm>
            <a:off x="3931920" y="4722876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74" name="Shape 71"/>
          <p:cNvSpPr/>
          <p:nvPr/>
        </p:nvSpPr>
        <p:spPr>
          <a:xfrm>
            <a:off x="3378708" y="4704588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4251960" y="4681728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1.9</a:t>
            </a:r>
            <a:endParaRPr lang="en-US" sz="750" dirty="0"/>
          </a:p>
        </p:txBody>
      </p:sp>
      <p:sp>
        <p:nvSpPr>
          <p:cNvPr id="76" name="Text 73"/>
          <p:cNvSpPr/>
          <p:nvPr/>
        </p:nvSpPr>
        <p:spPr>
          <a:xfrm>
            <a:off x="2514600" y="4828032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Grip</a:t>
            </a:r>
            <a:endParaRPr lang="en-US" sz="750" dirty="0"/>
          </a:p>
        </p:txBody>
      </p:sp>
      <p:sp>
        <p:nvSpPr>
          <p:cNvPr id="77" name="Shape 74"/>
          <p:cNvSpPr/>
          <p:nvPr/>
        </p:nvSpPr>
        <p:spPr>
          <a:xfrm>
            <a:off x="3108960" y="4869180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78" name="Shape 75"/>
          <p:cNvSpPr/>
          <p:nvPr/>
        </p:nvSpPr>
        <p:spPr>
          <a:xfrm>
            <a:off x="3383280" y="4869180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79" name="Shape 76"/>
          <p:cNvSpPr/>
          <p:nvPr/>
        </p:nvSpPr>
        <p:spPr>
          <a:xfrm>
            <a:off x="3657600" y="4869180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80" name="Shape 77"/>
          <p:cNvSpPr/>
          <p:nvPr/>
        </p:nvSpPr>
        <p:spPr>
          <a:xfrm>
            <a:off x="3931920" y="4869180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81" name="Shape 78"/>
          <p:cNvSpPr/>
          <p:nvPr/>
        </p:nvSpPr>
        <p:spPr>
          <a:xfrm>
            <a:off x="3525012" y="4850892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4251960" y="4828032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55.0 kg</a:t>
            </a:r>
            <a:endParaRPr lang="en-US" sz="750" dirty="0"/>
          </a:p>
        </p:txBody>
      </p:sp>
      <p:sp>
        <p:nvSpPr>
          <p:cNvPr id="83" name="Text 80"/>
          <p:cNvSpPr/>
          <p:nvPr/>
        </p:nvSpPr>
        <p:spPr>
          <a:xfrm>
            <a:off x="4754880" y="22860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💧 누수 인과 분석 (Top 3) — Per 1 km/h</a:t>
            </a:r>
            <a:endParaRPr lang="en-US" sz="1050" dirty="0"/>
          </a:p>
        </p:txBody>
      </p:sp>
      <p:sp>
        <p:nvSpPr>
          <p:cNvPr id="84" name="Shape 81"/>
          <p:cNvSpPr/>
          <p:nvPr/>
        </p:nvSpPr>
        <p:spPr>
          <a:xfrm>
            <a:off x="4754880" y="2542032"/>
            <a:ext cx="365760" cy="685800"/>
          </a:xfrm>
          <a:prstGeom prst="rect">
            <a:avLst/>
          </a:prstGeom>
          <a:solidFill>
            <a:srgbClr val="CF222E"/>
          </a:solidFill>
          <a:ln/>
        </p:spPr>
      </p:sp>
      <p:sp>
        <p:nvSpPr>
          <p:cNvPr id="85" name="Text 82"/>
          <p:cNvSpPr/>
          <p:nvPr/>
        </p:nvSpPr>
        <p:spPr>
          <a:xfrm>
            <a:off x="4754880" y="2706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800" dirty="0"/>
          </a:p>
        </p:txBody>
      </p:sp>
      <p:sp>
        <p:nvSpPr>
          <p:cNvPr id="86" name="Shape 83"/>
          <p:cNvSpPr/>
          <p:nvPr/>
        </p:nvSpPr>
        <p:spPr>
          <a:xfrm>
            <a:off x="5120640" y="254203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5212080" y="258775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골반-상체 분리 미달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X-factor 부족  ·  손실 -1.1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X-factor 증대 — hip-shoulder 분리 stretch</a:t>
            </a:r>
            <a:endParaRPr lang="en-US" sz="1100" dirty="0"/>
          </a:p>
        </p:txBody>
      </p:sp>
      <p:sp>
        <p:nvSpPr>
          <p:cNvPr id="88" name="Shape 85"/>
          <p:cNvSpPr/>
          <p:nvPr/>
        </p:nvSpPr>
        <p:spPr>
          <a:xfrm>
            <a:off x="4754880" y="3319272"/>
            <a:ext cx="365760" cy="685800"/>
          </a:xfrm>
          <a:prstGeom prst="rect">
            <a:avLst/>
          </a:prstGeom>
          <a:solidFill>
            <a:srgbClr val="BF8700"/>
          </a:solidFill>
          <a:ln/>
        </p:spPr>
      </p:sp>
      <p:sp>
        <p:nvSpPr>
          <p:cNvPr id="89" name="Text 86"/>
          <p:cNvSpPr/>
          <p:nvPr/>
        </p:nvSpPr>
        <p:spPr>
          <a:xfrm>
            <a:off x="4754880" y="3483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800" dirty="0"/>
          </a:p>
        </p:txBody>
      </p:sp>
      <p:sp>
        <p:nvSpPr>
          <p:cNvPr id="90" name="Shape 87"/>
          <p:cNvSpPr/>
          <p:nvPr/>
        </p:nvSpPr>
        <p:spPr>
          <a:xfrm>
            <a:off x="5120640" y="331927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5212080" y="336499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Pelvis braking 부족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골반 감속 부족  ·  손실 -1.4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Pelvis brake — 단일하지 RFE 스플릿 스쿼트, 디셀러레이션 드릴</a:t>
            </a:r>
            <a:endParaRPr lang="en-US" sz="1100" dirty="0"/>
          </a:p>
        </p:txBody>
      </p:sp>
      <p:sp>
        <p:nvSpPr>
          <p:cNvPr id="92" name="Shape 89"/>
          <p:cNvSpPr/>
          <p:nvPr/>
        </p:nvSpPr>
        <p:spPr>
          <a:xfrm>
            <a:off x="4754880" y="4096512"/>
            <a:ext cx="36576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3" name="Text 90"/>
          <p:cNvSpPr/>
          <p:nvPr/>
        </p:nvSpPr>
        <p:spPr>
          <a:xfrm>
            <a:off x="4754880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800" dirty="0"/>
          </a:p>
        </p:txBody>
      </p:sp>
      <p:sp>
        <p:nvSpPr>
          <p:cNvPr id="94" name="Shape 91"/>
          <p:cNvSpPr/>
          <p:nvPr/>
        </p:nvSpPr>
        <p:spPr>
          <a:xfrm>
            <a:off x="5120640" y="409651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5212080" y="414223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Lead knee collapse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앞발 받쳐주기 약함  ·  손실 -1.1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Lead leg 강화 — 단일하지 박스점프, 제자리 깊은 스쿼트</a:t>
            </a:r>
            <a:endParaRPr lang="en-US" sz="1100" dirty="0"/>
          </a:p>
        </p:txBody>
      </p:sp>
      <p:sp>
        <p:nvSpPr>
          <p:cNvPr id="96" name="Shape 93"/>
          <p:cNvSpPr/>
          <p:nvPr/>
        </p:nvSpPr>
        <p:spPr>
          <a:xfrm>
            <a:off x="365760" y="4823460"/>
            <a:ext cx="8412480" cy="0"/>
          </a:xfrm>
          <a:prstGeom prst="line">
            <a:avLst/>
          </a:prstGeom>
          <a:noFill/>
          <a:ln w="6350">
            <a:solidFill>
              <a:srgbClr val="D0D7DE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365760" y="48691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상동고 투구 리포트 · 1차 측정 (2026-05-15)</a:t>
            </a:r>
            <a:endParaRPr lang="en-US" sz="800" dirty="0"/>
          </a:p>
        </p:txBody>
      </p:sp>
      <p:sp>
        <p:nvSpPr>
          <p:cNvPr id="98" name="Text 95"/>
          <p:cNvSpPr/>
          <p:nvPr/>
        </p:nvSpPr>
        <p:spPr>
          <a:xfrm>
            <a:off x="365760" y="48691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국민대 BBL · analytics v2.1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P19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1645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선수19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우투 · 179cm · 76kg · 1차 (2026-05-15)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0" y="182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종합 86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0" y="502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" y="960120"/>
            <a:ext cx="45720" cy="868680"/>
          </a:xfrm>
          <a:prstGeom prst="rect">
            <a:avLst/>
          </a:prstGeom>
          <a:solidFill>
            <a:srgbClr val="0969DA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측정 구속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118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129.6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0302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km/h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118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평균 그룹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98882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88820" y="960120"/>
            <a:ext cx="45720" cy="868680"/>
          </a:xfrm>
          <a:prstGeom prst="rect">
            <a:avLst/>
          </a:prstGeom>
          <a:solidFill>
            <a:srgbClr val="BC4C00"/>
          </a:solidFill>
          <a:ln/>
        </p:spPr>
      </p:sp>
      <p:sp>
        <p:nvSpPr>
          <p:cNvPr id="16" name="Text 14"/>
          <p:cNvSpPr/>
          <p:nvPr/>
        </p:nvSpPr>
        <p:spPr>
          <a:xfrm>
            <a:off x="209854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체력 Ceiling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9854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C4C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138.3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04038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km/h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9854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Predicted Velo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72618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26180" y="960120"/>
            <a:ext cx="45720" cy="868680"/>
          </a:xfrm>
          <a:prstGeom prst="rect">
            <a:avLst/>
          </a:prstGeom>
          <a:solidFill>
            <a:srgbClr val="1A7F37"/>
          </a:solidFill>
          <a:ln/>
        </p:spPr>
      </p:sp>
      <p:sp>
        <p:nvSpPr>
          <p:cNvPr id="22" name="Text 20"/>
          <p:cNvSpPr/>
          <p:nvPr/>
        </p:nvSpPr>
        <p:spPr>
          <a:xfrm>
            <a:off x="383590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⚡ 힘 만들기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3590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7F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82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77774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3590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출력 (Output)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46354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63540" y="960120"/>
            <a:ext cx="45720" cy="868680"/>
          </a:xfrm>
          <a:prstGeom prst="rect">
            <a:avLst/>
          </a:prstGeom>
          <a:solidFill>
            <a:srgbClr val="8250DF"/>
          </a:solidFill>
          <a:ln/>
        </p:spPr>
      </p:sp>
      <p:sp>
        <p:nvSpPr>
          <p:cNvPr id="28" name="Text 26"/>
          <p:cNvSpPr/>
          <p:nvPr/>
        </p:nvSpPr>
        <p:spPr>
          <a:xfrm>
            <a:off x="557326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🔗 힘 전달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7326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250D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81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51510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7326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전달 (Transfer)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20090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00900" y="960120"/>
            <a:ext cx="45720" cy="868680"/>
          </a:xfrm>
          <a:prstGeom prst="rect">
            <a:avLst/>
          </a:prstGeom>
          <a:solidFill>
            <a:srgbClr val="CF222E"/>
          </a:solidFill>
          <a:ln/>
        </p:spPr>
      </p:sp>
      <p:sp>
        <p:nvSpPr>
          <p:cNvPr id="34" name="Text 32"/>
          <p:cNvSpPr/>
          <p:nvPr/>
        </p:nvSpPr>
        <p:spPr>
          <a:xfrm>
            <a:off x="731062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💧 힘 보존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1062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54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825246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1062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누수 관리 (역 ELI)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51460" y="1920240"/>
            <a:ext cx="8641080" cy="274320"/>
          </a:xfrm>
          <a:prstGeom prst="rect">
            <a:avLst/>
          </a:prstGeom>
          <a:solidFill>
            <a:srgbClr val="F6F8FA"/>
          </a:solidFill>
          <a:ln w="5080">
            <a:solidFill>
              <a:srgbClr val="D0D7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194767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부상위험: </a:t>
            </a:r>
            <a:pPr indent="0" marL="0">
              <a:buNone/>
            </a:pPr>
            <a:r>
              <a:rPr lang="en-US" sz="1000" dirty="0">
                <a:solidFill>
                  <a:srgbClr val="1A7F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낮음  |  </a:t>
            </a:r>
            <a:pPr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메카닉 효율 (AE): </a:t>
            </a:r>
            <a:pPr indent="0" marL="0">
              <a:buNone/>
            </a:pPr>
            <a:r>
              <a:rPr lang="en-US" sz="100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⚠ 메카닉 발달 여지  (-8.7 km/h)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22860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관절 분절 시퀀스 (피크 회전속도)</a:t>
            </a:r>
            <a:endParaRPr lang="en-US" sz="1050" dirty="0"/>
          </a:p>
        </p:txBody>
      </p:sp>
      <p:graphicFrame>
        <p:nvGraphicFramePr>
          <p:cNvPr id="41" name="Chart 0" descr=""/>
          <p:cNvGraphicFramePr/>
          <p:nvPr/>
        </p:nvGraphicFramePr>
        <p:xfrm>
          <a:off x="365760" y="2542032"/>
          <a:ext cx="420624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2" name="Shape 39"/>
          <p:cNvSpPr/>
          <p:nvPr/>
        </p:nvSpPr>
        <p:spPr>
          <a:xfrm>
            <a:off x="365760" y="4023360"/>
            <a:ext cx="4206240" cy="1005840"/>
          </a:xfrm>
          <a:prstGeom prst="rect">
            <a:avLst/>
          </a:prstGeom>
          <a:solidFill>
            <a:srgbClr val="FAFBFC"/>
          </a:solidFill>
          <a:ln w="19050">
            <a:solidFill>
              <a:srgbClr val="CF222E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57200" y="4069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📊 자동 진단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457200" y="42611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메카닉 비효율로 체력 잠재력 미발현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57200" y="46268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💡 8.7 km/h 만큼 메카닉 교정 잠재력. ELI 인과 chain Top 3 즉시 적용.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2423160" y="4114800"/>
            <a:ext cx="0" cy="868680"/>
          </a:xfrm>
          <a:prstGeom prst="line">
            <a:avLst/>
          </a:prstGeom>
          <a:noFill/>
          <a:ln w="6350">
            <a:solidFill>
              <a:srgbClr val="D0D7DE"/>
            </a:solidFill>
            <a:prstDash val="dash"/>
          </a:ln>
        </p:spPr>
      </p:sp>
      <p:sp>
        <p:nvSpPr>
          <p:cNvPr id="47" name="Text 44"/>
          <p:cNvSpPr/>
          <p:nvPr/>
        </p:nvSpPr>
        <p:spPr>
          <a:xfrm>
            <a:off x="2514600" y="40690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C4C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💪 체력 5 변수 (본인 ▼ vs Velo Group)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2514600" y="4242816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CMJ JH</a:t>
            </a:r>
            <a:endParaRPr lang="en-US" sz="750" dirty="0"/>
          </a:p>
        </p:txBody>
      </p:sp>
      <p:sp>
        <p:nvSpPr>
          <p:cNvPr id="49" name="Shape 46"/>
          <p:cNvSpPr/>
          <p:nvPr/>
        </p:nvSpPr>
        <p:spPr>
          <a:xfrm>
            <a:off x="3108960" y="4283964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3383280" y="4283964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3657600" y="4283964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3931920" y="4283964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3977091" y="4265676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251960" y="4242816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45.3 cm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2514600" y="4389120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CMJ PP</a:t>
            </a:r>
            <a:endParaRPr lang="en-US" sz="750" dirty="0"/>
          </a:p>
        </p:txBody>
      </p:sp>
      <p:sp>
        <p:nvSpPr>
          <p:cNvPr id="56" name="Shape 53"/>
          <p:cNvSpPr/>
          <p:nvPr/>
        </p:nvSpPr>
        <p:spPr>
          <a:xfrm>
            <a:off x="3108960" y="4430268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3383280" y="4430268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3657600" y="4430268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3931920" y="4430268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4183380" y="4411980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4251960" y="4389120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43.7 W/kg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2514600" y="4535424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IMTP</a:t>
            </a:r>
            <a:endParaRPr 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3108960" y="4576572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3383280" y="4576572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3657600" y="4576572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3931920" y="4576572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67" name="Shape 64"/>
          <p:cNvSpPr/>
          <p:nvPr/>
        </p:nvSpPr>
        <p:spPr>
          <a:xfrm>
            <a:off x="3821923" y="4558284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4251960" y="4535424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29.4 N/kg</a:t>
            </a:r>
            <a:endParaRPr lang="en-US" sz="750" dirty="0"/>
          </a:p>
        </p:txBody>
      </p:sp>
      <p:sp>
        <p:nvSpPr>
          <p:cNvPr id="69" name="Text 66"/>
          <p:cNvSpPr/>
          <p:nvPr/>
        </p:nvSpPr>
        <p:spPr>
          <a:xfrm>
            <a:off x="2514600" y="4681728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Hop RSI</a:t>
            </a:r>
            <a:endParaRPr lang="en-US" sz="750" dirty="0"/>
          </a:p>
        </p:txBody>
      </p:sp>
      <p:sp>
        <p:nvSpPr>
          <p:cNvPr id="70" name="Shape 67"/>
          <p:cNvSpPr/>
          <p:nvPr/>
        </p:nvSpPr>
        <p:spPr>
          <a:xfrm>
            <a:off x="3108960" y="4722876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71" name="Shape 68"/>
          <p:cNvSpPr/>
          <p:nvPr/>
        </p:nvSpPr>
        <p:spPr>
          <a:xfrm>
            <a:off x="3383280" y="4722876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72" name="Shape 69"/>
          <p:cNvSpPr/>
          <p:nvPr/>
        </p:nvSpPr>
        <p:spPr>
          <a:xfrm>
            <a:off x="3657600" y="4722876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73" name="Shape 70"/>
          <p:cNvSpPr/>
          <p:nvPr/>
        </p:nvSpPr>
        <p:spPr>
          <a:xfrm>
            <a:off x="3931920" y="4722876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74" name="Shape 71"/>
          <p:cNvSpPr/>
          <p:nvPr/>
        </p:nvSpPr>
        <p:spPr>
          <a:xfrm>
            <a:off x="3554273" y="4704588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4251960" y="4681728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2.1</a:t>
            </a:r>
            <a:endParaRPr lang="en-US" sz="750" dirty="0"/>
          </a:p>
        </p:txBody>
      </p:sp>
      <p:sp>
        <p:nvSpPr>
          <p:cNvPr id="76" name="Text 73"/>
          <p:cNvSpPr/>
          <p:nvPr/>
        </p:nvSpPr>
        <p:spPr>
          <a:xfrm>
            <a:off x="2514600" y="4828032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Grip</a:t>
            </a:r>
            <a:endParaRPr lang="en-US" sz="750" dirty="0"/>
          </a:p>
        </p:txBody>
      </p:sp>
      <p:sp>
        <p:nvSpPr>
          <p:cNvPr id="77" name="Shape 74"/>
          <p:cNvSpPr/>
          <p:nvPr/>
        </p:nvSpPr>
        <p:spPr>
          <a:xfrm>
            <a:off x="3108960" y="4869180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78" name="Shape 75"/>
          <p:cNvSpPr/>
          <p:nvPr/>
        </p:nvSpPr>
        <p:spPr>
          <a:xfrm>
            <a:off x="3383280" y="4869180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79" name="Shape 76"/>
          <p:cNvSpPr/>
          <p:nvPr/>
        </p:nvSpPr>
        <p:spPr>
          <a:xfrm>
            <a:off x="3657600" y="4869180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80" name="Shape 77"/>
          <p:cNvSpPr/>
          <p:nvPr/>
        </p:nvSpPr>
        <p:spPr>
          <a:xfrm>
            <a:off x="3931920" y="4869180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81" name="Shape 78"/>
          <p:cNvSpPr/>
          <p:nvPr/>
        </p:nvSpPr>
        <p:spPr>
          <a:xfrm>
            <a:off x="3525012" y="4850892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4251960" y="4828032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55.0 kg</a:t>
            </a:r>
            <a:endParaRPr lang="en-US" sz="750" dirty="0"/>
          </a:p>
        </p:txBody>
      </p:sp>
      <p:sp>
        <p:nvSpPr>
          <p:cNvPr id="83" name="Text 80"/>
          <p:cNvSpPr/>
          <p:nvPr/>
        </p:nvSpPr>
        <p:spPr>
          <a:xfrm>
            <a:off x="4754880" y="22860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💧 누수 인과 분석 (Top 3) — Per 1 km/h</a:t>
            </a:r>
            <a:endParaRPr lang="en-US" sz="1050" dirty="0"/>
          </a:p>
        </p:txBody>
      </p:sp>
      <p:sp>
        <p:nvSpPr>
          <p:cNvPr id="84" name="Shape 81"/>
          <p:cNvSpPr/>
          <p:nvPr/>
        </p:nvSpPr>
        <p:spPr>
          <a:xfrm>
            <a:off x="4754880" y="2542032"/>
            <a:ext cx="365760" cy="685800"/>
          </a:xfrm>
          <a:prstGeom prst="rect">
            <a:avLst/>
          </a:prstGeom>
          <a:solidFill>
            <a:srgbClr val="CF222E"/>
          </a:solidFill>
          <a:ln/>
        </p:spPr>
      </p:sp>
      <p:sp>
        <p:nvSpPr>
          <p:cNvPr id="85" name="Text 82"/>
          <p:cNvSpPr/>
          <p:nvPr/>
        </p:nvSpPr>
        <p:spPr>
          <a:xfrm>
            <a:off x="4754880" y="2706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800" dirty="0"/>
          </a:p>
        </p:txBody>
      </p:sp>
      <p:sp>
        <p:nvSpPr>
          <p:cNvPr id="86" name="Shape 83"/>
          <p:cNvSpPr/>
          <p:nvPr/>
        </p:nvSpPr>
        <p:spPr>
          <a:xfrm>
            <a:off x="5120640" y="254203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5212080" y="258775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분절 가속 순서 결함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골반→몸통→팔 시퀀스 어긋남  ·  손실 -1.7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분절 가속 타이밍 훈련 (medicine ball 회전)</a:t>
            </a:r>
            <a:endParaRPr lang="en-US" sz="1100" dirty="0"/>
          </a:p>
        </p:txBody>
      </p:sp>
      <p:sp>
        <p:nvSpPr>
          <p:cNvPr id="88" name="Shape 85"/>
          <p:cNvSpPr/>
          <p:nvPr/>
        </p:nvSpPr>
        <p:spPr>
          <a:xfrm>
            <a:off x="4754880" y="3319272"/>
            <a:ext cx="365760" cy="685800"/>
          </a:xfrm>
          <a:prstGeom prst="rect">
            <a:avLst/>
          </a:prstGeom>
          <a:solidFill>
            <a:srgbClr val="BF8700"/>
          </a:solidFill>
          <a:ln/>
        </p:spPr>
      </p:sp>
      <p:sp>
        <p:nvSpPr>
          <p:cNvPr id="89" name="Text 86"/>
          <p:cNvSpPr/>
          <p:nvPr/>
        </p:nvSpPr>
        <p:spPr>
          <a:xfrm>
            <a:off x="4754880" y="3483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800" dirty="0"/>
          </a:p>
        </p:txBody>
      </p:sp>
      <p:sp>
        <p:nvSpPr>
          <p:cNvPr id="90" name="Shape 87"/>
          <p:cNvSpPr/>
          <p:nvPr/>
        </p:nvSpPr>
        <p:spPr>
          <a:xfrm>
            <a:off x="5120640" y="331927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5212080" y="336499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Lead knee collapse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앞발 받쳐주기 약함  ·  손실 -1.4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Lead leg 강화 — 단일하지 박스점프, 제자리 깊은 스쿼트</a:t>
            </a:r>
            <a:endParaRPr lang="en-US" sz="1100" dirty="0"/>
          </a:p>
        </p:txBody>
      </p:sp>
      <p:sp>
        <p:nvSpPr>
          <p:cNvPr id="92" name="Shape 89"/>
          <p:cNvSpPr/>
          <p:nvPr/>
        </p:nvSpPr>
        <p:spPr>
          <a:xfrm>
            <a:off x="4754880" y="4096512"/>
            <a:ext cx="36576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3" name="Text 90"/>
          <p:cNvSpPr/>
          <p:nvPr/>
        </p:nvSpPr>
        <p:spPr>
          <a:xfrm>
            <a:off x="4754880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800" dirty="0"/>
          </a:p>
        </p:txBody>
      </p:sp>
      <p:sp>
        <p:nvSpPr>
          <p:cNvPr id="94" name="Shape 91"/>
          <p:cNvSpPr/>
          <p:nvPr/>
        </p:nvSpPr>
        <p:spPr>
          <a:xfrm>
            <a:off x="5120640" y="409651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5212080" y="414223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Pelvis braking 부족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골반 감속 부족  ·  손실 -1.2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Pelvis brake — 단일하지 RFE 스플릿 스쿼트, 디셀러레이션 드릴</a:t>
            </a:r>
            <a:endParaRPr lang="en-US" sz="1100" dirty="0"/>
          </a:p>
        </p:txBody>
      </p:sp>
      <p:sp>
        <p:nvSpPr>
          <p:cNvPr id="96" name="Shape 93"/>
          <p:cNvSpPr/>
          <p:nvPr/>
        </p:nvSpPr>
        <p:spPr>
          <a:xfrm>
            <a:off x="365760" y="4823460"/>
            <a:ext cx="8412480" cy="0"/>
          </a:xfrm>
          <a:prstGeom prst="line">
            <a:avLst/>
          </a:prstGeom>
          <a:noFill/>
          <a:ln w="6350">
            <a:solidFill>
              <a:srgbClr val="D0D7DE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365760" y="48691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상동고 투구 리포트 · 1차 측정 (2026-05-15)</a:t>
            </a:r>
            <a:endParaRPr lang="en-US" sz="800" dirty="0"/>
          </a:p>
        </p:txBody>
      </p:sp>
      <p:sp>
        <p:nvSpPr>
          <p:cNvPr id="98" name="Text 95"/>
          <p:cNvSpPr/>
          <p:nvPr/>
        </p:nvSpPr>
        <p:spPr>
          <a:xfrm>
            <a:off x="365760" y="48691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국민대 BBL · analytics v2.1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P20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1645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선수20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좌투 · 184cm · 82kg · 1차 (2026-05-15)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0" y="182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종합 58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0" y="502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" y="960120"/>
            <a:ext cx="45720" cy="868680"/>
          </a:xfrm>
          <a:prstGeom prst="rect">
            <a:avLst/>
          </a:prstGeom>
          <a:solidFill>
            <a:srgbClr val="0969DA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측정 구속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118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135.7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0302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km/h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118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우수 그룹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98882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88820" y="960120"/>
            <a:ext cx="45720" cy="868680"/>
          </a:xfrm>
          <a:prstGeom prst="rect">
            <a:avLst/>
          </a:prstGeom>
          <a:solidFill>
            <a:srgbClr val="BC4C00"/>
          </a:solidFill>
          <a:ln/>
        </p:spPr>
      </p:sp>
      <p:sp>
        <p:nvSpPr>
          <p:cNvPr id="16" name="Text 14"/>
          <p:cNvSpPr/>
          <p:nvPr/>
        </p:nvSpPr>
        <p:spPr>
          <a:xfrm>
            <a:off x="209854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체력 Ceiling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9854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C4C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134.3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04038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km/h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9854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Predicted Velo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72618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26180" y="960120"/>
            <a:ext cx="45720" cy="868680"/>
          </a:xfrm>
          <a:prstGeom prst="rect">
            <a:avLst/>
          </a:prstGeom>
          <a:solidFill>
            <a:srgbClr val="1A7F37"/>
          </a:solidFill>
          <a:ln/>
        </p:spPr>
      </p:sp>
      <p:sp>
        <p:nvSpPr>
          <p:cNvPr id="22" name="Text 20"/>
          <p:cNvSpPr/>
          <p:nvPr/>
        </p:nvSpPr>
        <p:spPr>
          <a:xfrm>
            <a:off x="383590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⚡ 힘 만들기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3590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7F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77774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3590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출력 (Output)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46354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63540" y="960120"/>
            <a:ext cx="45720" cy="868680"/>
          </a:xfrm>
          <a:prstGeom prst="rect">
            <a:avLst/>
          </a:prstGeom>
          <a:solidFill>
            <a:srgbClr val="8250DF"/>
          </a:solidFill>
          <a:ln/>
        </p:spPr>
      </p:sp>
      <p:sp>
        <p:nvSpPr>
          <p:cNvPr id="28" name="Text 26"/>
          <p:cNvSpPr/>
          <p:nvPr/>
        </p:nvSpPr>
        <p:spPr>
          <a:xfrm>
            <a:off x="557326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🔗 힘 전달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7326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250D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51510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7326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전달 (Transfer)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200900" y="960120"/>
            <a:ext cx="16916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00900" y="960120"/>
            <a:ext cx="45720" cy="868680"/>
          </a:xfrm>
          <a:prstGeom prst="rect">
            <a:avLst/>
          </a:prstGeom>
          <a:solidFill>
            <a:srgbClr val="CF222E"/>
          </a:solidFill>
          <a:ln/>
        </p:spPr>
      </p:sp>
      <p:sp>
        <p:nvSpPr>
          <p:cNvPr id="34" name="Text 32"/>
          <p:cNvSpPr/>
          <p:nvPr/>
        </p:nvSpPr>
        <p:spPr>
          <a:xfrm>
            <a:off x="7310628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💧 힘 보존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10628" y="1207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53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8252460" y="13716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/100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10628" y="16276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누수 관리 (역 ELI)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51460" y="1920240"/>
            <a:ext cx="8641080" cy="274320"/>
          </a:xfrm>
          <a:prstGeom prst="rect">
            <a:avLst/>
          </a:prstGeom>
          <a:solidFill>
            <a:srgbClr val="F6F8FA"/>
          </a:solidFill>
          <a:ln w="5080">
            <a:solidFill>
              <a:srgbClr val="D0D7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194767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부상위험: </a:t>
            </a:r>
            <a:pPr indent="0" marL="0">
              <a:buNone/>
            </a:pPr>
            <a:r>
              <a:rPr lang="en-US" sz="1000" dirty="0">
                <a:solidFill>
                  <a:srgbClr val="1A7F3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낮음  |  </a:t>
            </a:r>
            <a:pPr indent="0" marL="0">
              <a:buNone/>
            </a:pPr>
            <a:r>
              <a:rPr lang="en-US" sz="1000" b="1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메카닉 효율 (AE): </a:t>
            </a:r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● 적정  (+1.4 km/h)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22860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관절 분절 시퀀스 (피크 회전속도)</a:t>
            </a:r>
            <a:endParaRPr lang="en-US" sz="1050" dirty="0"/>
          </a:p>
        </p:txBody>
      </p:sp>
      <p:graphicFrame>
        <p:nvGraphicFramePr>
          <p:cNvPr id="41" name="Chart 0" descr=""/>
          <p:cNvGraphicFramePr/>
          <p:nvPr/>
        </p:nvGraphicFramePr>
        <p:xfrm>
          <a:off x="365760" y="2542032"/>
          <a:ext cx="420624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2" name="Shape 39"/>
          <p:cNvSpPr/>
          <p:nvPr/>
        </p:nvSpPr>
        <p:spPr>
          <a:xfrm>
            <a:off x="365760" y="4023360"/>
            <a:ext cx="4206240" cy="1005840"/>
          </a:xfrm>
          <a:prstGeom prst="rect">
            <a:avLst/>
          </a:prstGeom>
          <a:solidFill>
            <a:srgbClr val="FAFBFC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57200" y="4069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📊 자동 진단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457200" y="42611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균형 — 체력·메카닉 동시 발달 권장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57200" y="46268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💡 두 영역 병행 훈련.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2423160" y="4114800"/>
            <a:ext cx="0" cy="868680"/>
          </a:xfrm>
          <a:prstGeom prst="line">
            <a:avLst/>
          </a:prstGeom>
          <a:noFill/>
          <a:ln w="6350">
            <a:solidFill>
              <a:srgbClr val="D0D7DE"/>
            </a:solidFill>
            <a:prstDash val="dash"/>
          </a:ln>
        </p:spPr>
      </p:sp>
      <p:sp>
        <p:nvSpPr>
          <p:cNvPr id="47" name="Text 44"/>
          <p:cNvSpPr/>
          <p:nvPr/>
        </p:nvSpPr>
        <p:spPr>
          <a:xfrm>
            <a:off x="2514600" y="40690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C4C0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💪 체력 5 변수 (본인 ▼ vs Velo Group)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2514600" y="4242816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CMJ JH</a:t>
            </a:r>
            <a:endParaRPr lang="en-US" sz="750" dirty="0"/>
          </a:p>
        </p:txBody>
      </p:sp>
      <p:sp>
        <p:nvSpPr>
          <p:cNvPr id="49" name="Shape 46"/>
          <p:cNvSpPr/>
          <p:nvPr/>
        </p:nvSpPr>
        <p:spPr>
          <a:xfrm>
            <a:off x="3108960" y="4283964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3383280" y="4283964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3657600" y="4283964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3931920" y="4283964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3696188" y="4265676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251960" y="4242816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38.9 cm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2514600" y="4389120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CMJ PP</a:t>
            </a:r>
            <a:endParaRPr lang="en-US" sz="750" dirty="0"/>
          </a:p>
        </p:txBody>
      </p:sp>
      <p:sp>
        <p:nvSpPr>
          <p:cNvPr id="56" name="Shape 53"/>
          <p:cNvSpPr/>
          <p:nvPr/>
        </p:nvSpPr>
        <p:spPr>
          <a:xfrm>
            <a:off x="3108960" y="4430268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3383280" y="4430268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3657600" y="4430268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3931920" y="4430268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4183380" y="4411980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4251960" y="4389120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37.9 W/kg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2514600" y="4535424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IMTP</a:t>
            </a:r>
            <a:endParaRPr 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3108960" y="4576572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3383280" y="4576572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3657600" y="4576572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3931920" y="4576572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67" name="Shape 64"/>
          <p:cNvSpPr/>
          <p:nvPr/>
        </p:nvSpPr>
        <p:spPr>
          <a:xfrm>
            <a:off x="3596012" y="4558284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4251960" y="4535424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25.9 N/kg</a:t>
            </a:r>
            <a:endParaRPr lang="en-US" sz="750" dirty="0"/>
          </a:p>
        </p:txBody>
      </p:sp>
      <p:sp>
        <p:nvSpPr>
          <p:cNvPr id="69" name="Text 66"/>
          <p:cNvSpPr/>
          <p:nvPr/>
        </p:nvSpPr>
        <p:spPr>
          <a:xfrm>
            <a:off x="2514600" y="4681728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Hop RSI</a:t>
            </a:r>
            <a:endParaRPr lang="en-US" sz="750" dirty="0"/>
          </a:p>
        </p:txBody>
      </p:sp>
      <p:sp>
        <p:nvSpPr>
          <p:cNvPr id="70" name="Shape 67"/>
          <p:cNvSpPr/>
          <p:nvPr/>
        </p:nvSpPr>
        <p:spPr>
          <a:xfrm>
            <a:off x="3108960" y="4722876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71" name="Shape 68"/>
          <p:cNvSpPr/>
          <p:nvPr/>
        </p:nvSpPr>
        <p:spPr>
          <a:xfrm>
            <a:off x="3383280" y="4722876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72" name="Shape 69"/>
          <p:cNvSpPr/>
          <p:nvPr/>
        </p:nvSpPr>
        <p:spPr>
          <a:xfrm>
            <a:off x="3657600" y="4722876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73" name="Shape 70"/>
          <p:cNvSpPr/>
          <p:nvPr/>
        </p:nvSpPr>
        <p:spPr>
          <a:xfrm>
            <a:off x="3931920" y="4722876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74" name="Shape 71"/>
          <p:cNvSpPr/>
          <p:nvPr/>
        </p:nvSpPr>
        <p:spPr>
          <a:xfrm>
            <a:off x="3298241" y="4704588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4251960" y="4681728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1.8</a:t>
            </a:r>
            <a:endParaRPr lang="en-US" sz="750" dirty="0"/>
          </a:p>
        </p:txBody>
      </p:sp>
      <p:sp>
        <p:nvSpPr>
          <p:cNvPr id="76" name="Text 73"/>
          <p:cNvSpPr/>
          <p:nvPr/>
        </p:nvSpPr>
        <p:spPr>
          <a:xfrm>
            <a:off x="2514600" y="4828032"/>
            <a:ext cx="594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Grip</a:t>
            </a:r>
            <a:endParaRPr lang="en-US" sz="750" dirty="0"/>
          </a:p>
        </p:txBody>
      </p:sp>
      <p:sp>
        <p:nvSpPr>
          <p:cNvPr id="77" name="Shape 74"/>
          <p:cNvSpPr/>
          <p:nvPr/>
        </p:nvSpPr>
        <p:spPr>
          <a:xfrm>
            <a:off x="3108960" y="4869180"/>
            <a:ext cx="269748" cy="54864"/>
          </a:xfrm>
          <a:prstGeom prst="rect">
            <a:avLst/>
          </a:prstGeom>
          <a:solidFill>
            <a:srgbClr val="7E57C2">
              <a:alpha val="50000"/>
            </a:srgbClr>
          </a:solidFill>
          <a:ln/>
        </p:spPr>
      </p:sp>
      <p:sp>
        <p:nvSpPr>
          <p:cNvPr id="78" name="Shape 75"/>
          <p:cNvSpPr/>
          <p:nvPr/>
        </p:nvSpPr>
        <p:spPr>
          <a:xfrm>
            <a:off x="3383280" y="4869180"/>
            <a:ext cx="269748" cy="54864"/>
          </a:xfrm>
          <a:prstGeom prst="rect">
            <a:avLst/>
          </a:prstGeom>
          <a:solidFill>
            <a:srgbClr val="E91E63">
              <a:alpha val="50000"/>
            </a:srgbClr>
          </a:solidFill>
          <a:ln/>
        </p:spPr>
      </p:sp>
      <p:sp>
        <p:nvSpPr>
          <p:cNvPr id="79" name="Shape 76"/>
          <p:cNvSpPr/>
          <p:nvPr/>
        </p:nvSpPr>
        <p:spPr>
          <a:xfrm>
            <a:off x="3657600" y="4869180"/>
            <a:ext cx="269748" cy="54864"/>
          </a:xfrm>
          <a:prstGeom prst="rect">
            <a:avLst/>
          </a:prstGeom>
          <a:solidFill>
            <a:srgbClr val="FF9800">
              <a:alpha val="50000"/>
            </a:srgbClr>
          </a:solidFill>
          <a:ln/>
        </p:spPr>
      </p:sp>
      <p:sp>
        <p:nvSpPr>
          <p:cNvPr id="80" name="Shape 77"/>
          <p:cNvSpPr/>
          <p:nvPr/>
        </p:nvSpPr>
        <p:spPr>
          <a:xfrm>
            <a:off x="3931920" y="4869180"/>
            <a:ext cx="269748" cy="54864"/>
          </a:xfrm>
          <a:prstGeom prst="rect">
            <a:avLst/>
          </a:prstGeom>
          <a:solidFill>
            <a:srgbClr val="FF6F00">
              <a:alpha val="50000"/>
            </a:srgbClr>
          </a:solidFill>
          <a:ln/>
        </p:spPr>
      </p:sp>
      <p:sp>
        <p:nvSpPr>
          <p:cNvPr id="81" name="Shape 78"/>
          <p:cNvSpPr/>
          <p:nvPr/>
        </p:nvSpPr>
        <p:spPr>
          <a:xfrm>
            <a:off x="3525012" y="4850892"/>
            <a:ext cx="45720" cy="91440"/>
          </a:xfrm>
          <a:prstGeom prst="rect">
            <a:avLst/>
          </a:prstGeom>
          <a:solidFill>
            <a:srgbClr val="0969D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4251960" y="4828032"/>
            <a:ext cx="274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969D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55.0 kg</a:t>
            </a:r>
            <a:endParaRPr lang="en-US" sz="750" dirty="0"/>
          </a:p>
        </p:txBody>
      </p:sp>
      <p:sp>
        <p:nvSpPr>
          <p:cNvPr id="83" name="Text 80"/>
          <p:cNvSpPr/>
          <p:nvPr/>
        </p:nvSpPr>
        <p:spPr>
          <a:xfrm>
            <a:off x="4754880" y="22860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💧 누수 인과 분석 (Top 3) — Per 1 km/h</a:t>
            </a:r>
            <a:endParaRPr lang="en-US" sz="1050" dirty="0"/>
          </a:p>
        </p:txBody>
      </p:sp>
      <p:sp>
        <p:nvSpPr>
          <p:cNvPr id="84" name="Shape 81"/>
          <p:cNvSpPr/>
          <p:nvPr/>
        </p:nvSpPr>
        <p:spPr>
          <a:xfrm>
            <a:off x="4754880" y="2542032"/>
            <a:ext cx="365760" cy="685800"/>
          </a:xfrm>
          <a:prstGeom prst="rect">
            <a:avLst/>
          </a:prstGeom>
          <a:solidFill>
            <a:srgbClr val="CF222E"/>
          </a:solidFill>
          <a:ln/>
        </p:spPr>
      </p:sp>
      <p:sp>
        <p:nvSpPr>
          <p:cNvPr id="85" name="Text 82"/>
          <p:cNvSpPr/>
          <p:nvPr/>
        </p:nvSpPr>
        <p:spPr>
          <a:xfrm>
            <a:off x="4754880" y="2706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endParaRPr lang="en-US" sz="1800" dirty="0"/>
          </a:p>
        </p:txBody>
      </p:sp>
      <p:sp>
        <p:nvSpPr>
          <p:cNvPr id="86" name="Shape 83"/>
          <p:cNvSpPr/>
          <p:nvPr/>
        </p:nvSpPr>
        <p:spPr>
          <a:xfrm>
            <a:off x="5120640" y="254203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5212080" y="258775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Lead knee collapse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앞발 받쳐주기 약함  ·  손실 -1.8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Lead leg 강화 — 단일하지 박스점프, 제자리 깊은 스쿼트</a:t>
            </a:r>
            <a:endParaRPr lang="en-US" sz="1100" dirty="0"/>
          </a:p>
        </p:txBody>
      </p:sp>
      <p:sp>
        <p:nvSpPr>
          <p:cNvPr id="88" name="Shape 85"/>
          <p:cNvSpPr/>
          <p:nvPr/>
        </p:nvSpPr>
        <p:spPr>
          <a:xfrm>
            <a:off x="4754880" y="3319272"/>
            <a:ext cx="365760" cy="685800"/>
          </a:xfrm>
          <a:prstGeom prst="rect">
            <a:avLst/>
          </a:prstGeom>
          <a:solidFill>
            <a:srgbClr val="BF8700"/>
          </a:solidFill>
          <a:ln/>
        </p:spPr>
      </p:sp>
      <p:sp>
        <p:nvSpPr>
          <p:cNvPr id="89" name="Text 86"/>
          <p:cNvSpPr/>
          <p:nvPr/>
        </p:nvSpPr>
        <p:spPr>
          <a:xfrm>
            <a:off x="4754880" y="3483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  <a:endParaRPr lang="en-US" sz="1800" dirty="0"/>
          </a:p>
        </p:txBody>
      </p:sp>
      <p:sp>
        <p:nvSpPr>
          <p:cNvPr id="90" name="Shape 87"/>
          <p:cNvSpPr/>
          <p:nvPr/>
        </p:nvSpPr>
        <p:spPr>
          <a:xfrm>
            <a:off x="5120640" y="331927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5212080" y="336499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분절 가속 순서 결함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골반→몸통→팔 시퀀스 어긋남  ·  손실 -1.2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분절 가속 타이밍 훈련 (medicine ball 회전)</a:t>
            </a:r>
            <a:endParaRPr lang="en-US" sz="1100" dirty="0"/>
          </a:p>
        </p:txBody>
      </p:sp>
      <p:sp>
        <p:nvSpPr>
          <p:cNvPr id="92" name="Shape 89"/>
          <p:cNvSpPr/>
          <p:nvPr/>
        </p:nvSpPr>
        <p:spPr>
          <a:xfrm>
            <a:off x="4754880" y="4096512"/>
            <a:ext cx="36576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3" name="Text 90"/>
          <p:cNvSpPr/>
          <p:nvPr/>
        </p:nvSpPr>
        <p:spPr>
          <a:xfrm>
            <a:off x="4754880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  <a:endParaRPr lang="en-US" sz="1800" dirty="0"/>
          </a:p>
        </p:txBody>
      </p:sp>
      <p:sp>
        <p:nvSpPr>
          <p:cNvPr id="94" name="Shape 91"/>
          <p:cNvSpPr/>
          <p:nvPr/>
        </p:nvSpPr>
        <p:spPr>
          <a:xfrm>
            <a:off x="5120640" y="409651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7DE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5212080" y="414223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Pelvis braking 부족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골반 감속 부족  ·  손실 -1.1 km/h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Pelvis brake — 단일하지 RFE 스플릿 스쿼트, 디셀러레이션 드릴</a:t>
            </a:r>
            <a:endParaRPr lang="en-US" sz="1100" dirty="0"/>
          </a:p>
        </p:txBody>
      </p:sp>
      <p:sp>
        <p:nvSpPr>
          <p:cNvPr id="96" name="Shape 93"/>
          <p:cNvSpPr/>
          <p:nvPr/>
        </p:nvSpPr>
        <p:spPr>
          <a:xfrm>
            <a:off x="365760" y="4823460"/>
            <a:ext cx="8412480" cy="0"/>
          </a:xfrm>
          <a:prstGeom prst="line">
            <a:avLst/>
          </a:prstGeom>
          <a:noFill/>
          <a:ln w="6350">
            <a:solidFill>
              <a:srgbClr val="D0D7DE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365760" y="48691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상동고 투구 리포트 · 1차 측정 (2026-05-15)</a:t>
            </a:r>
            <a:endParaRPr lang="en-US" sz="800" dirty="0"/>
          </a:p>
        </p:txBody>
      </p:sp>
      <p:sp>
        <p:nvSpPr>
          <p:cNvPr id="98" name="Text 95"/>
          <p:cNvSpPr/>
          <p:nvPr/>
        </p:nvSpPr>
        <p:spPr>
          <a:xfrm>
            <a:off x="365760" y="48691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국민대 BBL · analytics v2.1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분석 방법론 (analytics v2.1)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잠재 구속 회귀 — 7개 변수 가법 모델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52120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822960"/>
                <a:gridCol w="1280160"/>
                <a:gridCol w="128016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변수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임계치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최대 기여 (km/h)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문헌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trunk_peak_dps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900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Stodden 2001 (univariate r≈0.4)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pelvis_peak_dps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500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Stodden 2001 (한국 elite N=41 fit R=-0.10, range restriction)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cmj_pp_bm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38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4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Lehman 2013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imtp_pf_bm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28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Lehman 2013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front_grf_bm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1.5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MacWilliams 1998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shoulder_er_deg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165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2.5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Werner 2008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stride_pct_height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85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Stodden 2001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943600" y="914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ELI 6 Zones</a:t>
            </a:r>
            <a:endParaRPr lang="en-US" sz="1300" dirty="0"/>
          </a:p>
        </p:txBody>
      </p:sp>
      <p:graphicFrame>
        <p:nvGraphicFramePr>
          <p:cNvPr id="4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234440"/>
          <a:ext cx="292608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37744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Zone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내용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Z1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Sequential timing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Z2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X-factor 분리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Z3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Lead leg block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Z4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Trunk at FC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Z5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Shoulder ER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Z6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Pelvis braking</a:t>
                      </a:r>
                      <a:endParaRPr lang="en-US" sz="95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F222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한계 및 주의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회귀 계수는 문헌 기반 합의 추정값 — 우리 코호트(N=20)에 fit 된 값 아님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causal chain의 km/h 손실은 추정 — 단일 변수 한계 효과 해석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F23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Uplift 회차는 GRF 없음 — Z3, Z4, Z6 제한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365760" y="4823460"/>
            <a:ext cx="8412480" cy="0"/>
          </a:xfrm>
          <a:prstGeom prst="line">
            <a:avLst/>
          </a:prstGeom>
          <a:noFill/>
          <a:ln w="6350">
            <a:solidFill>
              <a:srgbClr val="D0D7DE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65760" y="48691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상동고 투구 리포트 · 1차 측정 (2026-05-15)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365760" y="48691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6D7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국민대 BBL · analytics v2.1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국민대학교 BBL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상동고 투수 1차 측정 코치 미팅</dc:title>
  <dc:subject>PptxGenJS Presentation</dc:subject>
  <dc:creator>국민대 BBL · 스포츠과학과</dc:creator>
  <cp:lastModifiedBy>국민대 BBL · 스포츠과학과</cp:lastModifiedBy>
  <cp:revision>1</cp:revision>
  <dcterms:created xsi:type="dcterms:W3CDTF">2026-05-09T13:12:16Z</dcterms:created>
  <dcterms:modified xsi:type="dcterms:W3CDTF">2026-05-09T13:12:16Z</dcterms:modified>
</cp:coreProperties>
</file>