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9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선수01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533</c:v>
                </c:pt>
                <c:pt idx="1">
                  <c:v>737</c:v>
                </c:pt>
                <c:pt idx="2">
                  <c:v>1352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선수02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546</c:v>
                </c:pt>
                <c:pt idx="1">
                  <c:v>740</c:v>
                </c:pt>
                <c:pt idx="2">
                  <c:v>1527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선수03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</c:v>
                </c:pt>
                <c:pt idx="1">
                  <c:v>743</c:v>
                </c:pt>
                <c:pt idx="2">
                  <c:v>1302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선수04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494</c:v>
                </c:pt>
                <c:pt idx="1">
                  <c:v>746</c:v>
                </c:pt>
                <c:pt idx="2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선수05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507</c:v>
                </c:pt>
                <c:pt idx="1">
                  <c:v>749</c:v>
                </c:pt>
                <c:pt idx="2">
                  <c:v>1251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선수06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521</c:v>
                </c:pt>
                <c:pt idx="1">
                  <c:v>752</c:v>
                </c:pt>
                <c:pt idx="2">
                  <c:v>1426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선수07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534</c:v>
                </c:pt>
                <c:pt idx="1">
                  <c:v>756</c:v>
                </c:pt>
                <c:pt idx="2">
                  <c:v>1201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선수08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548</c:v>
                </c:pt>
                <c:pt idx="1">
                  <c:v>759</c:v>
                </c:pt>
                <c:pt idx="2">
                  <c:v>1376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선수09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482</c:v>
                </c:pt>
                <c:pt idx="1">
                  <c:v>762</c:v>
                </c:pt>
                <c:pt idx="2">
                  <c:v>1551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선수10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495</c:v>
                </c:pt>
                <c:pt idx="1">
                  <c:v>765</c:v>
                </c:pt>
                <c:pt idx="2">
                  <c:v>1326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선수11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509</c:v>
                </c:pt>
                <c:pt idx="1">
                  <c:v>624</c:v>
                </c:pt>
                <c:pt idx="2">
                  <c:v>1500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선수12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523</c:v>
                </c:pt>
                <c:pt idx="1">
                  <c:v>628</c:v>
                </c:pt>
                <c:pt idx="2">
                  <c:v>1775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선수13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536</c:v>
                </c:pt>
                <c:pt idx="1">
                  <c:v>631</c:v>
                </c:pt>
                <c:pt idx="2">
                  <c:v>1950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선수14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550</c:v>
                </c:pt>
                <c:pt idx="1">
                  <c:v>634</c:v>
                </c:pt>
                <c:pt idx="2">
                  <c:v>1725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선수15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637</c:v>
                </c:pt>
                <c:pt idx="2">
                  <c:v>1900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선수16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497</c:v>
                </c:pt>
                <c:pt idx="1">
                  <c:v>640</c:v>
                </c:pt>
                <c:pt idx="2">
                  <c:v>1674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선수17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511</c:v>
                </c:pt>
                <c:pt idx="1">
                  <c:v>644</c:v>
                </c:pt>
                <c:pt idx="2">
                  <c:v>1849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선수18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525</c:v>
                </c:pt>
                <c:pt idx="1">
                  <c:v>647</c:v>
                </c:pt>
                <c:pt idx="2">
                  <c:v>1624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선수19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538</c:v>
                </c:pt>
                <c:pt idx="1">
                  <c:v>650</c:v>
                </c:pt>
                <c:pt idx="2">
                  <c:v>1799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선수20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552</c:v>
                </c:pt>
                <c:pt idx="1">
                  <c:v>653</c:v>
                </c:pt>
                <c:pt idx="2">
                  <c:v>1574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28016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투수 측정 리포트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1차 측정 — 코치 미팅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2026-05-15  ·  Theia+GRF  ·  20명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국민대학교 스포츠과학과 BBL · analytics v2.1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종합 — KPI 및 우수/주의 선수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1차 측정 (2026-05-15) · N=20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구속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179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129.0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01168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179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최고 139.4 km/h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0604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277063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종합점수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7063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68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16052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7063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20명 평균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491947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ELI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1947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30936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1947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에너지 누수 관리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0372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0372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4" name="Text 22"/>
          <p:cNvSpPr/>
          <p:nvPr/>
        </p:nvSpPr>
        <p:spPr>
          <a:xfrm>
            <a:off x="706831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완료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6831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45820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6831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1차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 3명 (구속)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41148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554480"/>
                <a:gridCol w="128016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P03 선수03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139.4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P12 선수12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138.6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65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P07 선수07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137.9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64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475488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3명 (구속)</a:t>
            </a:r>
            <a:endParaRPr lang="en-US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788920"/>
          <a:ext cx="41148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554480"/>
                <a:gridCol w="128016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P17 선수17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117.3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P08 선수08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118.1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P04 선수04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119.5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78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 28"/>
          <p:cNvSpPr/>
          <p:nvPr/>
        </p:nvSpPr>
        <p:spPr>
          <a:xfrm>
            <a:off x="457200" y="40233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시사점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평균 구속 129.0 km/h — 동급 고교 평균(약 130 km/h) 대비 비교 필요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 60 미만 6명 — 누수 zone 분석 우선 필요 (개별 슬라이드 참조)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 위험도 high 4명 — 자세한 X-factor / lead knee 분석 필요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178cm · 75kg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127.1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128.0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+0.9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61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-0.5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182cm · 80kg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133.2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135.8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+2.6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176cm · 72kg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139.4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141.0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+1.7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180cm · 78kg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119.5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123.9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+4.4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71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높음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-0.5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174cm · 70kg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85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125.7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127.2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+1.5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중간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착지 시 몸통 자세 불량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185cm · 82kg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57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131.8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133.9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+2.1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착지 시 몸통 자세 불량  ·  손실 -0.2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선수07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179cm · 76kg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137.9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138.5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+0.6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선수08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177cm · 73kg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118.1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119.5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+1.4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높음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선수09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181cm · 79kg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124.2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127.6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+3.3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중간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선수10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175cm · 71kg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130.4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132.9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+2.5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183cm · 81kg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132.5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136.2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+3.8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61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178cm · 74kg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138.6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140.3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+1.7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-0.2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172cm · 68kg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122.8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125.1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+2.4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중간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착지 시 몸통 자세 불량  ·  손실 -0.1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180cm · 77kg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124.9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125.5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+0.6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71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Shoulder ER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어깨 ER 부족 / 과도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Shoulder ER ROM — sleeper stretch + cuff 강화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184cm · 83kg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131.0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133.1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+2.0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높음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176cm · 72kg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137.2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140.9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+3.8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71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선수17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179cm · 75kg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117.3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119.6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+2.3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69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중간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선수18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181cm · 78kg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123.5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126.0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+2.6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선수19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177cm · 74kg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86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129.6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131.1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+1.5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높음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P20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선수20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182cm · 80kg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135.7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137.1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gap +1.4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 방법론 (analytics v2.1)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회귀 — 7개 변수 가법 모델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212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280160"/>
                <a:gridCol w="12801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변수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임계치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최대 기여 (km/h)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문헌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trunk_peak_dps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900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Stodden 2001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pelvis_peak_dps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500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Stodden 2001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cmj_pp_bm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Lehman 2013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imtp_pf_bm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Lehman 2013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front_grf_bm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MacWilliams 1998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shoulder_er_deg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2.5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Werner 2008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stride_pct_height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Stodden 2001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914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 6 Zones</a:t>
            </a:r>
            <a:endParaRPr lang="en-US" sz="13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234440"/>
          <a:ext cx="29260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Zone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Z1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Sequential timing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Z2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X-factor 분리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Lead leg block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Trunk at FC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Shoulder ER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Z6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Pelvis braking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및 주의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회귀 계수는 문헌 기반 합의 추정값 — 우리 코호트(N=20)에 fit 된 값 아님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causal chain의 km/h 손실은 추정 — 단일 변수 한계 효과 해석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Uplift 회차는 GRF 없음 — Z3, Z4, Z6 제한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국민대학교 BBL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상동고 투수 1차 측정 코치 미팅</dc:title>
  <dc:subject>PptxGenJS Presentation</dc:subject>
  <dc:creator>국민대 BBL · 스포츠과학과</dc:creator>
  <cp:lastModifiedBy>국민대 BBL · 스포츠과학과</cp:lastModifiedBy>
  <cp:revision>1</cp:revision>
  <dcterms:created xsi:type="dcterms:W3CDTF">2026-05-09T08:46:50Z</dcterms:created>
  <dcterms:modified xsi:type="dcterms:W3CDTF">2026-05-09T08:46:50Z</dcterms:modified>
</cp:coreProperties>
</file>